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11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jpeg" ContentType="image/jpeg"/>
  <Override PartName="/ppt/media/image2.png" ContentType="image/png"/>
  <Override PartName="/ppt/media/image3.png" ContentType="image/png"/>
  <Override PartName="/ppt/notesSlides/_rels/notesSlide7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notes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5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6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7767E3-3099-427A-9172-6E8B6618E246}" type="slidenum"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316E532-3AB3-499D-8BF6-52225847519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it-IT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7D0AC91-5F51-4F3B-92D3-29CA69408D1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it-IT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1901904-FE95-42F5-A151-CED241259FF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it-IT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D864309-9868-493D-84DA-312E995AD8B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it-IT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219BA7-D325-41C3-8A2F-3BD3D33AC7E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it-IT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1F36D74-DB2B-4E6D-8B63-28A31EC21CF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it-IT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D7DBF1C-F8C5-4662-A988-982C5F6849D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it-IT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89F9C86-B576-4358-86D4-F02EA9D0AAC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it-IT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775015F-73E8-455D-97A8-2F8D1ECAA04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it-IT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817091-875B-4687-8DA7-F3CA2B3017B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it-IT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24F90A2-46EC-4F1C-AB8B-2D8363458C7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it-IT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AA7DA9-D085-4A76-91AD-E80A5A9866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2931685-D77A-4E6A-B674-8E999E0CD81B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hyperlink" Target="http://scm.opendap.org/svn/trunk/sql_handler" TargetMode="External"/><Relationship Id="rId3" Type="http://schemas.openxmlformats.org/officeDocument/2006/relationships/hyperlink" Target="http://code.google.com/p/sqlhandler/" TargetMode="External"/><Relationship Id="rId4" Type="http://schemas.openxmlformats.org/officeDocument/2006/relationships/hyperlink" Target="http://sourceforge.net/projects/sqlh/" TargetMode="External"/><Relationship Id="rId5" Type="http://schemas.openxmlformats.org/officeDocument/2006/relationships/hyperlink" Target="mailto:ccancellieri@hotmail.com" TargetMode="External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hyperlink" Target="mailto:ccancellieri@hotmail.com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00280" y="0"/>
            <a:ext cx="777240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SQLHandler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C94C00F-5146-4DE5-9825-E45FC01EDF5E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14C08E1-EF52-410B-AAEF-9F423D48FF8A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Footer Placeholder 5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8" name="Picture 6" descr="GSoC_2010_300x267px.jpg"/>
          <p:cNvPicPr/>
          <p:nvPr/>
        </p:nvPicPr>
        <p:blipFill>
          <a:blip r:embed="rId1"/>
          <a:stretch/>
        </p:blipFill>
        <p:spPr>
          <a:xfrm>
            <a:off x="1257480" y="3809880"/>
            <a:ext cx="2857320" cy="254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Rectangle 9"/>
          <p:cNvSpPr/>
          <p:nvPr/>
        </p:nvSpPr>
        <p:spPr>
          <a:xfrm>
            <a:off x="990720" y="990720"/>
            <a:ext cx="701028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C++ library and modules to add relational database support to the OPeNDAP Hyrax back-end server.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" name="Rounded Rectangle 10">
            <a:hlinkClick r:id="rId2"/>
          </p:cNvPr>
          <p:cNvSpPr/>
          <p:nvPr/>
        </p:nvSpPr>
        <p:spPr>
          <a:xfrm>
            <a:off x="7620120" y="152280"/>
            <a:ext cx="129528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>
            <a:solidFill>
              <a:srgbClr val="9bbb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Opendap svn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Rounded Rectangle 11">
            <a:hlinkClick r:id="rId3"/>
          </p:cNvPr>
          <p:cNvSpPr/>
          <p:nvPr/>
        </p:nvSpPr>
        <p:spPr>
          <a:xfrm>
            <a:off x="7620120" y="457200"/>
            <a:ext cx="129528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>
            <a:solidFill>
              <a:srgbClr val="9bbb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Google code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" name="Rounded Rectangle 12">
            <a:hlinkClick r:id="rId4"/>
          </p:cNvPr>
          <p:cNvSpPr/>
          <p:nvPr/>
        </p:nvSpPr>
        <p:spPr>
          <a:xfrm>
            <a:off x="7620120" y="762120"/>
            <a:ext cx="129528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>
            <a:solidFill>
              <a:srgbClr val="9bbb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Sourceforge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" name="Rectangle 13"/>
          <p:cNvSpPr/>
          <p:nvPr/>
        </p:nvSpPr>
        <p:spPr>
          <a:xfrm>
            <a:off x="457200" y="2108160"/>
            <a:ext cx="8229600" cy="67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Developed by Dr. 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Carlo Cancellieri </a:t>
            </a:r>
            <a:r>
              <a:rPr b="1" lang="en-US" sz="2000" strike="noStrike" u="sng">
                <a:solidFill>
                  <a:srgbClr val="0000ff"/>
                </a:solidFill>
                <a:effectLst/>
                <a:uFillTx/>
                <a:latin typeface="Calibri"/>
                <a:hlinkClick r:id="rId5"/>
              </a:rPr>
              <a:t>ccancellieri@hotmail.com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 distributed under </a:t>
            </a:r>
            <a:r>
              <a:rPr b="1" i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LGPL license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4" name="Picture 14" descr="opendap_logo_masthead.gif"/>
          <p:cNvPicPr/>
          <p:nvPr/>
        </p:nvPicPr>
        <p:blipFill>
          <a:blip r:embed="rId6"/>
          <a:stretch/>
        </p:blipFill>
        <p:spPr>
          <a:xfrm>
            <a:off x="4330800" y="4000680"/>
            <a:ext cx="3956040" cy="178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Box 16"/>
          <p:cNvSpPr/>
          <p:nvPr/>
        </p:nvSpPr>
        <p:spPr>
          <a:xfrm>
            <a:off x="428760" y="2928960"/>
            <a:ext cx="8286480" cy="520920"/>
          </a:xfrm>
          <a:prstGeom prst="rect">
            <a:avLst/>
          </a:prstGeom>
          <a:solidFill>
            <a:srgbClr val="ffffff"/>
          </a:solidFill>
          <a:ln w="25560">
            <a:solidFill>
              <a:srgbClr val="4bacc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SQLHandler utils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7"/>
          <p:cNvSpPr/>
          <p:nvPr/>
        </p:nvSpPr>
        <p:spPr>
          <a:xfrm>
            <a:off x="142920" y="857160"/>
            <a:ext cx="8786880" cy="5826960"/>
          </a:xfrm>
          <a:prstGeom prst="rect">
            <a:avLst/>
          </a:prstGeom>
          <a:solidFill>
            <a:srgbClr val="ffffff"/>
          </a:solidFill>
          <a:ln w="25560">
            <a:solidFill>
              <a:srgbClr val="4bacc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800" strike="noStrike" u="none">
                <a:solidFill>
                  <a:srgbClr val="c0504d"/>
                </a:solidFill>
                <a:effectLst/>
                <a:uFillTx/>
                <a:latin typeface="Calibri"/>
              </a:rPr>
              <a:t>WHY?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00280" y="0"/>
            <a:ext cx="777240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Smart Memory Management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" name="Rectangle 35"/>
          <p:cNvSpPr/>
          <p:nvPr/>
        </p:nvSpPr>
        <p:spPr>
          <a:xfrm>
            <a:off x="428760" y="1787400"/>
            <a:ext cx="8143920" cy="44546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Programmers may want to add their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Actions&lt;IN,OUT&gt;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 the main tree.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Object could be loaded into the storage container at runtime.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 can be done using: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Reference </a:t>
            </a: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&amp;</a:t>
            </a: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[STACK]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Pointers</a:t>
            </a: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*</a:t>
            </a: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[HEAP]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Copy</a:t>
            </a: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()</a:t>
            </a: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[STACK]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Each of these methods hide (potentially) problems.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 avoid problems at run and coding time, we introduce the SMART namespace which gives instruments to dynamically manage and optimize memory allocation.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" name="Date Placeholder 4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AF8941-6A54-4EAE-A7E8-7390FBD26212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" name="Slide Number Placeholder 5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FF5A47F-3C6B-4060-8B4E-00EBADA317C0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" name="Footer Placeholder 6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15"/>
          <p:cNvSpPr/>
          <p:nvPr/>
        </p:nvSpPr>
        <p:spPr>
          <a:xfrm>
            <a:off x="285840" y="857160"/>
            <a:ext cx="1571400" cy="23576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HEAP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" name="Rectangle 15"/>
          <p:cNvSpPr/>
          <p:nvPr/>
        </p:nvSpPr>
        <p:spPr>
          <a:xfrm>
            <a:off x="6572160" y="857160"/>
            <a:ext cx="1571760" cy="3571920"/>
          </a:xfrm>
          <a:prstGeom prst="rect">
            <a:avLst/>
          </a:prstGeom>
          <a:gradFill rotWithShape="0">
            <a:gsLst>
              <a:gs pos="0">
                <a:srgbClr val="bcbcbc"/>
              </a:gs>
              <a:gs pos="100000">
                <a:srgbClr val="ededed"/>
              </a:gs>
            </a:gsLst>
            <a:lin ang="16200000"/>
          </a:gradFill>
          <a:ln w="9360">
            <a:solidFill>
              <a:srgbClr val="000000"/>
            </a:solidFill>
            <a:miter/>
          </a:ln>
          <a:effectLst>
            <a:outerShdw dist="20160" dir="5400000" blurRad="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STACK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00280" y="0"/>
            <a:ext cx="777240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Smart Memory Management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" name="Rectangle 15"/>
          <p:cNvSpPr/>
          <p:nvPr/>
        </p:nvSpPr>
        <p:spPr>
          <a:xfrm>
            <a:off x="285840" y="1785960"/>
            <a:ext cx="1571400" cy="357120"/>
          </a:xfrm>
          <a:prstGeom prst="rect">
            <a:avLst/>
          </a:prstGeom>
          <a:solidFill>
            <a:srgbClr val="c0504d"/>
          </a:solidFill>
          <a:ln w="25560">
            <a:solidFill>
              <a:srgbClr val="8c383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" name="Rectangle 15"/>
          <p:cNvSpPr/>
          <p:nvPr/>
        </p:nvSpPr>
        <p:spPr>
          <a:xfrm>
            <a:off x="6572160" y="407196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 (*)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" name="TextBox 56"/>
          <p:cNvSpPr/>
          <p:nvPr/>
        </p:nvSpPr>
        <p:spPr>
          <a:xfrm>
            <a:off x="285840" y="4202280"/>
            <a:ext cx="3571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AbstractClass *ac=new Impl_1()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" name="TextBox 57"/>
          <p:cNvSpPr/>
          <p:nvPr/>
        </p:nvSpPr>
        <p:spPr>
          <a:xfrm>
            <a:off x="285840" y="4559400"/>
            <a:ext cx="4714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const AbstractClass &amp;ac2= *(new Impl_1())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" name="TextBox 19"/>
          <p:cNvSpPr/>
          <p:nvPr/>
        </p:nvSpPr>
        <p:spPr>
          <a:xfrm>
            <a:off x="285840" y="4905360"/>
            <a:ext cx="4286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const AbstractClass &amp;ac3= Impl_1()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" name="Rectangle 15"/>
          <p:cNvSpPr/>
          <p:nvPr/>
        </p:nvSpPr>
        <p:spPr>
          <a:xfrm>
            <a:off x="6572160" y="371484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ac2 (&amp;*)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" name="Rectangle 15"/>
          <p:cNvSpPr/>
          <p:nvPr/>
        </p:nvSpPr>
        <p:spPr>
          <a:xfrm>
            <a:off x="6572160" y="228600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ac3 &lt;Impl_1&gt;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Rectangle 15"/>
          <p:cNvSpPr/>
          <p:nvPr/>
        </p:nvSpPr>
        <p:spPr>
          <a:xfrm>
            <a:off x="285840" y="2143080"/>
            <a:ext cx="1571400" cy="357120"/>
          </a:xfrm>
          <a:prstGeom prst="rect">
            <a:avLst/>
          </a:prstGeom>
          <a:solidFill>
            <a:srgbClr val="c0504d"/>
          </a:solidFill>
          <a:ln w="25560">
            <a:solidFill>
              <a:srgbClr val="8c383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43" name="Shape 38"/>
          <p:cNvCxnSpPr>
            <a:stCxn id="36" idx="1"/>
            <a:endCxn id="42" idx="3"/>
          </p:cNvCxnSpPr>
          <p:nvPr/>
        </p:nvCxnSpPr>
        <p:spPr>
          <a:xfrm rot="10800000">
            <a:off x="1856520" y="2320200"/>
            <a:ext cx="4715640" cy="1931040"/>
          </a:xfrm>
          <a:prstGeom prst="bentConnector3">
            <a:avLst>
              <a:gd name="adj1" fmla="val 50000"/>
            </a:avLst>
          </a:prstGeom>
          <a:ln w="25560">
            <a:solidFill>
              <a:srgbClr val="c0504d"/>
            </a:solidFill>
            <a:miter/>
            <a:tailEnd len="med" type="arrow" w="med"/>
          </a:ln>
        </p:spPr>
      </p:cxnSp>
      <p:cxnSp>
        <p:nvCxnSpPr>
          <p:cNvPr id="44" name="Shape 38"/>
          <p:cNvCxnSpPr>
            <a:stCxn id="40" idx="3"/>
            <a:endCxn id="45" idx="3"/>
          </p:cNvCxnSpPr>
          <p:nvPr/>
        </p:nvCxnSpPr>
        <p:spPr>
          <a:xfrm flipV="1">
            <a:off x="8143920" y="3536640"/>
            <a:ext cx="2160" cy="357840"/>
          </a:xfrm>
          <a:prstGeom prst="bentConnector3">
            <a:avLst>
              <a:gd name="adj1" fmla="val 20200000"/>
            </a:avLst>
          </a:prstGeom>
          <a:ln w="25560">
            <a:solidFill>
              <a:srgbClr val="4f81bd"/>
            </a:solidFill>
            <a:miter/>
            <a:tailEnd len="med" type="arrow" w="med"/>
          </a:ln>
        </p:spPr>
      </p:cxnSp>
      <p:sp>
        <p:nvSpPr>
          <p:cNvPr id="46" name="Rectangle 15"/>
          <p:cNvSpPr/>
          <p:nvPr/>
        </p:nvSpPr>
        <p:spPr>
          <a:xfrm>
            <a:off x="6572160" y="3000240"/>
            <a:ext cx="1571760" cy="35748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ac2 &lt;Impl_1&gt;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" name="Rectangle 15"/>
          <p:cNvSpPr/>
          <p:nvPr/>
        </p:nvSpPr>
        <p:spPr>
          <a:xfrm>
            <a:off x="6572160" y="335772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ac2 (*)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" name="Rectangle 15"/>
          <p:cNvSpPr/>
          <p:nvPr/>
        </p:nvSpPr>
        <p:spPr>
          <a:xfrm>
            <a:off x="6572160" y="264312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ac3 (&amp;)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48" name="Shape 38"/>
          <p:cNvCxnSpPr>
            <a:stCxn id="45" idx="1"/>
            <a:endCxn id="35" idx="3"/>
          </p:cNvCxnSpPr>
          <p:nvPr/>
        </p:nvCxnSpPr>
        <p:spPr>
          <a:xfrm rot="10800000">
            <a:off x="1856520" y="1963080"/>
            <a:ext cx="4715640" cy="1573920"/>
          </a:xfrm>
          <a:prstGeom prst="bentConnector3">
            <a:avLst>
              <a:gd name="adj1" fmla="val 39807"/>
            </a:avLst>
          </a:prstGeom>
          <a:ln w="25560">
            <a:solidFill>
              <a:srgbClr val="c0504d"/>
            </a:solidFill>
            <a:miter/>
            <a:tailEnd len="med" type="arrow" w="med"/>
          </a:ln>
        </p:spPr>
      </p:cxnSp>
      <p:sp>
        <p:nvSpPr>
          <p:cNvPr id="49" name="TextBox 28"/>
          <p:cNvSpPr/>
          <p:nvPr/>
        </p:nvSpPr>
        <p:spPr>
          <a:xfrm>
            <a:off x="285840" y="5262480"/>
            <a:ext cx="4286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const AbstractClass *ac4= &amp;ac3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0" name="Rectangle 15"/>
          <p:cNvSpPr/>
          <p:nvPr/>
        </p:nvSpPr>
        <p:spPr>
          <a:xfrm>
            <a:off x="6572160" y="192888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ac4 (*)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Box 46"/>
          <p:cNvSpPr/>
          <p:nvPr/>
        </p:nvSpPr>
        <p:spPr>
          <a:xfrm>
            <a:off x="2428920" y="857160"/>
            <a:ext cx="3571920" cy="368280"/>
          </a:xfrm>
          <a:prstGeom prst="rect">
            <a:avLst/>
          </a:prstGeom>
          <a:solidFill>
            <a:srgbClr val="ffffff"/>
          </a:solidFill>
          <a:ln w="25560">
            <a:solidFill>
              <a:srgbClr val="c050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Doing some ‘legal’ instance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2" name="TextBox 48"/>
          <p:cNvSpPr/>
          <p:nvPr/>
        </p:nvSpPr>
        <p:spPr>
          <a:xfrm>
            <a:off x="285840" y="5643720"/>
            <a:ext cx="4286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const AbstractClass &amp;ac5= Impl_2()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" name="Rectangle 15"/>
          <p:cNvSpPr/>
          <p:nvPr/>
        </p:nvSpPr>
        <p:spPr>
          <a:xfrm>
            <a:off x="6572160" y="157176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ac5 (&amp;)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" name="Rectangle 15"/>
          <p:cNvSpPr/>
          <p:nvPr/>
        </p:nvSpPr>
        <p:spPr>
          <a:xfrm>
            <a:off x="6572160" y="1214280"/>
            <a:ext cx="1571760" cy="35748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ac5 &lt;Impl_2&gt;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55" name="Shape 38"/>
          <p:cNvCxnSpPr>
            <a:stCxn id="53" idx="3"/>
            <a:endCxn id="54" idx="3"/>
          </p:cNvCxnSpPr>
          <p:nvPr/>
        </p:nvCxnSpPr>
        <p:spPr>
          <a:xfrm flipV="1">
            <a:off x="8143920" y="1391400"/>
            <a:ext cx="2160" cy="358200"/>
          </a:xfrm>
          <a:prstGeom prst="bentConnector3">
            <a:avLst>
              <a:gd name="adj1" fmla="val 20780000"/>
            </a:avLst>
          </a:prstGeom>
          <a:ln w="25560">
            <a:solidFill>
              <a:srgbClr val="4f81bd"/>
            </a:solidFill>
            <a:miter/>
            <a:tailEnd len="med" type="arrow" w="med"/>
          </a:ln>
        </p:spPr>
      </p:cxnSp>
      <p:grpSp>
        <p:nvGrpSpPr>
          <p:cNvPr id="56" name="Group 68"/>
          <p:cNvGrpSpPr/>
          <p:nvPr/>
        </p:nvGrpSpPr>
        <p:grpSpPr>
          <a:xfrm>
            <a:off x="5786280" y="5000760"/>
            <a:ext cx="2714760" cy="1357200"/>
            <a:chOff x="5786280" y="5000760"/>
            <a:chExt cx="2714760" cy="1357200"/>
          </a:xfrm>
        </p:grpSpPr>
        <p:sp>
          <p:nvSpPr>
            <p:cNvPr id="57" name="Rectangle 15"/>
            <p:cNvSpPr/>
            <p:nvPr/>
          </p:nvSpPr>
          <p:spPr>
            <a:xfrm>
              <a:off x="5786280" y="6000840"/>
              <a:ext cx="2714760" cy="3571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AbstractClass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8" name="Rectangle 15"/>
            <p:cNvSpPr/>
            <p:nvPr/>
          </p:nvSpPr>
          <p:spPr>
            <a:xfrm>
              <a:off x="7572240" y="5500800"/>
              <a:ext cx="928800" cy="3571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Impl_4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9" name="Rectangle 15"/>
            <p:cNvSpPr/>
            <p:nvPr/>
          </p:nvSpPr>
          <p:spPr>
            <a:xfrm>
              <a:off x="7572240" y="5000760"/>
              <a:ext cx="928800" cy="3571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Impl_3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0" name="Rectangle 15"/>
            <p:cNvSpPr/>
            <p:nvPr/>
          </p:nvSpPr>
          <p:spPr>
            <a:xfrm>
              <a:off x="5786280" y="5500800"/>
              <a:ext cx="928800" cy="3571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Impl_2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1" name="Rectangle 15"/>
            <p:cNvSpPr/>
            <p:nvPr/>
          </p:nvSpPr>
          <p:spPr>
            <a:xfrm>
              <a:off x="5786280" y="5000760"/>
              <a:ext cx="928800" cy="3571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Impl_1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62" name="Shape 74"/>
            <p:cNvCxnSpPr>
              <a:stCxn id="61" idx="3"/>
              <a:endCxn id="57" idx="0"/>
            </p:cNvCxnSpPr>
            <p:nvPr/>
          </p:nvCxnSpPr>
          <p:spPr>
            <a:xfrm>
              <a:off x="6715080" y="5180040"/>
              <a:ext cx="429120" cy="821520"/>
            </a:xfrm>
            <a:prstGeom prst="bentConnector2">
              <a:avLst/>
            </a:prstGeom>
            <a:ln w="25560">
              <a:solidFill>
                <a:srgbClr val="f79646"/>
              </a:solidFill>
              <a:miter/>
              <a:tailEnd len="med" type="arrow" w="med"/>
            </a:ln>
          </p:spPr>
        </p:cxnSp>
        <p:cxnSp>
          <p:nvCxnSpPr>
            <p:cNvPr id="63" name="Shape 75"/>
            <p:cNvCxnSpPr>
              <a:stCxn id="60" idx="3"/>
              <a:endCxn id="57" idx="0"/>
            </p:cNvCxnSpPr>
            <p:nvPr/>
          </p:nvCxnSpPr>
          <p:spPr>
            <a:xfrm>
              <a:off x="6715080" y="5680080"/>
              <a:ext cx="429120" cy="321120"/>
            </a:xfrm>
            <a:prstGeom prst="bentConnector2">
              <a:avLst/>
            </a:prstGeom>
            <a:ln w="25560">
              <a:solidFill>
                <a:srgbClr val="f79646"/>
              </a:solidFill>
              <a:miter/>
              <a:tailEnd len="med" type="arrow" w="med"/>
            </a:ln>
          </p:spPr>
        </p:cxnSp>
        <p:cxnSp>
          <p:nvCxnSpPr>
            <p:cNvPr id="64" name="Shape 76"/>
            <p:cNvCxnSpPr>
              <a:stCxn id="59" idx="1"/>
              <a:endCxn id="57" idx="0"/>
            </p:cNvCxnSpPr>
            <p:nvPr/>
          </p:nvCxnSpPr>
          <p:spPr>
            <a:xfrm flipV="1" rot="10800000">
              <a:off x="7142760" y="5177880"/>
              <a:ext cx="429120" cy="822960"/>
            </a:xfrm>
            <a:prstGeom prst="bentConnector2">
              <a:avLst/>
            </a:prstGeom>
            <a:ln w="25560">
              <a:solidFill>
                <a:srgbClr val="f79646"/>
              </a:solidFill>
              <a:miter/>
              <a:tailEnd len="med" type="arrow" w="med"/>
            </a:ln>
          </p:spPr>
        </p:cxnSp>
        <p:cxnSp>
          <p:nvCxnSpPr>
            <p:cNvPr id="65" name="Shape 77"/>
            <p:cNvCxnSpPr>
              <a:stCxn id="58" idx="1"/>
              <a:endCxn id="57" idx="0"/>
            </p:cNvCxnSpPr>
            <p:nvPr/>
          </p:nvCxnSpPr>
          <p:spPr>
            <a:xfrm flipV="1" rot="10800000">
              <a:off x="7142760" y="5677560"/>
              <a:ext cx="429120" cy="322920"/>
            </a:xfrm>
            <a:prstGeom prst="bentConnector2">
              <a:avLst/>
            </a:prstGeom>
            <a:ln w="25560">
              <a:solidFill>
                <a:srgbClr val="f79646"/>
              </a:solidFill>
              <a:miter/>
              <a:tailEnd len="med" type="arrow" w="med"/>
            </a:ln>
          </p:spPr>
        </p:cxnSp>
      </p:grpSp>
      <p:cxnSp>
        <p:nvCxnSpPr>
          <p:cNvPr id="66" name="Shape 38"/>
          <p:cNvCxnSpPr>
            <a:stCxn id="47" idx="3"/>
            <a:endCxn id="41" idx="3"/>
          </p:cNvCxnSpPr>
          <p:nvPr/>
        </p:nvCxnSpPr>
        <p:spPr>
          <a:xfrm flipV="1">
            <a:off x="8143920" y="2463480"/>
            <a:ext cx="2160" cy="357840"/>
          </a:xfrm>
          <a:prstGeom prst="bentConnector3">
            <a:avLst>
              <a:gd name="adj1" fmla="val 21940000"/>
            </a:avLst>
          </a:prstGeom>
          <a:ln w="25560">
            <a:solidFill>
              <a:srgbClr val="4f81bd"/>
            </a:solidFill>
            <a:miter/>
            <a:tailEnd len="med" type="arrow" w="med"/>
          </a:ln>
        </p:spPr>
      </p:cxnSp>
      <p:cxnSp>
        <p:nvCxnSpPr>
          <p:cNvPr id="67" name="Shape 38"/>
          <p:cNvCxnSpPr>
            <a:stCxn id="50" idx="1"/>
            <a:endCxn id="47" idx="1"/>
          </p:cNvCxnSpPr>
          <p:nvPr/>
        </p:nvCxnSpPr>
        <p:spPr>
          <a:xfrm flipV="1" rot="10800000">
            <a:off x="6571440" y="2106360"/>
            <a:ext cx="2520" cy="714960"/>
          </a:xfrm>
          <a:prstGeom prst="bentConnector3">
            <a:avLst>
              <a:gd name="adj1" fmla="val 25433333"/>
            </a:avLst>
          </a:prstGeom>
          <a:ln w="25560">
            <a:solidFill>
              <a:srgbClr val="c0504d"/>
            </a:solidFill>
            <a:miter/>
            <a:tailEnd len="med" type="arrow" w="med"/>
          </a:ln>
        </p:spPr>
      </p:cxnSp>
      <p:sp>
        <p:nvSpPr>
          <p:cNvPr id="68" name="Date Placeholder 37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D3792D-4E10-4805-8D98-F31BAE22171A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9" name="Slide Number Placeholder 39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BCE3E82-685E-4C6A-9C06-B9C587D51040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0" name="Footer Placeholder 40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00280" y="0"/>
            <a:ext cx="777240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Smart Memory Management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27"/>
          <p:cNvSpPr/>
          <p:nvPr/>
        </p:nvSpPr>
        <p:spPr>
          <a:xfrm>
            <a:off x="5857920" y="4714920"/>
            <a:ext cx="2928960" cy="916920"/>
          </a:xfrm>
          <a:prstGeom prst="rect">
            <a:avLst/>
          </a:prstGeom>
          <a:solidFill>
            <a:srgbClr val="ffffff"/>
          </a:solidFill>
          <a:ln w="25560">
            <a:solidFill>
              <a:srgbClr val="9bbb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Object into the stack are automatically deleted at the end of the creation context.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29"/>
          <p:cNvSpPr/>
          <p:nvPr/>
        </p:nvSpPr>
        <p:spPr>
          <a:xfrm>
            <a:off x="214200" y="3500280"/>
            <a:ext cx="2928960" cy="1739880"/>
          </a:xfrm>
          <a:prstGeom prst="rect">
            <a:avLst/>
          </a:prstGeom>
          <a:solidFill>
            <a:srgbClr val="ffffff"/>
          </a:solidFill>
          <a:ln w="25560">
            <a:solidFill>
              <a:srgbClr val="c050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Object into the HEAP must be manually deleted.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 could happen during the program execution. Reasonably when they are no more needed.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35"/>
          <p:cNvSpPr/>
          <p:nvPr/>
        </p:nvSpPr>
        <p:spPr>
          <a:xfrm>
            <a:off x="2428920" y="857160"/>
            <a:ext cx="3571920" cy="368280"/>
          </a:xfrm>
          <a:prstGeom prst="rect">
            <a:avLst/>
          </a:prstGeom>
          <a:solidFill>
            <a:srgbClr val="ffffff"/>
          </a:solidFill>
          <a:ln w="25560">
            <a:solidFill>
              <a:srgbClr val="c050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Freeing memory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15"/>
          <p:cNvSpPr/>
          <p:nvPr/>
        </p:nvSpPr>
        <p:spPr>
          <a:xfrm>
            <a:off x="285840" y="857160"/>
            <a:ext cx="1571400" cy="23576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HEAP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15"/>
          <p:cNvSpPr/>
          <p:nvPr/>
        </p:nvSpPr>
        <p:spPr>
          <a:xfrm>
            <a:off x="6572160" y="857160"/>
            <a:ext cx="1571760" cy="3571920"/>
          </a:xfrm>
          <a:prstGeom prst="rect">
            <a:avLst/>
          </a:prstGeom>
          <a:gradFill rotWithShape="0">
            <a:gsLst>
              <a:gs pos="0">
                <a:srgbClr val="bcbcbc"/>
              </a:gs>
              <a:gs pos="100000">
                <a:srgbClr val="ededed"/>
              </a:gs>
            </a:gsLst>
            <a:lin ang="16200000"/>
          </a:gradFill>
          <a:ln w="9360">
            <a:solidFill>
              <a:srgbClr val="000000"/>
            </a:solidFill>
            <a:miter/>
          </a:ln>
          <a:effectLst>
            <a:outerShdw dist="20160" dir="5400000" blurRad="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STACK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7" name="Rectangle 15"/>
          <p:cNvSpPr/>
          <p:nvPr/>
        </p:nvSpPr>
        <p:spPr>
          <a:xfrm>
            <a:off x="285840" y="1785960"/>
            <a:ext cx="1571400" cy="357120"/>
          </a:xfrm>
          <a:prstGeom prst="rect">
            <a:avLst/>
          </a:prstGeom>
          <a:solidFill>
            <a:srgbClr val="c0504d"/>
          </a:solidFill>
          <a:ln w="25560">
            <a:solidFill>
              <a:srgbClr val="8c383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15"/>
          <p:cNvSpPr/>
          <p:nvPr/>
        </p:nvSpPr>
        <p:spPr>
          <a:xfrm>
            <a:off x="6572160" y="407196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 (*)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15"/>
          <p:cNvSpPr/>
          <p:nvPr/>
        </p:nvSpPr>
        <p:spPr>
          <a:xfrm>
            <a:off x="6572160" y="371484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ac2 (&amp;*)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15"/>
          <p:cNvSpPr/>
          <p:nvPr/>
        </p:nvSpPr>
        <p:spPr>
          <a:xfrm>
            <a:off x="6572160" y="228600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ac3 &lt;Impl_1&gt;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15"/>
          <p:cNvSpPr/>
          <p:nvPr/>
        </p:nvSpPr>
        <p:spPr>
          <a:xfrm>
            <a:off x="285840" y="2143080"/>
            <a:ext cx="1571400" cy="357120"/>
          </a:xfrm>
          <a:prstGeom prst="rect">
            <a:avLst/>
          </a:prstGeom>
          <a:solidFill>
            <a:srgbClr val="c0504d"/>
          </a:solidFill>
          <a:ln w="25560">
            <a:solidFill>
              <a:srgbClr val="8c383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82" name="Shape 38"/>
          <p:cNvCxnSpPr>
            <a:stCxn id="78" idx="1"/>
            <a:endCxn id="81" idx="3"/>
          </p:cNvCxnSpPr>
          <p:nvPr/>
        </p:nvCxnSpPr>
        <p:spPr>
          <a:xfrm rot="10800000">
            <a:off x="1856520" y="2320200"/>
            <a:ext cx="4715640" cy="1931040"/>
          </a:xfrm>
          <a:prstGeom prst="bentConnector3">
            <a:avLst>
              <a:gd name="adj1" fmla="val 50000"/>
            </a:avLst>
          </a:prstGeom>
          <a:ln w="25560">
            <a:solidFill>
              <a:srgbClr val="c0504d"/>
            </a:solidFill>
            <a:miter/>
            <a:tailEnd len="med" type="arrow" w="med"/>
          </a:ln>
        </p:spPr>
      </p:cxnSp>
      <p:cxnSp>
        <p:nvCxnSpPr>
          <p:cNvPr id="83" name="Shape 38"/>
          <p:cNvCxnSpPr>
            <a:stCxn id="79" idx="3"/>
            <a:endCxn id="84" idx="3"/>
          </p:cNvCxnSpPr>
          <p:nvPr/>
        </p:nvCxnSpPr>
        <p:spPr>
          <a:xfrm flipV="1">
            <a:off x="8143920" y="3536640"/>
            <a:ext cx="2160" cy="357840"/>
          </a:xfrm>
          <a:prstGeom prst="bentConnector3">
            <a:avLst>
              <a:gd name="adj1" fmla="val 20200000"/>
            </a:avLst>
          </a:prstGeom>
          <a:ln w="25560">
            <a:solidFill>
              <a:srgbClr val="4f81bd"/>
            </a:solidFill>
            <a:miter/>
            <a:tailEnd len="med" type="arrow" w="med"/>
          </a:ln>
        </p:spPr>
      </p:cxnSp>
      <p:sp>
        <p:nvSpPr>
          <p:cNvPr id="85" name="Rectangle 15"/>
          <p:cNvSpPr/>
          <p:nvPr/>
        </p:nvSpPr>
        <p:spPr>
          <a:xfrm>
            <a:off x="6572160" y="3000240"/>
            <a:ext cx="1571760" cy="35748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ac2 &lt;Impl_1&gt;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4" name="Rectangle 15"/>
          <p:cNvSpPr/>
          <p:nvPr/>
        </p:nvSpPr>
        <p:spPr>
          <a:xfrm>
            <a:off x="6572160" y="335772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ac2 (*)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6" name="Rectangle 15"/>
          <p:cNvSpPr/>
          <p:nvPr/>
        </p:nvSpPr>
        <p:spPr>
          <a:xfrm>
            <a:off x="6572160" y="264312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ac3 (&amp;)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87" name="Shape 38"/>
          <p:cNvCxnSpPr>
            <a:stCxn id="84" idx="1"/>
            <a:endCxn id="77" idx="3"/>
          </p:cNvCxnSpPr>
          <p:nvPr/>
        </p:nvCxnSpPr>
        <p:spPr>
          <a:xfrm rot="10800000">
            <a:off x="1856520" y="1963080"/>
            <a:ext cx="4715640" cy="1573920"/>
          </a:xfrm>
          <a:prstGeom prst="bentConnector3">
            <a:avLst>
              <a:gd name="adj1" fmla="val 39807"/>
            </a:avLst>
          </a:prstGeom>
          <a:ln w="25560">
            <a:solidFill>
              <a:srgbClr val="c0504d"/>
            </a:solidFill>
            <a:miter/>
            <a:tailEnd len="med" type="arrow" w="med"/>
          </a:ln>
        </p:spPr>
      </p:cxnSp>
      <p:sp>
        <p:nvSpPr>
          <p:cNvPr id="88" name="Rectangle 15"/>
          <p:cNvSpPr/>
          <p:nvPr/>
        </p:nvSpPr>
        <p:spPr>
          <a:xfrm>
            <a:off x="6572160" y="192888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ac4 (*)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15"/>
          <p:cNvSpPr/>
          <p:nvPr/>
        </p:nvSpPr>
        <p:spPr>
          <a:xfrm>
            <a:off x="6572160" y="157176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ac5 (&amp;)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0" name="Rectangle 15"/>
          <p:cNvSpPr/>
          <p:nvPr/>
        </p:nvSpPr>
        <p:spPr>
          <a:xfrm>
            <a:off x="6572160" y="1214280"/>
            <a:ext cx="1571760" cy="35748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ac5 &lt;Impl_2&gt;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91" name="Shape 38"/>
          <p:cNvCxnSpPr>
            <a:stCxn id="89" idx="3"/>
            <a:endCxn id="90" idx="3"/>
          </p:cNvCxnSpPr>
          <p:nvPr/>
        </p:nvCxnSpPr>
        <p:spPr>
          <a:xfrm flipV="1">
            <a:off x="8143920" y="1391400"/>
            <a:ext cx="2160" cy="358200"/>
          </a:xfrm>
          <a:prstGeom prst="bentConnector3">
            <a:avLst>
              <a:gd name="adj1" fmla="val 20780000"/>
            </a:avLst>
          </a:prstGeom>
          <a:ln w="25560">
            <a:solidFill>
              <a:srgbClr val="4f81bd"/>
            </a:solidFill>
            <a:miter/>
            <a:tailEnd len="med" type="arrow" w="med"/>
          </a:ln>
        </p:spPr>
      </p:cxnSp>
      <p:cxnSp>
        <p:nvCxnSpPr>
          <p:cNvPr id="92" name="Shape 38"/>
          <p:cNvCxnSpPr>
            <a:stCxn id="86" idx="3"/>
            <a:endCxn id="80" idx="3"/>
          </p:cNvCxnSpPr>
          <p:nvPr/>
        </p:nvCxnSpPr>
        <p:spPr>
          <a:xfrm flipV="1">
            <a:off x="8143920" y="2463480"/>
            <a:ext cx="2160" cy="357840"/>
          </a:xfrm>
          <a:prstGeom prst="bentConnector3">
            <a:avLst>
              <a:gd name="adj1" fmla="val 21940000"/>
            </a:avLst>
          </a:prstGeom>
          <a:ln w="25560">
            <a:solidFill>
              <a:srgbClr val="4f81bd"/>
            </a:solidFill>
            <a:miter/>
            <a:tailEnd len="med" type="arrow" w="med"/>
          </a:ln>
        </p:spPr>
      </p:cxnSp>
      <p:cxnSp>
        <p:nvCxnSpPr>
          <p:cNvPr id="93" name="Shape 38"/>
          <p:cNvCxnSpPr>
            <a:stCxn id="88" idx="1"/>
            <a:endCxn id="86" idx="1"/>
          </p:cNvCxnSpPr>
          <p:nvPr/>
        </p:nvCxnSpPr>
        <p:spPr>
          <a:xfrm flipV="1" rot="10800000">
            <a:off x="6571440" y="2106360"/>
            <a:ext cx="2520" cy="714960"/>
          </a:xfrm>
          <a:prstGeom prst="bentConnector3">
            <a:avLst>
              <a:gd name="adj1" fmla="val 25433333"/>
            </a:avLst>
          </a:prstGeom>
          <a:ln w="25560">
            <a:solidFill>
              <a:srgbClr val="c0504d"/>
            </a:solidFill>
            <a:miter/>
            <a:tailEnd len="med" type="arrow" w="med"/>
          </a:ln>
        </p:spPr>
      </p:cxnSp>
      <p:sp>
        <p:nvSpPr>
          <p:cNvPr id="94" name="Date Placeholder 24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CC376BF-BD9C-407A-8495-3BC03C1C2D43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5" name="Slide Number Placeholder 25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A97DD3E-E767-42BE-8919-61EE6BFB0431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6" name="Footer Placeholder 26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00280" y="0"/>
            <a:ext cx="777240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Smart Memory Management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57"/>
          <p:cNvSpPr/>
          <p:nvPr/>
        </p:nvSpPr>
        <p:spPr>
          <a:xfrm>
            <a:off x="285840" y="3286080"/>
            <a:ext cx="471492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std::list&lt;AbstractType&gt; list;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list.push_back(*ac2)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list.push_back(ac3)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list.push_back(ac5)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46"/>
          <p:cNvSpPr/>
          <p:nvPr/>
        </p:nvSpPr>
        <p:spPr>
          <a:xfrm>
            <a:off x="2428920" y="857160"/>
            <a:ext cx="3571920" cy="368280"/>
          </a:xfrm>
          <a:prstGeom prst="rect">
            <a:avLst/>
          </a:prstGeom>
          <a:solidFill>
            <a:srgbClr val="ffffff"/>
          </a:solidFill>
          <a:ln w="25560">
            <a:solidFill>
              <a:srgbClr val="c050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putting instance into a container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0" name="Rectangle 15"/>
          <p:cNvSpPr/>
          <p:nvPr/>
        </p:nvSpPr>
        <p:spPr>
          <a:xfrm>
            <a:off x="285840" y="857160"/>
            <a:ext cx="1571400" cy="23576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HEAP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15"/>
          <p:cNvSpPr/>
          <p:nvPr/>
        </p:nvSpPr>
        <p:spPr>
          <a:xfrm>
            <a:off x="6572160" y="857160"/>
            <a:ext cx="1571760" cy="3571920"/>
          </a:xfrm>
          <a:prstGeom prst="rect">
            <a:avLst/>
          </a:prstGeom>
          <a:gradFill rotWithShape="0">
            <a:gsLst>
              <a:gs pos="0">
                <a:srgbClr val="bcbcbc"/>
              </a:gs>
              <a:gs pos="100000">
                <a:srgbClr val="ededed"/>
              </a:gs>
            </a:gsLst>
            <a:lin ang="16200000"/>
          </a:gradFill>
          <a:ln w="9360">
            <a:solidFill>
              <a:srgbClr val="000000"/>
            </a:solidFill>
            <a:miter/>
          </a:ln>
          <a:effectLst>
            <a:outerShdw dist="20160" dir="5400000" blurRad="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STACK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15"/>
          <p:cNvSpPr/>
          <p:nvPr/>
        </p:nvSpPr>
        <p:spPr>
          <a:xfrm>
            <a:off x="285840" y="1785960"/>
            <a:ext cx="1571400" cy="357120"/>
          </a:xfrm>
          <a:prstGeom prst="rect">
            <a:avLst/>
          </a:prstGeom>
          <a:solidFill>
            <a:srgbClr val="c0504d"/>
          </a:solidFill>
          <a:ln w="25560">
            <a:solidFill>
              <a:srgbClr val="8c383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15"/>
          <p:cNvSpPr/>
          <p:nvPr/>
        </p:nvSpPr>
        <p:spPr>
          <a:xfrm>
            <a:off x="6572160" y="407196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 (*)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15"/>
          <p:cNvSpPr/>
          <p:nvPr/>
        </p:nvSpPr>
        <p:spPr>
          <a:xfrm>
            <a:off x="6572160" y="371484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ac2 (&amp;*)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5" name="Rectangle 15"/>
          <p:cNvSpPr/>
          <p:nvPr/>
        </p:nvSpPr>
        <p:spPr>
          <a:xfrm>
            <a:off x="6572160" y="228600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ac3 &lt;Impl_1&gt;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6" name="Rectangle 15"/>
          <p:cNvSpPr/>
          <p:nvPr/>
        </p:nvSpPr>
        <p:spPr>
          <a:xfrm>
            <a:off x="285840" y="2143080"/>
            <a:ext cx="1571400" cy="357120"/>
          </a:xfrm>
          <a:prstGeom prst="rect">
            <a:avLst/>
          </a:prstGeom>
          <a:solidFill>
            <a:srgbClr val="c0504d"/>
          </a:solidFill>
          <a:ln w="25560">
            <a:solidFill>
              <a:srgbClr val="8c383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107" name="Shape 38"/>
          <p:cNvCxnSpPr>
            <a:stCxn id="103" idx="1"/>
            <a:endCxn id="106" idx="3"/>
          </p:cNvCxnSpPr>
          <p:nvPr/>
        </p:nvCxnSpPr>
        <p:spPr>
          <a:xfrm rot="10800000">
            <a:off x="1856520" y="2320200"/>
            <a:ext cx="4715640" cy="1931040"/>
          </a:xfrm>
          <a:prstGeom prst="bentConnector3">
            <a:avLst>
              <a:gd name="adj1" fmla="val 50000"/>
            </a:avLst>
          </a:prstGeom>
          <a:ln w="25560">
            <a:solidFill>
              <a:srgbClr val="c0504d"/>
            </a:solidFill>
            <a:miter/>
            <a:tailEnd len="med" type="arrow" w="med"/>
          </a:ln>
        </p:spPr>
      </p:cxnSp>
      <p:cxnSp>
        <p:nvCxnSpPr>
          <p:cNvPr id="108" name="Shape 38"/>
          <p:cNvCxnSpPr>
            <a:stCxn id="104" idx="3"/>
            <a:endCxn id="109" idx="3"/>
          </p:cNvCxnSpPr>
          <p:nvPr/>
        </p:nvCxnSpPr>
        <p:spPr>
          <a:xfrm flipV="1">
            <a:off x="8143920" y="3536640"/>
            <a:ext cx="2160" cy="357840"/>
          </a:xfrm>
          <a:prstGeom prst="bentConnector3">
            <a:avLst>
              <a:gd name="adj1" fmla="val 20200000"/>
            </a:avLst>
          </a:prstGeom>
          <a:ln w="25560">
            <a:solidFill>
              <a:srgbClr val="4f81bd"/>
            </a:solidFill>
            <a:miter/>
            <a:tailEnd len="med" type="arrow" w="med"/>
          </a:ln>
        </p:spPr>
      </p:cxnSp>
      <p:sp>
        <p:nvSpPr>
          <p:cNvPr id="110" name="Rectangle 15"/>
          <p:cNvSpPr/>
          <p:nvPr/>
        </p:nvSpPr>
        <p:spPr>
          <a:xfrm>
            <a:off x="6572160" y="3000240"/>
            <a:ext cx="1571760" cy="35748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ac2 &lt;Impl_1&gt;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9" name="Rectangle 15"/>
          <p:cNvSpPr/>
          <p:nvPr/>
        </p:nvSpPr>
        <p:spPr>
          <a:xfrm>
            <a:off x="6572160" y="335772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ac2 (*)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15"/>
          <p:cNvSpPr/>
          <p:nvPr/>
        </p:nvSpPr>
        <p:spPr>
          <a:xfrm>
            <a:off x="6572160" y="264312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ac3 (&amp;)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112" name="Shape 38"/>
          <p:cNvCxnSpPr>
            <a:stCxn id="109" idx="1"/>
            <a:endCxn id="102" idx="3"/>
          </p:cNvCxnSpPr>
          <p:nvPr/>
        </p:nvCxnSpPr>
        <p:spPr>
          <a:xfrm rot="10800000">
            <a:off x="1856520" y="1963080"/>
            <a:ext cx="4715640" cy="1573920"/>
          </a:xfrm>
          <a:prstGeom prst="bentConnector3">
            <a:avLst>
              <a:gd name="adj1" fmla="val 39807"/>
            </a:avLst>
          </a:prstGeom>
          <a:ln w="25560">
            <a:solidFill>
              <a:srgbClr val="c0504d"/>
            </a:solidFill>
            <a:miter/>
            <a:tailEnd len="med" type="arrow" w="med"/>
          </a:ln>
        </p:spPr>
      </p:cxnSp>
      <p:sp>
        <p:nvSpPr>
          <p:cNvPr id="113" name="Rectangle 15"/>
          <p:cNvSpPr/>
          <p:nvPr/>
        </p:nvSpPr>
        <p:spPr>
          <a:xfrm>
            <a:off x="6572160" y="192888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ac4 (*)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15"/>
          <p:cNvSpPr/>
          <p:nvPr/>
        </p:nvSpPr>
        <p:spPr>
          <a:xfrm>
            <a:off x="6572160" y="157176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ac5 (&amp;)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5" name="Rectangle 15"/>
          <p:cNvSpPr/>
          <p:nvPr/>
        </p:nvSpPr>
        <p:spPr>
          <a:xfrm>
            <a:off x="6572160" y="1214280"/>
            <a:ext cx="1571760" cy="35748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ac5 &lt;Impl_2&gt;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116" name="Shape 38"/>
          <p:cNvCxnSpPr>
            <a:stCxn id="114" idx="3"/>
            <a:endCxn id="115" idx="3"/>
          </p:cNvCxnSpPr>
          <p:nvPr/>
        </p:nvCxnSpPr>
        <p:spPr>
          <a:xfrm flipV="1">
            <a:off x="8143920" y="1391400"/>
            <a:ext cx="2160" cy="358200"/>
          </a:xfrm>
          <a:prstGeom prst="bentConnector3">
            <a:avLst>
              <a:gd name="adj1" fmla="val 20780000"/>
            </a:avLst>
          </a:prstGeom>
          <a:ln w="25560">
            <a:solidFill>
              <a:srgbClr val="4f81bd"/>
            </a:solidFill>
            <a:miter/>
            <a:tailEnd len="med" type="arrow" w="med"/>
          </a:ln>
        </p:spPr>
      </p:cxnSp>
      <p:cxnSp>
        <p:nvCxnSpPr>
          <p:cNvPr id="117" name="Shape 38"/>
          <p:cNvCxnSpPr>
            <a:stCxn id="111" idx="3"/>
            <a:endCxn id="105" idx="3"/>
          </p:cNvCxnSpPr>
          <p:nvPr/>
        </p:nvCxnSpPr>
        <p:spPr>
          <a:xfrm flipV="1">
            <a:off x="8143920" y="2463480"/>
            <a:ext cx="2160" cy="357840"/>
          </a:xfrm>
          <a:prstGeom prst="bentConnector3">
            <a:avLst>
              <a:gd name="adj1" fmla="val 21940000"/>
            </a:avLst>
          </a:prstGeom>
          <a:ln w="25560">
            <a:solidFill>
              <a:srgbClr val="4f81bd"/>
            </a:solidFill>
            <a:miter/>
            <a:tailEnd len="med" type="arrow" w="med"/>
          </a:ln>
        </p:spPr>
      </p:cxnSp>
      <p:cxnSp>
        <p:nvCxnSpPr>
          <p:cNvPr id="118" name="Shape 38"/>
          <p:cNvCxnSpPr>
            <a:stCxn id="113" idx="1"/>
            <a:endCxn id="111" idx="1"/>
          </p:cNvCxnSpPr>
          <p:nvPr/>
        </p:nvCxnSpPr>
        <p:spPr>
          <a:xfrm flipV="1" rot="10800000">
            <a:off x="6571440" y="2106360"/>
            <a:ext cx="2520" cy="714960"/>
          </a:xfrm>
          <a:prstGeom prst="bentConnector3">
            <a:avLst>
              <a:gd name="adj1" fmla="val 25433333"/>
            </a:avLst>
          </a:prstGeom>
          <a:ln w="25560">
            <a:solidFill>
              <a:srgbClr val="c0504d"/>
            </a:solidFill>
            <a:miter/>
            <a:tailEnd len="med" type="arrow" w="med"/>
          </a:ln>
        </p:spPr>
      </p:cxnSp>
      <p:sp>
        <p:nvSpPr>
          <p:cNvPr id="119" name="Rectangle 15"/>
          <p:cNvSpPr/>
          <p:nvPr/>
        </p:nvSpPr>
        <p:spPr>
          <a:xfrm>
            <a:off x="2143080" y="4643280"/>
            <a:ext cx="4714920" cy="71460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LIST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0" name="Rectangle 15"/>
          <p:cNvSpPr/>
          <p:nvPr/>
        </p:nvSpPr>
        <p:spPr>
          <a:xfrm>
            <a:off x="3714840" y="5000760"/>
            <a:ext cx="157140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ac2 (*)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15"/>
          <p:cNvSpPr/>
          <p:nvPr/>
        </p:nvSpPr>
        <p:spPr>
          <a:xfrm>
            <a:off x="5286240" y="500076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Ac5 (&amp;)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79"/>
          <p:cNvSpPr/>
          <p:nvPr/>
        </p:nvSpPr>
        <p:spPr>
          <a:xfrm>
            <a:off x="285840" y="5500800"/>
            <a:ext cx="8286840" cy="1191240"/>
          </a:xfrm>
          <a:prstGeom prst="rect">
            <a:avLst/>
          </a:prstGeom>
          <a:solidFill>
            <a:srgbClr val="ffffff"/>
          </a:solidFill>
          <a:ln w="25560">
            <a:solidFill>
              <a:srgbClr val="9bbb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Object into the stack are automatically deleted at the end of the creation context.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 we want to use the List outside of the actual context we have to copy the entire container List.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Note that ‘ac2’ object instance persists.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3" name="Straight Connector 81"/>
          <p:cNvSpPr/>
          <p:nvPr/>
        </p:nvSpPr>
        <p:spPr>
          <a:xfrm flipV="1">
            <a:off x="6286680" y="1142640"/>
            <a:ext cx="2357280" cy="3429000"/>
          </a:xfrm>
          <a:prstGeom prst="line">
            <a:avLst/>
          </a:prstGeom>
          <a:ln w="25560">
            <a:solidFill>
              <a:srgbClr val="c050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4" name="Straight Connector 82"/>
          <p:cNvSpPr/>
          <p:nvPr/>
        </p:nvSpPr>
        <p:spPr>
          <a:xfrm>
            <a:off x="1928880" y="4500720"/>
            <a:ext cx="5286240" cy="928440"/>
          </a:xfrm>
          <a:prstGeom prst="line">
            <a:avLst/>
          </a:prstGeom>
          <a:ln w="25560">
            <a:solidFill>
              <a:srgbClr val="c050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5" name="Straight Connector 88"/>
          <p:cNvSpPr/>
          <p:nvPr/>
        </p:nvSpPr>
        <p:spPr>
          <a:xfrm>
            <a:off x="6143760" y="1214280"/>
            <a:ext cx="2643120" cy="3357720"/>
          </a:xfrm>
          <a:prstGeom prst="line">
            <a:avLst/>
          </a:prstGeom>
          <a:ln w="25560">
            <a:solidFill>
              <a:srgbClr val="c050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15"/>
          <p:cNvSpPr/>
          <p:nvPr/>
        </p:nvSpPr>
        <p:spPr>
          <a:xfrm>
            <a:off x="2143080" y="500076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ac3 &lt;Impl_1&gt;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7" name="Straight Connector 85"/>
          <p:cNvSpPr/>
          <p:nvPr/>
        </p:nvSpPr>
        <p:spPr>
          <a:xfrm flipV="1">
            <a:off x="2000160" y="4500360"/>
            <a:ext cx="5143680" cy="928440"/>
          </a:xfrm>
          <a:prstGeom prst="line">
            <a:avLst/>
          </a:prstGeom>
          <a:ln w="25560">
            <a:solidFill>
              <a:srgbClr val="c050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8" name="Date Placeholder 32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1369C92-CA0E-4C3F-940D-CAED952EAD3F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9" name="Slide Number Placeholder 33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8536D9-AA67-490A-BFC9-06858ABD6FF9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0" name="Footer Placeholder 34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2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" dur="2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2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2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nodeType="afterEffect" fill="hold" presetClass="emph" presetID="26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120"/>
                                        </p:tgtEl>
                                      </p:cBhvr>
                                      <p:to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nodeType="afterEffect" fill="hold" presetClass="emph" presetID="26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102"/>
                                        </p:tgtEl>
                                      </p:cBhvr>
                                      <p:to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00280" y="0"/>
            <a:ext cx="777240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Smart Memory Management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57"/>
          <p:cNvSpPr/>
          <p:nvPr/>
        </p:nvSpPr>
        <p:spPr>
          <a:xfrm>
            <a:off x="285840" y="3286080"/>
            <a:ext cx="471492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std::list&lt;AbstractType*&gt; list;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list.push_back((*)ac)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list.push_back((*)ac2)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list.push_back((*)ac4)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15"/>
          <p:cNvSpPr/>
          <p:nvPr/>
        </p:nvSpPr>
        <p:spPr>
          <a:xfrm>
            <a:off x="285840" y="857160"/>
            <a:ext cx="1571400" cy="23576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HEAP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15"/>
          <p:cNvSpPr/>
          <p:nvPr/>
        </p:nvSpPr>
        <p:spPr>
          <a:xfrm>
            <a:off x="6572160" y="857160"/>
            <a:ext cx="1571760" cy="3571920"/>
          </a:xfrm>
          <a:prstGeom prst="rect">
            <a:avLst/>
          </a:prstGeom>
          <a:gradFill rotWithShape="0">
            <a:gsLst>
              <a:gs pos="0">
                <a:srgbClr val="bcbcbc"/>
              </a:gs>
              <a:gs pos="100000">
                <a:srgbClr val="ededed"/>
              </a:gs>
            </a:gsLst>
            <a:lin ang="16200000"/>
          </a:gradFill>
          <a:ln w="9360">
            <a:solidFill>
              <a:srgbClr val="000000"/>
            </a:solidFill>
            <a:miter/>
          </a:ln>
          <a:effectLst>
            <a:outerShdw dist="20160" dir="5400000" blurRad="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STACK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5"/>
          <p:cNvSpPr/>
          <p:nvPr/>
        </p:nvSpPr>
        <p:spPr>
          <a:xfrm>
            <a:off x="285840" y="1785960"/>
            <a:ext cx="1571400" cy="357120"/>
          </a:xfrm>
          <a:prstGeom prst="rect">
            <a:avLst/>
          </a:prstGeom>
          <a:solidFill>
            <a:srgbClr val="c0504d"/>
          </a:solidFill>
          <a:ln w="25560">
            <a:solidFill>
              <a:srgbClr val="8c383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15"/>
          <p:cNvSpPr/>
          <p:nvPr/>
        </p:nvSpPr>
        <p:spPr>
          <a:xfrm>
            <a:off x="6572160" y="407196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 (*)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7" name="Rectangle 15"/>
          <p:cNvSpPr/>
          <p:nvPr/>
        </p:nvSpPr>
        <p:spPr>
          <a:xfrm>
            <a:off x="6572160" y="371484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ac2 (&amp;*)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 15"/>
          <p:cNvSpPr/>
          <p:nvPr/>
        </p:nvSpPr>
        <p:spPr>
          <a:xfrm>
            <a:off x="6572160" y="228600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ac3 &lt;Impl_1&gt;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 15"/>
          <p:cNvSpPr/>
          <p:nvPr/>
        </p:nvSpPr>
        <p:spPr>
          <a:xfrm>
            <a:off x="285840" y="2143080"/>
            <a:ext cx="1571400" cy="357120"/>
          </a:xfrm>
          <a:prstGeom prst="rect">
            <a:avLst/>
          </a:prstGeom>
          <a:solidFill>
            <a:srgbClr val="c0504d"/>
          </a:solidFill>
          <a:ln w="25560">
            <a:solidFill>
              <a:srgbClr val="8c383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140" name="Shape 38"/>
          <p:cNvCxnSpPr>
            <a:stCxn id="136" idx="1"/>
            <a:endCxn id="139" idx="3"/>
          </p:cNvCxnSpPr>
          <p:nvPr/>
        </p:nvCxnSpPr>
        <p:spPr>
          <a:xfrm rot="10800000">
            <a:off x="1856520" y="2320200"/>
            <a:ext cx="4715640" cy="1931040"/>
          </a:xfrm>
          <a:prstGeom prst="bentConnector3">
            <a:avLst>
              <a:gd name="adj1" fmla="val 50000"/>
            </a:avLst>
          </a:prstGeom>
          <a:ln w="25560">
            <a:solidFill>
              <a:srgbClr val="c0504d"/>
            </a:solidFill>
            <a:miter/>
            <a:tailEnd len="med" type="arrow" w="med"/>
          </a:ln>
        </p:spPr>
      </p:cxnSp>
      <p:cxnSp>
        <p:nvCxnSpPr>
          <p:cNvPr id="141" name="Shape 38"/>
          <p:cNvCxnSpPr>
            <a:stCxn id="137" idx="3"/>
            <a:endCxn id="142" idx="3"/>
          </p:cNvCxnSpPr>
          <p:nvPr/>
        </p:nvCxnSpPr>
        <p:spPr>
          <a:xfrm flipV="1">
            <a:off x="8143920" y="3536640"/>
            <a:ext cx="2160" cy="357840"/>
          </a:xfrm>
          <a:prstGeom prst="bentConnector3">
            <a:avLst>
              <a:gd name="adj1" fmla="val 20200000"/>
            </a:avLst>
          </a:prstGeom>
          <a:ln w="25560">
            <a:solidFill>
              <a:srgbClr val="4f81bd"/>
            </a:solidFill>
            <a:miter/>
            <a:tailEnd len="med" type="arrow" w="med"/>
          </a:ln>
        </p:spPr>
      </p:cxnSp>
      <p:sp>
        <p:nvSpPr>
          <p:cNvPr id="143" name="Rectangle 15"/>
          <p:cNvSpPr/>
          <p:nvPr/>
        </p:nvSpPr>
        <p:spPr>
          <a:xfrm>
            <a:off x="6572160" y="3000240"/>
            <a:ext cx="1571760" cy="35748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ac2 &lt;Impl_1&gt;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15"/>
          <p:cNvSpPr/>
          <p:nvPr/>
        </p:nvSpPr>
        <p:spPr>
          <a:xfrm>
            <a:off x="6572160" y="335772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ac2 (*)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 15"/>
          <p:cNvSpPr/>
          <p:nvPr/>
        </p:nvSpPr>
        <p:spPr>
          <a:xfrm>
            <a:off x="6572160" y="264312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ac3 (&amp;)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145" name="Shape 38"/>
          <p:cNvCxnSpPr>
            <a:stCxn id="142" idx="1"/>
            <a:endCxn id="135" idx="3"/>
          </p:cNvCxnSpPr>
          <p:nvPr/>
        </p:nvCxnSpPr>
        <p:spPr>
          <a:xfrm rot="10800000">
            <a:off x="1856520" y="1963080"/>
            <a:ext cx="4715640" cy="1573920"/>
          </a:xfrm>
          <a:prstGeom prst="bentConnector3">
            <a:avLst>
              <a:gd name="adj1" fmla="val 39807"/>
            </a:avLst>
          </a:prstGeom>
          <a:ln w="25560">
            <a:solidFill>
              <a:srgbClr val="c0504d"/>
            </a:solidFill>
            <a:miter/>
            <a:tailEnd len="med" type="arrow" w="med"/>
          </a:ln>
        </p:spPr>
      </p:cxnSp>
      <p:sp>
        <p:nvSpPr>
          <p:cNvPr id="146" name="Rectangle 15"/>
          <p:cNvSpPr/>
          <p:nvPr/>
        </p:nvSpPr>
        <p:spPr>
          <a:xfrm>
            <a:off x="6572160" y="192888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ac4 (*)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15"/>
          <p:cNvSpPr/>
          <p:nvPr/>
        </p:nvSpPr>
        <p:spPr>
          <a:xfrm>
            <a:off x="6572160" y="157176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ac5 (&amp;)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15"/>
          <p:cNvSpPr/>
          <p:nvPr/>
        </p:nvSpPr>
        <p:spPr>
          <a:xfrm>
            <a:off x="6572160" y="1214280"/>
            <a:ext cx="1571760" cy="35748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ac5 &lt;Impl_2&gt;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149" name="Shape 38"/>
          <p:cNvCxnSpPr>
            <a:stCxn id="147" idx="3"/>
            <a:endCxn id="148" idx="3"/>
          </p:cNvCxnSpPr>
          <p:nvPr/>
        </p:nvCxnSpPr>
        <p:spPr>
          <a:xfrm flipV="1">
            <a:off x="8143920" y="1391400"/>
            <a:ext cx="2160" cy="358200"/>
          </a:xfrm>
          <a:prstGeom prst="bentConnector3">
            <a:avLst>
              <a:gd name="adj1" fmla="val 20780000"/>
            </a:avLst>
          </a:prstGeom>
          <a:ln w="25560">
            <a:solidFill>
              <a:srgbClr val="4f81bd"/>
            </a:solidFill>
            <a:miter/>
            <a:tailEnd len="med" type="arrow" w="med"/>
          </a:ln>
        </p:spPr>
      </p:cxnSp>
      <p:cxnSp>
        <p:nvCxnSpPr>
          <p:cNvPr id="150" name="Shape 38"/>
          <p:cNvCxnSpPr>
            <a:stCxn id="144" idx="3"/>
            <a:endCxn id="138" idx="3"/>
          </p:cNvCxnSpPr>
          <p:nvPr/>
        </p:nvCxnSpPr>
        <p:spPr>
          <a:xfrm flipV="1">
            <a:off x="8143920" y="2463480"/>
            <a:ext cx="2160" cy="357840"/>
          </a:xfrm>
          <a:prstGeom prst="bentConnector3">
            <a:avLst>
              <a:gd name="adj1" fmla="val 21940000"/>
            </a:avLst>
          </a:prstGeom>
          <a:ln w="25560">
            <a:solidFill>
              <a:srgbClr val="4f81bd"/>
            </a:solidFill>
            <a:miter/>
            <a:tailEnd len="med" type="arrow" w="med"/>
          </a:ln>
        </p:spPr>
      </p:cxnSp>
      <p:cxnSp>
        <p:nvCxnSpPr>
          <p:cNvPr id="151" name="Shape 38"/>
          <p:cNvCxnSpPr>
            <a:stCxn id="146" idx="1"/>
            <a:endCxn id="144" idx="1"/>
          </p:cNvCxnSpPr>
          <p:nvPr/>
        </p:nvCxnSpPr>
        <p:spPr>
          <a:xfrm flipV="1" rot="10800000">
            <a:off x="6571440" y="2106360"/>
            <a:ext cx="2520" cy="714960"/>
          </a:xfrm>
          <a:prstGeom prst="bentConnector3">
            <a:avLst>
              <a:gd name="adj1" fmla="val 25433333"/>
            </a:avLst>
          </a:prstGeom>
          <a:ln w="25560">
            <a:solidFill>
              <a:srgbClr val="c0504d"/>
            </a:solidFill>
            <a:miter/>
            <a:tailEnd len="med" type="arrow" w="med"/>
          </a:ln>
        </p:spPr>
      </p:cxnSp>
      <p:sp>
        <p:nvSpPr>
          <p:cNvPr id="152" name="Rectangle 15"/>
          <p:cNvSpPr/>
          <p:nvPr/>
        </p:nvSpPr>
        <p:spPr>
          <a:xfrm>
            <a:off x="2143080" y="4643280"/>
            <a:ext cx="4714920" cy="71460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LIST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3" name="Rectangle 15"/>
          <p:cNvSpPr/>
          <p:nvPr/>
        </p:nvSpPr>
        <p:spPr>
          <a:xfrm>
            <a:off x="3714840" y="5000760"/>
            <a:ext cx="157140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ac2 (*)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4" name="Rectangle 15"/>
          <p:cNvSpPr/>
          <p:nvPr/>
        </p:nvSpPr>
        <p:spPr>
          <a:xfrm>
            <a:off x="5286240" y="500076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ac4 (*)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79"/>
          <p:cNvSpPr/>
          <p:nvPr/>
        </p:nvSpPr>
        <p:spPr>
          <a:xfrm>
            <a:off x="285840" y="5500800"/>
            <a:ext cx="8286840" cy="1191240"/>
          </a:xfrm>
          <a:prstGeom prst="rect">
            <a:avLst/>
          </a:prstGeom>
          <a:solidFill>
            <a:srgbClr val="ffffff"/>
          </a:solidFill>
          <a:ln w="25560">
            <a:solidFill>
              <a:srgbClr val="9bbb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Object into the stack are automatically deleted at the end of the creation context.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Note that ‘ac’ and ‘ac2’ object instances persist into the HEAP.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 best way to delete is doing manually ‘delete’ for each element of the list.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“delete ac4“ -&gt; gives a glibc free pointer error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6" name="Straight Connector 81"/>
          <p:cNvSpPr/>
          <p:nvPr/>
        </p:nvSpPr>
        <p:spPr>
          <a:xfrm flipV="1">
            <a:off x="6286680" y="1142640"/>
            <a:ext cx="2357280" cy="3429000"/>
          </a:xfrm>
          <a:prstGeom prst="line">
            <a:avLst/>
          </a:prstGeom>
          <a:ln w="25560">
            <a:solidFill>
              <a:srgbClr val="c050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7" name="Straight Connector 82"/>
          <p:cNvSpPr/>
          <p:nvPr/>
        </p:nvSpPr>
        <p:spPr>
          <a:xfrm>
            <a:off x="1928880" y="4500720"/>
            <a:ext cx="5286240" cy="928440"/>
          </a:xfrm>
          <a:prstGeom prst="line">
            <a:avLst/>
          </a:prstGeom>
          <a:ln w="25560">
            <a:solidFill>
              <a:srgbClr val="c050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8" name="Straight Connector 88"/>
          <p:cNvSpPr/>
          <p:nvPr/>
        </p:nvSpPr>
        <p:spPr>
          <a:xfrm>
            <a:off x="6143760" y="1214280"/>
            <a:ext cx="2643120" cy="3357720"/>
          </a:xfrm>
          <a:prstGeom prst="line">
            <a:avLst/>
          </a:prstGeom>
          <a:ln w="25560">
            <a:solidFill>
              <a:srgbClr val="c050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9" name="Rectangle 15"/>
          <p:cNvSpPr/>
          <p:nvPr/>
        </p:nvSpPr>
        <p:spPr>
          <a:xfrm>
            <a:off x="2143080" y="5000760"/>
            <a:ext cx="1571760" cy="357120"/>
          </a:xfrm>
          <a:prstGeom prst="rect">
            <a:avLst/>
          </a:prstGeom>
          <a:solidFill>
            <a:srgbClr val="9bbb59"/>
          </a:solidFill>
          <a:ln w="25560">
            <a:solidFill>
              <a:srgbClr val="7189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 (*)&gt;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0" name="Straight Connector 85"/>
          <p:cNvSpPr/>
          <p:nvPr/>
        </p:nvSpPr>
        <p:spPr>
          <a:xfrm flipV="1">
            <a:off x="2000160" y="4500360"/>
            <a:ext cx="5143680" cy="928440"/>
          </a:xfrm>
          <a:prstGeom prst="line">
            <a:avLst/>
          </a:prstGeom>
          <a:ln w="25560">
            <a:solidFill>
              <a:srgbClr val="c050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32"/>
          <p:cNvSpPr/>
          <p:nvPr/>
        </p:nvSpPr>
        <p:spPr>
          <a:xfrm>
            <a:off x="2428920" y="857160"/>
            <a:ext cx="3571920" cy="368280"/>
          </a:xfrm>
          <a:prstGeom prst="rect">
            <a:avLst/>
          </a:prstGeom>
          <a:solidFill>
            <a:srgbClr val="ffffff"/>
          </a:solidFill>
          <a:ln w="25560">
            <a:solidFill>
              <a:srgbClr val="c050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Using pointers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2" name="Date Placeholder 3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217F33C-E16E-4713-BAE9-EA4E5DEFCB25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3" name="Slide Number Placeholder 3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88EB2F8-4E08-4A5A-B677-46D8641BBD89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4" name="Footer Placeholder 35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" dur="indefinite" restart="never" nodeType="tmRoot">
          <p:childTnLst>
            <p:seq>
              <p:cTn id="27" dur="indefinite" nodeType="mainSeq">
                <p:childTnLst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" dur="2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" dur="2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" dur="2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" dur="2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mph" presetID="26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46" dur="2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1000" autoRev="1" fill="hold"/>
                                        <p:tgtEl>
                                          <p:spTgt spid="139"/>
                                        </p:tgtEl>
                                      </p:cBhvr>
                                      <p:to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nodeType="afterEffect" fill="hold" presetClass="emph" presetID="26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0" dur="2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1000" autoRev="1" fill="hold"/>
                                        <p:tgtEl>
                                          <p:spTgt spid="159"/>
                                        </p:tgtEl>
                                      </p:cBhvr>
                                      <p:to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nodeType="afterEffect" fill="hold" presetClass="emph" presetID="26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153"/>
                                        </p:tgtEl>
                                      </p:cBhvr>
                                      <p:to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nodeType="afterEffect" fill="hold" presetClass="emph" presetID="26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8" dur="2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1000" autoRev="1" fill="hold"/>
                                        <p:tgtEl>
                                          <p:spTgt spid="135"/>
                                        </p:tgtEl>
                                      </p:cBhvr>
                                      <p:to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00"/>
                            </p:stCondLst>
                            <p:childTnLst>
                              <p:par>
                                <p:cTn id="61" nodeType="afterEffect" fill="hold" presetClass="emph" presetID="26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62" dur="2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1000" autoRev="1" fill="hold"/>
                                        <p:tgtEl>
                                          <p:spTgt spid="154"/>
                                        </p:tgtEl>
                                      </p:cBhvr>
                                      <p:to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500"/>
                            </p:stCondLst>
                            <p:childTnLst>
                              <p:par>
                                <p:cTn id="65" nodeType="afterEffect" fill="hold" presetClass="emph" presetID="26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66" dur="3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1500" autoRev="1" fill="hold"/>
                                        <p:tgtEl>
                                          <p:spTgt spid="144"/>
                                        </p:tgtEl>
                                      </p:cBhvr>
                                      <p:to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1500"/>
                            </p:stCondLst>
                            <p:childTnLst>
                              <p:par>
                                <p:cTn id="69" nodeType="afterEffect" fill="hold" presetClass="emph" presetID="26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70" dur="3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1500" autoRev="1" fill="hold"/>
                                        <p:tgtEl>
                                          <p:spTgt spid="138"/>
                                        </p:tgtEl>
                                      </p:cBhvr>
                                      <p:to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00280" y="0"/>
            <a:ext cx="777240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Smart Memory Management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166" name="Group 34"/>
          <p:cNvGrpSpPr/>
          <p:nvPr/>
        </p:nvGrpSpPr>
        <p:grpSpPr>
          <a:xfrm>
            <a:off x="2286000" y="804960"/>
            <a:ext cx="4429080" cy="1857240"/>
            <a:chOff x="2286000" y="804960"/>
            <a:chExt cx="4429080" cy="1857240"/>
          </a:xfrm>
        </p:grpSpPr>
        <p:sp>
          <p:nvSpPr>
            <p:cNvPr id="167" name="Rectangle 15"/>
            <p:cNvSpPr/>
            <p:nvPr/>
          </p:nvSpPr>
          <p:spPr>
            <a:xfrm>
              <a:off x="3071520" y="2090880"/>
              <a:ext cx="3071880" cy="5713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4f81b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SharedPtr&lt;T , CLONE, SMART &gt;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Smart Pointer Template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8" name="Rectangle 15"/>
            <p:cNvSpPr/>
            <p:nvPr/>
          </p:nvSpPr>
          <p:spPr>
            <a:xfrm>
              <a:off x="4286160" y="804960"/>
              <a:ext cx="2428920" cy="3571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9bbb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std::tr1::shared_ptr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169" name="Elbow Connector 9"/>
            <p:cNvCxnSpPr>
              <a:endCxn id="168" idx="2"/>
            </p:cNvCxnSpPr>
            <p:nvPr/>
          </p:nvCxnSpPr>
          <p:spPr>
            <a:xfrm flipV="1" rot="16200000">
              <a:off x="5071680" y="1590120"/>
              <a:ext cx="1000800" cy="143280"/>
            </a:xfrm>
            <a:prstGeom prst="bentConnector3">
              <a:avLst>
                <a:gd name="adj1" fmla="val 49982"/>
              </a:avLst>
            </a:prstGeom>
            <a:ln w="25560">
              <a:solidFill>
                <a:srgbClr val="9bbb59"/>
              </a:solidFill>
              <a:miter/>
              <a:tailEnd len="med" type="arrow" w="med"/>
            </a:ln>
          </p:spPr>
        </p:cxnSp>
        <p:sp>
          <p:nvSpPr>
            <p:cNvPr id="170" name="Rectangle 15"/>
            <p:cNvSpPr/>
            <p:nvPr/>
          </p:nvSpPr>
          <p:spPr>
            <a:xfrm>
              <a:off x="2286000" y="1305000"/>
              <a:ext cx="2571840" cy="5713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4f81b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SmartCast&lt;T , CLONE &gt;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Smart Cast  (to pointer) Template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171" name="Shape 24"/>
            <p:cNvCxnSpPr>
              <a:endCxn id="170" idx="3"/>
            </p:cNvCxnSpPr>
            <p:nvPr/>
          </p:nvCxnSpPr>
          <p:spPr>
            <a:xfrm flipV="1" rot="16200000">
              <a:off x="4642920" y="1804320"/>
              <a:ext cx="572040" cy="143280"/>
            </a:xfrm>
            <a:prstGeom prst="bentConnector2">
              <a:avLst/>
            </a:prstGeom>
            <a:ln w="25560">
              <a:solidFill>
                <a:srgbClr val="4f81bd"/>
              </a:solidFill>
              <a:miter/>
              <a:tailEnd len="med" type="arrow" w="med"/>
            </a:ln>
          </p:spPr>
        </p:cxnSp>
      </p:grpSp>
      <p:sp>
        <p:nvSpPr>
          <p:cNvPr id="172" name="TextBox 38"/>
          <p:cNvSpPr/>
          <p:nvPr/>
        </p:nvSpPr>
        <p:spPr>
          <a:xfrm>
            <a:off x="285840" y="2643120"/>
            <a:ext cx="8572320" cy="38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Smart Cast  (to pointer) Template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Implement methods to instantiate passed object into the heap returning a valid (safe to be deleted) pointer.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Clone is the interface to implement the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copy constructor pattern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Note that default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CLONE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template is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void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which mean that if you pass a pointer to the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SmartCast::getPtr(T* ptr)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it simply return that pointer.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(This is fast but not safe).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Clone interface ensure to </a:t>
            </a: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make a copy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of the passed instance before return.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abstract classes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which implements the smart::Clone interface can be safetely stored into all the smart containers.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Pass __SAFE__ flag to gcc to apply clone to the SQLHandler smart derived components.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3" name="Date Placeholder 10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DAE66CD-3CDE-4FDB-8DDD-C9145697C9E2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4" name="Slide Number Placeholder 1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4224A6C-06EF-453D-A3F3-E2A9E957970C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5" name="Footer Placeholder 12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00280" y="0"/>
            <a:ext cx="777240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Smart Memory Management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177" name="Group 34"/>
          <p:cNvGrpSpPr/>
          <p:nvPr/>
        </p:nvGrpSpPr>
        <p:grpSpPr>
          <a:xfrm>
            <a:off x="2286000" y="857160"/>
            <a:ext cx="4429080" cy="1857600"/>
            <a:chOff x="2286000" y="857160"/>
            <a:chExt cx="4429080" cy="1857600"/>
          </a:xfrm>
        </p:grpSpPr>
        <p:sp>
          <p:nvSpPr>
            <p:cNvPr id="178" name="Rectangle 15"/>
            <p:cNvSpPr/>
            <p:nvPr/>
          </p:nvSpPr>
          <p:spPr>
            <a:xfrm>
              <a:off x="3071520" y="2143080"/>
              <a:ext cx="3071880" cy="57168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4f81b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SharedPtr&lt;T , CLONE, SMART &gt;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Smart Pointer Template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9" name="Rectangle 15"/>
            <p:cNvSpPr/>
            <p:nvPr/>
          </p:nvSpPr>
          <p:spPr>
            <a:xfrm>
              <a:off x="4286160" y="857160"/>
              <a:ext cx="2428920" cy="3571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9bbb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std::tr1::shared_ptr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180" name="Elbow Connector 9"/>
            <p:cNvCxnSpPr>
              <a:endCxn id="179" idx="2"/>
            </p:cNvCxnSpPr>
            <p:nvPr/>
          </p:nvCxnSpPr>
          <p:spPr>
            <a:xfrm flipV="1" rot="16200000">
              <a:off x="5071320" y="1642320"/>
              <a:ext cx="1001160" cy="143280"/>
            </a:xfrm>
            <a:prstGeom prst="bentConnector3">
              <a:avLst>
                <a:gd name="adj1" fmla="val 50000"/>
              </a:avLst>
            </a:prstGeom>
            <a:ln w="25560">
              <a:solidFill>
                <a:srgbClr val="9bbb59"/>
              </a:solidFill>
              <a:miter/>
              <a:tailEnd len="med" type="arrow" w="med"/>
            </a:ln>
          </p:spPr>
        </p:cxnSp>
        <p:sp>
          <p:nvSpPr>
            <p:cNvPr id="181" name="Rectangle 15"/>
            <p:cNvSpPr/>
            <p:nvPr/>
          </p:nvSpPr>
          <p:spPr>
            <a:xfrm>
              <a:off x="2286000" y="1357200"/>
              <a:ext cx="2571840" cy="57168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4f81b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SmartCast&lt;T , CLONE &gt;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Smart Cast  (to pointer) Template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182" name="Shape 24"/>
            <p:cNvCxnSpPr>
              <a:endCxn id="181" idx="3"/>
            </p:cNvCxnSpPr>
            <p:nvPr/>
          </p:nvCxnSpPr>
          <p:spPr>
            <a:xfrm flipV="1" rot="16200000">
              <a:off x="4642920" y="1856880"/>
              <a:ext cx="572400" cy="143280"/>
            </a:xfrm>
            <a:prstGeom prst="bentConnector2">
              <a:avLst/>
            </a:prstGeom>
            <a:ln w="25560">
              <a:solidFill>
                <a:srgbClr val="4f81bd"/>
              </a:solidFill>
              <a:miter/>
              <a:tailEnd len="med" type="arrow" w="med"/>
            </a:ln>
          </p:spPr>
        </p:cxnSp>
      </p:grpSp>
      <p:sp>
        <p:nvSpPr>
          <p:cNvPr id="183" name="TextBox 38"/>
          <p:cNvSpPr/>
          <p:nvPr/>
        </p:nvSpPr>
        <p:spPr>
          <a:xfrm>
            <a:off x="285840" y="2738520"/>
            <a:ext cx="8572320" cy="38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Smart Cast  (to pointer) Template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Implement methods to instantiate passed object into the heap returning a valid (safe to be deleted) pointer.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Clone is the interface to implement the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copy constructor pattern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Note that default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CLONE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template is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void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which mean that if you pass a pointer to the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SmartCast::getPtr(T* ptr)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it simply return that pointer.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(This is fast but not safe).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Clone interface ensure to </a:t>
            </a: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make a copy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of the passed instance before return.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abstract classes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which implements the smart::Clone interface can be safetely stored into all the smart containers.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Pass __SAFE__ flag to gcc to apply clone to the SQLHandler smart derived components.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11"/>
          <p:cNvSpPr/>
          <p:nvPr/>
        </p:nvSpPr>
        <p:spPr>
          <a:xfrm>
            <a:off x="785880" y="825480"/>
            <a:ext cx="7715160" cy="2014200"/>
          </a:xfrm>
          <a:prstGeom prst="rect">
            <a:avLst/>
          </a:prstGeom>
          <a:gradFill rotWithShape="0">
            <a:gsLst>
              <a:gs pos="0">
                <a:srgbClr val="ffa2a1"/>
              </a:gs>
              <a:gs pos="100000">
                <a:srgbClr val="ffe5e5"/>
              </a:gs>
            </a:gsLst>
            <a:lin ang="16200000"/>
          </a:gradFill>
          <a:ln w="9360">
            <a:solidFill>
              <a:srgbClr val="be4b48"/>
            </a:solidFill>
            <a:miter/>
          </a:ln>
          <a:effectLst>
            <a:outerShdw dist="20160" dir="5400000" blurRad="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#ifdef __SAFE__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SQLDynamicActionList&lt;int&gt; dal;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// building SQLAction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SQLAction&lt;int&gt; *d=SQLDebugAction&lt;int&gt;::apply();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dal.push_back(d);  // inserting SQLAction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delete d; // without __SAFE__ causes glibc exception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#endif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5" name="Date Placeholder 10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08926B7-C0C0-437C-85A2-FB993AD9F02E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6" name="Slide Number Placeholder 12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F691C75-B309-4C1F-B27A-F64DC2222EDC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7" name="Footer Placeholder 13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2" dur="indefinite" restart="never" nodeType="tmRoot">
          <p:childTnLst>
            <p:seq>
              <p:cTn id="73" dur="indefinite" nodeType="mainSeq">
                <p:childTnLst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" dur="2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nodeType="afterEffect" fill="remove" presetClass="emph" presetID="5" presetSubtype="1" repeatCount="1000">
                                  <p:stCondLst>
                                    <p:cond delay="0"/>
                                  </p:stCondLst>
                                  <p:endCondLst>
                                    <p:cond evt="onNext"/>
                                  </p:endCondLst>
                                  <p:childTnLst>
                                    <p:set>
                                      <p:cBhvr>
                                        <p:cTn id="81" dur="indefinite"/>
                                        <p:tgtEl>
                                          <p:spTgt spid="1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>
                                        <p:cTn id="82" dur="indefinite"/>
                                        <p:tgtEl>
                                          <p:spTgt spid="1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>
                                        <p:cTn id="83" dur="indefinite"/>
                                        <p:tgtEl>
                                          <p:spTgt spid="1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800280" y="0"/>
            <a:ext cx="777240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Smart Memory Management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7"/>
          <p:cNvSpPr/>
          <p:nvPr/>
        </p:nvSpPr>
        <p:spPr>
          <a:xfrm>
            <a:off x="142920" y="857160"/>
            <a:ext cx="8786880" cy="5826960"/>
          </a:xfrm>
          <a:prstGeom prst="rect">
            <a:avLst/>
          </a:prstGeom>
          <a:solidFill>
            <a:srgbClr val="ffffff"/>
          </a:solidFill>
          <a:ln w="25560">
            <a:solidFill>
              <a:srgbClr val="4bacc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namespace smart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190" name="Group 14"/>
          <p:cNvGrpSpPr/>
          <p:nvPr/>
        </p:nvGrpSpPr>
        <p:grpSpPr>
          <a:xfrm>
            <a:off x="214200" y="1500120"/>
            <a:ext cx="3071880" cy="1428480"/>
            <a:chOff x="214200" y="1500120"/>
            <a:chExt cx="3071880" cy="1428480"/>
          </a:xfrm>
        </p:grpSpPr>
        <p:sp>
          <p:nvSpPr>
            <p:cNvPr id="191" name="Rectangle 15"/>
            <p:cNvSpPr/>
            <p:nvPr/>
          </p:nvSpPr>
          <p:spPr>
            <a:xfrm>
              <a:off x="214200" y="2357280"/>
              <a:ext cx="3071880" cy="5713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4f81b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SharedPtr&lt;T , CLONE, SMART &gt;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Smart Pointer Template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92" name="Rectangle 15"/>
            <p:cNvSpPr/>
            <p:nvPr/>
          </p:nvSpPr>
          <p:spPr>
            <a:xfrm>
              <a:off x="214200" y="1500120"/>
              <a:ext cx="2428920" cy="3571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9bbb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std::tr1::shared_ptr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193" name="Elbow Connector 9"/>
            <p:cNvCxnSpPr>
              <a:endCxn id="192" idx="3"/>
            </p:cNvCxnSpPr>
            <p:nvPr/>
          </p:nvCxnSpPr>
          <p:spPr>
            <a:xfrm flipV="1" rot="16200000">
              <a:off x="2410560" y="1910880"/>
              <a:ext cx="750240" cy="286200"/>
            </a:xfrm>
            <a:prstGeom prst="bentConnector2">
              <a:avLst/>
            </a:prstGeom>
            <a:ln w="25560">
              <a:solidFill>
                <a:srgbClr val="9bbb59"/>
              </a:solidFill>
              <a:miter/>
              <a:tailEnd len="med" type="arrow" w="med"/>
            </a:ln>
          </p:spPr>
        </p:cxnSp>
      </p:grpSp>
      <p:grpSp>
        <p:nvGrpSpPr>
          <p:cNvPr id="194" name="Group 33"/>
          <p:cNvGrpSpPr/>
          <p:nvPr/>
        </p:nvGrpSpPr>
        <p:grpSpPr>
          <a:xfrm>
            <a:off x="214200" y="4143240"/>
            <a:ext cx="3143520" cy="2500560"/>
            <a:chOff x="214200" y="4143240"/>
            <a:chExt cx="3143520" cy="2500560"/>
          </a:xfrm>
        </p:grpSpPr>
        <p:sp>
          <p:nvSpPr>
            <p:cNvPr id="195" name="Rectangle 15"/>
            <p:cNvSpPr/>
            <p:nvPr/>
          </p:nvSpPr>
          <p:spPr>
            <a:xfrm>
              <a:off x="214200" y="4143240"/>
              <a:ext cx="3143520" cy="2500560"/>
            </a:xfrm>
            <a:prstGeom prst="rect">
              <a:avLst/>
            </a:prstGeom>
            <a:solidFill>
              <a:srgbClr val="4f81bd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SmartContainer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96" name="Rectangle 15"/>
            <p:cNvSpPr/>
            <p:nvPr/>
          </p:nvSpPr>
          <p:spPr>
            <a:xfrm>
              <a:off x="287280" y="4500360"/>
              <a:ext cx="2997360" cy="6098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SmartMap&lt;T , SMART&gt;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map&lt;SharedPtr&lt;K&gt;, SharedPtr&lt;V&gt; &gt;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97" name="Rectangle 15"/>
            <p:cNvSpPr/>
            <p:nvPr/>
          </p:nvSpPr>
          <p:spPr>
            <a:xfrm>
              <a:off x="287280" y="5214960"/>
              <a:ext cx="2997360" cy="6098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SmartValueMap&lt;T , SMART&gt;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std::map&lt;K, SharedPtr&lt;V&gt; &gt;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98" name="Rectangle 15"/>
            <p:cNvSpPr/>
            <p:nvPr/>
          </p:nvSpPr>
          <p:spPr>
            <a:xfrm>
              <a:off x="287280" y="5929560"/>
              <a:ext cx="2997360" cy="6098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SmartList&lt;T , SMART&gt;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std::list&lt;SharedPtr&lt;V&gt; &gt;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99" name="Rectangle 35"/>
          <p:cNvSpPr/>
          <p:nvPr/>
        </p:nvSpPr>
        <p:spPr>
          <a:xfrm>
            <a:off x="3429000" y="1500120"/>
            <a:ext cx="5429160" cy="140508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Default SharedPtr SMART template value is: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SMART = std::tr1::shared_ptr&lt;T&gt;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Using parameterized inheritance you can change SMART LAYER implementation (at compile time).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200" name="Elbow Connector 36"/>
          <p:cNvCxnSpPr>
            <a:endCxn id="191" idx="2"/>
          </p:cNvCxnSpPr>
          <p:nvPr/>
        </p:nvCxnSpPr>
        <p:spPr>
          <a:xfrm flipV="1" rot="16200000">
            <a:off x="1160280" y="3517200"/>
            <a:ext cx="1643760" cy="465840"/>
          </a:xfrm>
          <a:prstGeom prst="bentConnector3">
            <a:avLst>
              <a:gd name="adj1" fmla="val 49989"/>
            </a:avLst>
          </a:prstGeom>
          <a:ln w="25560">
            <a:solidFill>
              <a:srgbClr val="9bbb59"/>
            </a:solidFill>
            <a:miter/>
            <a:tailEnd len="med" type="arrow" w="med"/>
          </a:ln>
        </p:spPr>
      </p:cxnSp>
      <p:cxnSp>
        <p:nvCxnSpPr>
          <p:cNvPr id="201" name="Elbow Connector 39"/>
          <p:cNvCxnSpPr>
            <a:endCxn id="191" idx="2"/>
          </p:cNvCxnSpPr>
          <p:nvPr/>
        </p:nvCxnSpPr>
        <p:spPr>
          <a:xfrm flipV="1" rot="16200000">
            <a:off x="1017360" y="3660120"/>
            <a:ext cx="2358000" cy="894240"/>
          </a:xfrm>
          <a:prstGeom prst="bentConnector3">
            <a:avLst>
              <a:gd name="adj1" fmla="val 89967"/>
            </a:avLst>
          </a:prstGeom>
          <a:ln w="25560">
            <a:solidFill>
              <a:srgbClr val="9bbb59"/>
            </a:solidFill>
            <a:miter/>
            <a:tailEnd len="med" type="arrow" w="med"/>
          </a:ln>
        </p:spPr>
      </p:cxnSp>
      <p:cxnSp>
        <p:nvCxnSpPr>
          <p:cNvPr id="202" name="Elbow Connector 45"/>
          <p:cNvCxnSpPr>
            <a:endCxn id="191" idx="2"/>
          </p:cNvCxnSpPr>
          <p:nvPr/>
        </p:nvCxnSpPr>
        <p:spPr>
          <a:xfrm flipV="1" rot="16200000">
            <a:off x="338760" y="4339080"/>
            <a:ext cx="3072600" cy="250920"/>
          </a:xfrm>
          <a:prstGeom prst="bentConnector3">
            <a:avLst>
              <a:gd name="adj1" fmla="val 50000"/>
            </a:avLst>
          </a:prstGeom>
          <a:ln w="25560">
            <a:solidFill>
              <a:srgbClr val="9bbb59"/>
            </a:solidFill>
            <a:miter/>
            <a:tailEnd len="med" type="arrow" w="med"/>
          </a:ln>
        </p:spPr>
      </p:cxnSp>
      <p:sp>
        <p:nvSpPr>
          <p:cNvPr id="203" name="Rectangle 33"/>
          <p:cNvSpPr/>
          <p:nvPr/>
        </p:nvSpPr>
        <p:spPr>
          <a:xfrm>
            <a:off x="3643200" y="3343320"/>
            <a:ext cx="5000760" cy="2562840"/>
          </a:xfrm>
          <a:prstGeom prst="rect">
            <a:avLst/>
          </a:prstGeom>
          <a:solidFill>
            <a:srgbClr val="ffffff"/>
          </a:solidFill>
          <a:ln w="25560">
            <a:solidFill>
              <a:srgbClr val="9bbb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Each container use the SharedPtr&lt;T&gt; to build smart sub-elements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Each container implements wrapper standard methods for stl containers: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 use of a  SmartContainer is completely transparent to the developer and its use is same as the stl container‘s.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4" name="Date Placeholder 17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4A0297-CE62-47BA-8FA0-7FC0096D39B3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5" name="Slide Number Placeholder 18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566BA7-A142-4E4A-B4B4-3B5E61F2A275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6" name="Footer Placeholder 19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4" dur="indefinite" restart="never" nodeType="tmRoot">
          <p:childTnLst>
            <p:seq>
              <p:cTn id="85" dur="indefinite" nodeType="mainSeq"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" dur="2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800280" y="0"/>
            <a:ext cx="777240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Smart Memory Management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7"/>
          <p:cNvSpPr/>
          <p:nvPr/>
        </p:nvSpPr>
        <p:spPr>
          <a:xfrm>
            <a:off x="142920" y="857160"/>
            <a:ext cx="8786880" cy="5826960"/>
          </a:xfrm>
          <a:prstGeom prst="rect">
            <a:avLst/>
          </a:prstGeom>
          <a:solidFill>
            <a:srgbClr val="ffffff"/>
          </a:solidFill>
          <a:ln w="25560">
            <a:solidFill>
              <a:srgbClr val="4bacc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namespace smart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209" name="Group 14"/>
          <p:cNvGrpSpPr/>
          <p:nvPr/>
        </p:nvGrpSpPr>
        <p:grpSpPr>
          <a:xfrm>
            <a:off x="214200" y="1500120"/>
            <a:ext cx="3071880" cy="1428480"/>
            <a:chOff x="214200" y="1500120"/>
            <a:chExt cx="3071880" cy="1428480"/>
          </a:xfrm>
        </p:grpSpPr>
        <p:sp>
          <p:nvSpPr>
            <p:cNvPr id="210" name="Rectangle 15"/>
            <p:cNvSpPr/>
            <p:nvPr/>
          </p:nvSpPr>
          <p:spPr>
            <a:xfrm>
              <a:off x="214200" y="2357280"/>
              <a:ext cx="3071880" cy="5713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4f81b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SharedPtr&lt;T , CLONE, SMART &gt;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Smart Pointer Template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11" name="Rectangle 15"/>
            <p:cNvSpPr/>
            <p:nvPr/>
          </p:nvSpPr>
          <p:spPr>
            <a:xfrm>
              <a:off x="214200" y="1500120"/>
              <a:ext cx="2428920" cy="3571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9bbb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std::tr1::shared_ptr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212" name="Elbow Connector 9"/>
            <p:cNvCxnSpPr>
              <a:endCxn id="211" idx="2"/>
            </p:cNvCxnSpPr>
            <p:nvPr/>
          </p:nvCxnSpPr>
          <p:spPr>
            <a:xfrm flipV="1" rot="16200000">
              <a:off x="1392120" y="1892160"/>
              <a:ext cx="572040" cy="500760"/>
            </a:xfrm>
            <a:prstGeom prst="bentConnector3">
              <a:avLst>
                <a:gd name="adj1" fmla="val 50000"/>
              </a:avLst>
            </a:prstGeom>
            <a:ln w="25560">
              <a:solidFill>
                <a:srgbClr val="9bbb59"/>
              </a:solidFill>
              <a:miter/>
              <a:tailEnd len="med" type="arrow" w="med"/>
            </a:ln>
          </p:spPr>
        </p:cxnSp>
      </p:grpSp>
      <p:grpSp>
        <p:nvGrpSpPr>
          <p:cNvPr id="213" name="Group 33"/>
          <p:cNvGrpSpPr/>
          <p:nvPr/>
        </p:nvGrpSpPr>
        <p:grpSpPr>
          <a:xfrm>
            <a:off x="214200" y="4143240"/>
            <a:ext cx="3143520" cy="2500560"/>
            <a:chOff x="214200" y="4143240"/>
            <a:chExt cx="3143520" cy="2500560"/>
          </a:xfrm>
        </p:grpSpPr>
        <p:sp>
          <p:nvSpPr>
            <p:cNvPr id="214" name="Rectangle 15"/>
            <p:cNvSpPr/>
            <p:nvPr/>
          </p:nvSpPr>
          <p:spPr>
            <a:xfrm>
              <a:off x="214200" y="4143240"/>
              <a:ext cx="3143520" cy="2500560"/>
            </a:xfrm>
            <a:prstGeom prst="rect">
              <a:avLst/>
            </a:prstGeom>
            <a:solidFill>
              <a:srgbClr val="4f81bd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SmartContainer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15" name="Rectangle 15"/>
            <p:cNvSpPr/>
            <p:nvPr/>
          </p:nvSpPr>
          <p:spPr>
            <a:xfrm>
              <a:off x="287280" y="4500360"/>
              <a:ext cx="2997360" cy="6098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SmartMap&lt;T , SMART&gt;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map&lt;SharedPtr&lt;K&gt;, SharedPtr&lt;V&gt; &gt;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16" name="Rectangle 15"/>
            <p:cNvSpPr/>
            <p:nvPr/>
          </p:nvSpPr>
          <p:spPr>
            <a:xfrm>
              <a:off x="287280" y="5214960"/>
              <a:ext cx="2997360" cy="6098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SmartValueMap&lt;T , SMART&gt;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std::map&lt;K, SharedPtr&lt;V&gt; &gt;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17" name="Rectangle 15"/>
            <p:cNvSpPr/>
            <p:nvPr/>
          </p:nvSpPr>
          <p:spPr>
            <a:xfrm>
              <a:off x="287280" y="5929560"/>
              <a:ext cx="2997360" cy="6098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SmartList&lt;T , SMART&gt;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std::list&lt;SharedPtr&lt;V&gt; &gt;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18" name="Rectangle 35"/>
          <p:cNvSpPr/>
          <p:nvPr/>
        </p:nvSpPr>
        <p:spPr>
          <a:xfrm>
            <a:off x="3429000" y="1500120"/>
            <a:ext cx="5429160" cy="13748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Default SharedPtr SMART template value is: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SMART = std::tr1::shared_ptr&lt;T&gt;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Using parameterized inheritance you can change SMART LAYER implementation (at compile time).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219" name="Elbow Connector 36"/>
          <p:cNvCxnSpPr>
            <a:endCxn id="210" idx="2"/>
          </p:cNvCxnSpPr>
          <p:nvPr/>
        </p:nvCxnSpPr>
        <p:spPr>
          <a:xfrm flipV="1" rot="16200000">
            <a:off x="1160280" y="3517200"/>
            <a:ext cx="1643760" cy="465840"/>
          </a:xfrm>
          <a:prstGeom prst="bentConnector3">
            <a:avLst>
              <a:gd name="adj1" fmla="val 49989"/>
            </a:avLst>
          </a:prstGeom>
          <a:ln w="25560">
            <a:solidFill>
              <a:srgbClr val="9bbb59"/>
            </a:solidFill>
            <a:miter/>
            <a:tailEnd len="med" type="arrow" w="med"/>
          </a:ln>
        </p:spPr>
      </p:cxnSp>
      <p:cxnSp>
        <p:nvCxnSpPr>
          <p:cNvPr id="220" name="Elbow Connector 39"/>
          <p:cNvCxnSpPr>
            <a:endCxn id="210" idx="2"/>
          </p:cNvCxnSpPr>
          <p:nvPr/>
        </p:nvCxnSpPr>
        <p:spPr>
          <a:xfrm flipV="1" rot="16200000">
            <a:off x="1017360" y="3660120"/>
            <a:ext cx="2358000" cy="894240"/>
          </a:xfrm>
          <a:prstGeom prst="bentConnector3">
            <a:avLst>
              <a:gd name="adj1" fmla="val 89967"/>
            </a:avLst>
          </a:prstGeom>
          <a:ln w="25560">
            <a:solidFill>
              <a:srgbClr val="9bbb59"/>
            </a:solidFill>
            <a:miter/>
            <a:tailEnd len="med" type="arrow" w="med"/>
          </a:ln>
        </p:spPr>
      </p:cxnSp>
      <p:cxnSp>
        <p:nvCxnSpPr>
          <p:cNvPr id="221" name="Elbow Connector 45"/>
          <p:cNvCxnSpPr>
            <a:endCxn id="210" idx="2"/>
          </p:cNvCxnSpPr>
          <p:nvPr/>
        </p:nvCxnSpPr>
        <p:spPr>
          <a:xfrm flipV="1" rot="16200000">
            <a:off x="338760" y="4339080"/>
            <a:ext cx="3072600" cy="250920"/>
          </a:xfrm>
          <a:prstGeom prst="bentConnector3">
            <a:avLst>
              <a:gd name="adj1" fmla="val 50000"/>
            </a:avLst>
          </a:prstGeom>
          <a:ln w="25560">
            <a:solidFill>
              <a:srgbClr val="9bbb59"/>
            </a:solidFill>
            <a:miter/>
            <a:tailEnd len="med" type="arrow" w="med"/>
          </a:ln>
        </p:spPr>
      </p:cxnSp>
      <p:sp>
        <p:nvSpPr>
          <p:cNvPr id="222" name="Rectangle 37"/>
          <p:cNvSpPr/>
          <p:nvPr/>
        </p:nvSpPr>
        <p:spPr>
          <a:xfrm>
            <a:off x="3643200" y="3071880"/>
            <a:ext cx="5000760" cy="3385800"/>
          </a:xfrm>
          <a:prstGeom prst="rect">
            <a:avLst/>
          </a:prstGeom>
          <a:solidFill>
            <a:srgbClr val="ffffff"/>
          </a:solidFill>
          <a:ln w="25560">
            <a:solidFill>
              <a:srgbClr val="9bbb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SmartMap: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Implement a full wrapper to the std::map.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Uses SmartPtr for Key and Values.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 provide find() functionalities a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struct smart::less&lt;T&gt; class is provided.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end()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begin()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find()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Insert()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iterator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const_iterator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…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3" name="Rectangle 38"/>
          <p:cNvSpPr/>
          <p:nvPr/>
        </p:nvSpPr>
        <p:spPr>
          <a:xfrm>
            <a:off x="4500720" y="3343320"/>
            <a:ext cx="3009600" cy="2837160"/>
          </a:xfrm>
          <a:prstGeom prst="rect">
            <a:avLst/>
          </a:prstGeom>
          <a:solidFill>
            <a:srgbClr val="ffffff"/>
          </a:solidFill>
          <a:ln w="25560">
            <a:solidFill>
              <a:srgbClr val="9bbb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SmartValueMap: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Use smart pointer only for Values: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end()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begin()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find()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insert()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iterator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const_i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…terator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4" name="Rectangle 34"/>
          <p:cNvSpPr/>
          <p:nvPr/>
        </p:nvSpPr>
        <p:spPr>
          <a:xfrm>
            <a:off x="4857840" y="3209760"/>
            <a:ext cx="2224080" cy="3111480"/>
          </a:xfrm>
          <a:prstGeom prst="rect">
            <a:avLst/>
          </a:prstGeom>
          <a:solidFill>
            <a:srgbClr val="ffffff"/>
          </a:solidFill>
          <a:ln w="25560">
            <a:solidFill>
              <a:srgbClr val="9bbb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SmartList: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end()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begin()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find()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Push_front()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Push_back()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Pop_back()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Pop_front()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iterator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const_iterator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buClr>
                <a:srgbClr val="000000"/>
              </a:buClr>
              <a:buFont typeface="Calibri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…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5" name="Date Placeholder 19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99B3710-25D8-4264-BE4D-21DFDEDBE983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6" name="Slide Number Placeholder 20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26443D1-7E56-4791-B6E7-CFEE42620837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7" name="Footer Placeholder 21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1" dur="indefinite" restart="never" nodeType="tmRoot">
          <p:childTnLst>
            <p:seq>
              <p:cTn id="92" dur="indefinite" nodeType="mainSeq"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" dur="2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01" dur="2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000"/>
                            </p:stCondLst>
                            <p:childTnLst>
                              <p:par>
                                <p:cTn id="10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6" dur="2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10" dur="2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5" dur="2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Box 7"/>
          <p:cNvSpPr/>
          <p:nvPr/>
        </p:nvSpPr>
        <p:spPr>
          <a:xfrm>
            <a:off x="142920" y="857160"/>
            <a:ext cx="8786880" cy="5826960"/>
          </a:xfrm>
          <a:prstGeom prst="rect">
            <a:avLst/>
          </a:prstGeom>
          <a:solidFill>
            <a:srgbClr val="ffffff"/>
          </a:solidFill>
          <a:ln w="25560">
            <a:solidFill>
              <a:srgbClr val="4bacc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namespace smart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229" name="Group 53"/>
          <p:cNvGrpSpPr/>
          <p:nvPr/>
        </p:nvGrpSpPr>
        <p:grpSpPr>
          <a:xfrm>
            <a:off x="357120" y="3643200"/>
            <a:ext cx="4929120" cy="2179800"/>
            <a:chOff x="357120" y="3643200"/>
            <a:chExt cx="4929120" cy="2179800"/>
          </a:xfrm>
        </p:grpSpPr>
        <p:sp>
          <p:nvSpPr>
            <p:cNvPr id="230" name="Rectangle 54"/>
            <p:cNvSpPr/>
            <p:nvPr/>
          </p:nvSpPr>
          <p:spPr>
            <a:xfrm>
              <a:off x="357120" y="3643200"/>
              <a:ext cx="4929120" cy="173988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SmartCast</a:t>
              </a: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’s static methods are used to cast ‘T x’ argument to a pointer.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1" name="Rectangle 55"/>
            <p:cNvSpPr/>
            <p:nvPr/>
          </p:nvSpPr>
          <p:spPr>
            <a:xfrm>
              <a:off x="714240" y="4357440"/>
              <a:ext cx="4286160" cy="146556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9bbb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This is done to be sure that used template is correctly passed to the SharedPtr constructor.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It should be a pointer to an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Object allocated using ‘new’ operator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800280" y="0"/>
            <a:ext cx="777240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Template checking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233" name="Group 24"/>
          <p:cNvGrpSpPr/>
          <p:nvPr/>
        </p:nvGrpSpPr>
        <p:grpSpPr>
          <a:xfrm>
            <a:off x="5429160" y="3786120"/>
            <a:ext cx="3286080" cy="2071800"/>
            <a:chOff x="5429160" y="3786120"/>
            <a:chExt cx="3286080" cy="2071800"/>
          </a:xfrm>
        </p:grpSpPr>
        <p:sp>
          <p:nvSpPr>
            <p:cNvPr id="234" name="Rectangle 15"/>
            <p:cNvSpPr/>
            <p:nvPr/>
          </p:nvSpPr>
          <p:spPr>
            <a:xfrm>
              <a:off x="5429160" y="3786120"/>
              <a:ext cx="3286080" cy="2071800"/>
            </a:xfrm>
            <a:prstGeom prst="rect">
              <a:avLst/>
            </a:prstGeom>
            <a:solidFill>
              <a:srgbClr val="4f81bd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SmartCast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5" name="Rectangle 15"/>
            <p:cNvSpPr/>
            <p:nvPr/>
          </p:nvSpPr>
          <p:spPr>
            <a:xfrm>
              <a:off x="5505480" y="4147200"/>
              <a:ext cx="3133440" cy="3412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static  T* getPtr&lt;T&gt;(T  &amp;x)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6" name="Rectangle 15"/>
            <p:cNvSpPr/>
            <p:nvPr/>
          </p:nvSpPr>
          <p:spPr>
            <a:xfrm>
              <a:off x="5496120" y="4572000"/>
              <a:ext cx="3152160" cy="35712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static  T* getPtr&lt;T&gt;(const T &amp;x)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7" name="Rectangle 15"/>
            <p:cNvSpPr/>
            <p:nvPr/>
          </p:nvSpPr>
          <p:spPr>
            <a:xfrm>
              <a:off x="5496120" y="5000760"/>
              <a:ext cx="3152160" cy="35712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static  T* getPtr&lt;T&gt;(T  *x)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8" name="Rectangle 15"/>
            <p:cNvSpPr/>
            <p:nvPr/>
          </p:nvSpPr>
          <p:spPr>
            <a:xfrm>
              <a:off x="5496120" y="5429520"/>
              <a:ext cx="3152160" cy="35712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static  T* getPtr&lt;T&gt;(const T *x)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239" name="Group 34"/>
          <p:cNvGrpSpPr/>
          <p:nvPr/>
        </p:nvGrpSpPr>
        <p:grpSpPr>
          <a:xfrm>
            <a:off x="6286680" y="1714680"/>
            <a:ext cx="2357280" cy="1214280"/>
            <a:chOff x="6286680" y="1714680"/>
            <a:chExt cx="2357280" cy="1214280"/>
          </a:xfrm>
        </p:grpSpPr>
        <p:sp>
          <p:nvSpPr>
            <p:cNvPr id="240" name="Rectangle 15"/>
            <p:cNvSpPr/>
            <p:nvPr/>
          </p:nvSpPr>
          <p:spPr>
            <a:xfrm>
              <a:off x="6286680" y="1714680"/>
              <a:ext cx="2357280" cy="1214280"/>
            </a:xfrm>
            <a:prstGeom prst="rect">
              <a:avLst/>
            </a:prstGeom>
            <a:solidFill>
              <a:srgbClr val="4f81bd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SmartCheck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41" name="Rectangle 15"/>
            <p:cNvSpPr/>
            <p:nvPr/>
          </p:nvSpPr>
          <p:spPr>
            <a:xfrm>
              <a:off x="6357960" y="2071800"/>
              <a:ext cx="2214720" cy="3412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static  bool isPtr&lt;T&gt;()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42" name="Rectangle 15"/>
            <p:cNvSpPr/>
            <p:nvPr/>
          </p:nvSpPr>
          <p:spPr>
            <a:xfrm>
              <a:off x="6357960" y="2500560"/>
              <a:ext cx="2214720" cy="3412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static  bool isStr&lt;T&gt;()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243" name="Rectangle 51" descr=""/>
          <p:cNvPicPr/>
          <p:nvPr/>
        </p:nvPicPr>
        <p:blipFill>
          <a:blip r:embed="rId1"/>
          <a:stretch/>
        </p:blipFill>
        <p:spPr>
          <a:xfrm>
            <a:off x="324000" y="1468440"/>
            <a:ext cx="5765760" cy="149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Date Placeholder 17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027ED30-274A-4988-9B5C-CE14919CF9DC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5" name="Slide Number Placeholder 18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8AE8EF-9CEE-4427-A818-3BACAD9B7BA2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6" name="Footer Placeholder 19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29A989-1F9B-42EF-8180-C28C588E5AB1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8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59AC6F6-413E-4B06-8ED4-079895B43D20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9" name="Footer Placeholder 5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50" name="Picture 8" descr="GSoC_2010_300x267px.jpg"/>
          <p:cNvPicPr/>
          <p:nvPr/>
        </p:nvPicPr>
        <p:blipFill>
          <a:blip r:embed="rId1"/>
          <a:stretch/>
        </p:blipFill>
        <p:spPr>
          <a:xfrm>
            <a:off x="1257480" y="3933720"/>
            <a:ext cx="2857320" cy="254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TextBox 6"/>
          <p:cNvSpPr/>
          <p:nvPr/>
        </p:nvSpPr>
        <p:spPr>
          <a:xfrm>
            <a:off x="195120" y="76320"/>
            <a:ext cx="8763120" cy="3782880"/>
          </a:xfrm>
          <a:prstGeom prst="rect">
            <a:avLst/>
          </a:prstGeom>
          <a:solidFill>
            <a:srgbClr val="ffffff"/>
          </a:solidFill>
          <a:ln w="25560">
            <a:solidFill>
              <a:srgbClr val="4f81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SQLHandler is developed by: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Dr. Carlo Cancellieri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sng">
                <a:solidFill>
                  <a:srgbClr val="0000ff"/>
                </a:solidFill>
                <a:effectLst/>
                <a:uFillTx/>
                <a:latin typeface="Calibri"/>
                <a:hlinkClick r:id="rId2"/>
              </a:rPr>
              <a:t>ccancellieri@hotmail.com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 is distributed under 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LGPL license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ts development was financed by: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Google under the GSoC 2010 rules.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Special thanks: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Mr. Patrick  West </a:t>
            </a:r>
            <a:r>
              <a:rPr b="1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1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 mentor for OPeNDAP Inc.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Mr. James Gallagher</a:t>
            </a: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as mentor for OPeNDAP Inc.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2" name="Rounded Rectangle 10"/>
          <p:cNvSpPr/>
          <p:nvPr/>
        </p:nvSpPr>
        <p:spPr>
          <a:xfrm>
            <a:off x="7620120" y="152280"/>
            <a:ext cx="129528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>
            <a:solidFill>
              <a:srgbClr val="9bbb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Opendap svn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3" name="Rounded Rectangle 11"/>
          <p:cNvSpPr/>
          <p:nvPr/>
        </p:nvSpPr>
        <p:spPr>
          <a:xfrm>
            <a:off x="7620120" y="457200"/>
            <a:ext cx="129528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>
            <a:solidFill>
              <a:srgbClr val="9bbb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Google code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4" name="Rounded Rectangle 13"/>
          <p:cNvSpPr/>
          <p:nvPr/>
        </p:nvSpPr>
        <p:spPr>
          <a:xfrm>
            <a:off x="7620120" y="762120"/>
            <a:ext cx="129528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>
            <a:solidFill>
              <a:srgbClr val="9bbb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Sourceforge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55" name="Picture 12" descr="opendap_logo_masthead.gif"/>
          <p:cNvPicPr/>
          <p:nvPr/>
        </p:nvPicPr>
        <p:blipFill>
          <a:blip r:embed="rId3"/>
          <a:stretch/>
        </p:blipFill>
        <p:spPr>
          <a:xfrm>
            <a:off x="4330800" y="4286160"/>
            <a:ext cx="3956040" cy="1785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LibreOffice/25.8.3.2$MacOSX_AARCH64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2010-08-15T22:43:06Z</dcterms:created>
  <dc:creator>carlo</dc:creator>
  <dc:description/>
  <dc:language>en-US</dc:language>
  <cp:lastModifiedBy>carlo</cp:lastModifiedBy>
  <dcterms:modified xsi:type="dcterms:W3CDTF">2010-08-15T22:46:38Z</dcterms:modified>
  <cp:revision>3</cp:revision>
  <dc:subject/>
  <dc:title>SQLHandler</dc:title>
</cp:coreProperties>
</file>