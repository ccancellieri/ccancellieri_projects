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_rels/slide8.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xml.rels" ContentType="application/vnd.openxmlformats-package.relationships+xml"/>
  <Override PartName="/ppt/slides/slide1.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Masters/_rels/slideMaster1.xml.rels" ContentType="application/vnd.openxmlformats-package.relationships+xml"/>
  <Override PartName="/ppt/slideMasters/slideMaster1.xml" ContentType="application/vnd.openxmlformats-officedocument.presentationml.slideMaster+xml"/>
  <Override PartName="/ppt/slideLayouts/_rels/slideLayout1.xml.rels" ContentType="application/vnd.openxmlformats-package.relationships+xml"/>
  <Override PartName="/ppt/slideLayouts/slideLayout1.xml" ContentType="application/vnd.openxmlformats-officedocument.presentationml.slideLayout+xml"/>
  <Override PartName="/ppt/notesMasters/_rels/notesMaster1.xml.rels" ContentType="application/vnd.openxmlformats-package.relationshi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_rels/notesSlide5.xml.rels" ContentType="application/vnd.openxmlformats-package.relationships+xml"/>
  <Override PartName="/ppt/notesSlides/_rels/notesSlide1.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Calibri"/>
            </a:endParaRPr>
          </a:p>
        </p:txBody>
      </p:sp>
      <p:sp>
        <p:nvSpPr>
          <p:cNvPr id="8"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Calibri"/>
            </a:endParaRPr>
          </a:p>
        </p:txBody>
      </p:sp>
      <p:sp>
        <p:nvSpPr>
          <p:cNvPr id="9" name="PlaceHolder 2"/>
          <p:cNvSpPr>
            <a:spLocks noGrp="1"/>
          </p:cNvSpPr>
          <p:nvPr>
            <p:ph type="dt" idx="4"/>
          </p:nvPr>
        </p:nvSpPr>
        <p:spPr>
          <a:xfrm>
            <a:off x="3884400" y="0"/>
            <a:ext cx="297180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it-IT" sz="1200" strike="noStrike" u="none">
                <a:solidFill>
                  <a:srgbClr val="000000"/>
                </a:solidFill>
                <a:effectLst/>
                <a:uFillTx/>
                <a:latin typeface="Calibri"/>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000000"/>
                </a:solidFill>
                <a:effectLst/>
                <a:uFillTx/>
                <a:latin typeface="Calibri"/>
              </a:rPr>
              <a:t>&lt;date/time&gt;</a:t>
            </a:r>
            <a:endParaRPr b="0" lang="en-US" sz="1200" strike="noStrike" u="none">
              <a:solidFill>
                <a:srgbClr val="000000"/>
              </a:solidFill>
              <a:effectLst/>
              <a:uFillTx/>
              <a:latin typeface="Calibri"/>
            </a:endParaRPr>
          </a:p>
        </p:txBody>
      </p:sp>
      <p:sp>
        <p:nvSpPr>
          <p:cNvPr id="10" name="PlaceHolder 3"/>
          <p:cNvSpPr>
            <a:spLocks noGrp="1"/>
          </p:cNvSpPr>
          <p:nvPr>
            <p:ph type="sldImg"/>
          </p:nvPr>
        </p:nvSpPr>
        <p:spPr>
          <a:xfrm>
            <a:off x="1143000" y="685440"/>
            <a:ext cx="4572000" cy="3429000"/>
          </a:xfrm>
          <a:prstGeom prst="rect">
            <a:avLst/>
          </a:prstGeom>
          <a:noFill/>
          <a:ln w="1260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Click to move the slide</a:t>
            </a:r>
            <a:endParaRPr b="0" lang="en-US" sz="4400" strike="noStrike" u="none">
              <a:solidFill>
                <a:srgbClr val="000000"/>
              </a:solidFill>
              <a:effectLst/>
              <a:uFillTx/>
              <a:latin typeface="Calibri"/>
            </a:endParaRPr>
          </a:p>
        </p:txBody>
      </p:sp>
      <p:sp>
        <p:nvSpPr>
          <p:cNvPr id="11"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Click to edit the notes format</a:t>
            </a:r>
            <a:endParaRPr b="0" lang="en-US" sz="1200" strike="noStrike" u="none">
              <a:solidFill>
                <a:srgbClr val="000000"/>
              </a:solidFill>
              <a:effectLst/>
              <a:uFillTx/>
              <a:latin typeface="Calibri"/>
            </a:endParaRPr>
          </a:p>
        </p:txBody>
      </p:sp>
      <p:sp>
        <p:nvSpPr>
          <p:cNvPr id="12" name="PlaceHolder 5"/>
          <p:cNvSpPr>
            <a:spLocks noGrp="1"/>
          </p:cNvSpPr>
          <p:nvPr>
            <p:ph type="ftr" idx="5"/>
          </p:nvPr>
        </p:nvSpPr>
        <p:spPr>
          <a:xfrm>
            <a:off x="-360" y="8685360"/>
            <a:ext cx="2971800" cy="4572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Calibri"/>
            </a:endParaRPr>
          </a:p>
        </p:txBody>
      </p:sp>
      <p:sp>
        <p:nvSpPr>
          <p:cNvPr id="13" name="PlaceHolder 6"/>
          <p:cNvSpPr>
            <a:spLocks noGrp="1"/>
          </p:cNvSpPr>
          <p:nvPr>
            <p:ph type="sldNum" idx="6"/>
          </p:nvPr>
        </p:nvSpPr>
        <p:spPr>
          <a:xfrm>
            <a:off x="3884400" y="8685360"/>
            <a:ext cx="2971800" cy="45720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it-IT" sz="1200" strike="noStrike" u="none">
                <a:solidFill>
                  <a:srgbClr val="000000"/>
                </a:solidFill>
                <a:effectLst/>
                <a:uFillTx/>
                <a:latin typeface="Calibri"/>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6F48D4-B7AE-40D2-BBC5-17908EA591BA}" type="slidenum">
              <a:rPr b="0" lang="it-IT" sz="1200" strike="noStrike" u="none">
                <a:solidFill>
                  <a:srgbClr val="000000"/>
                </a:solidFill>
                <a:effectLst/>
                <a:uFillTx/>
                <a:latin typeface="Calibri"/>
              </a:rPr>
              <a:t>&lt;number&gt;</a:t>
            </a:fld>
            <a:endParaRPr b="0" lang="en-US" sz="1200" strike="noStrike" u="none">
              <a:solidFill>
                <a:srgbClr val="000000"/>
              </a:solidFill>
              <a:effectLst/>
              <a:uFillTx/>
              <a:latin typeface="Calibri"/>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8E5875-DC9C-47F9-AB5B-FC38443BB79D}" type="slidenum">
              <a:rPr b="0" lang="en-US" sz="1200" strike="noStrike" u="none">
                <a:solidFill>
                  <a:srgbClr val="000000"/>
                </a:solidFill>
                <a:effectLst/>
                <a:uFillTx/>
                <a:latin typeface="Calibri"/>
              </a:rPr>
              <a:t>&lt;number&gt;</a:t>
            </a:fld>
            <a:endParaRPr b="0" lang="en-US" sz="1200" strike="noStrike" u="none">
              <a:solidFill>
                <a:srgbClr val="000000"/>
              </a:solidFill>
              <a:effectLst/>
              <a:uFillTx/>
              <a:latin typeface="Calibri"/>
            </a:endParaRPr>
          </a:p>
        </p:txBody>
      </p:sp>
      <p:sp>
        <p:nvSpPr>
          <p:cNvPr id="243" name="PlaceHolder 1"/>
          <p:cNvSpPr>
            <a:spLocks noGrp="1"/>
          </p:cNvSpPr>
          <p:nvPr>
            <p:ph type="sldImg"/>
          </p:nvPr>
        </p:nvSpPr>
        <p:spPr>
          <a:xfrm>
            <a:off x="1143000" y="685800"/>
            <a:ext cx="4572000" cy="3429000"/>
          </a:xfrm>
          <a:prstGeom prst="rect">
            <a:avLst/>
          </a:prstGeom>
          <a:ln w="0">
            <a:noFill/>
          </a:ln>
        </p:spPr>
      </p:sp>
      <p:sp>
        <p:nvSpPr>
          <p:cNvPr id="24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it-IT" sz="1200" strike="noStrike" u="none">
              <a:solidFill>
                <a:srgbClr val="000000"/>
              </a:solidFill>
              <a:effectLst/>
              <a:uFillTx/>
              <a:latin typeface="Calibri"/>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BD3A665-CEE0-4028-B78F-B3E32F7CF715}" type="slidenum">
              <a:rPr b="0" lang="en-US" sz="1200" strike="noStrike" u="none">
                <a:solidFill>
                  <a:srgbClr val="000000"/>
                </a:solidFill>
                <a:effectLst/>
                <a:uFillTx/>
                <a:latin typeface="Calibri"/>
              </a:rPr>
              <a:t>&lt;number&gt;</a:t>
            </a:fld>
            <a:endParaRPr b="0" lang="en-US" sz="1200" strike="noStrike" u="none">
              <a:solidFill>
                <a:srgbClr val="000000"/>
              </a:solidFill>
              <a:effectLst/>
              <a:uFillTx/>
              <a:latin typeface="Calibri"/>
            </a:endParaRPr>
          </a:p>
        </p:txBody>
      </p:sp>
      <p:sp>
        <p:nvSpPr>
          <p:cNvPr id="246" name="PlaceHolder 1"/>
          <p:cNvSpPr>
            <a:spLocks noGrp="1"/>
          </p:cNvSpPr>
          <p:nvPr>
            <p:ph type="sldImg"/>
          </p:nvPr>
        </p:nvSpPr>
        <p:spPr>
          <a:xfrm>
            <a:off x="1143000" y="685800"/>
            <a:ext cx="4572000" cy="3429000"/>
          </a:xfrm>
          <a:prstGeom prst="rect">
            <a:avLst/>
          </a:prstGeom>
          <a:ln w="0">
            <a:noFill/>
          </a:ln>
        </p:spPr>
      </p:sp>
      <p:sp>
        <p:nvSpPr>
          <p:cNvPr id="24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it-IT" sz="1200" strike="noStrike" u="none">
              <a:solidFill>
                <a:srgbClr val="000000"/>
              </a:solidFill>
              <a:effectLst/>
              <a:uFillTx/>
              <a:latin typeface="Calibri"/>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246CB1E-EE05-4C28-95C2-84312B971F8A}" type="slidenum">
              <a:rPr b="0" lang="en-US" sz="1200" strike="noStrike" u="none">
                <a:solidFill>
                  <a:srgbClr val="000000"/>
                </a:solidFill>
                <a:effectLst/>
                <a:uFillTx/>
                <a:latin typeface="Calibri"/>
              </a:rPr>
              <a:t>&lt;number&gt;</a:t>
            </a:fld>
            <a:endParaRPr b="0" lang="en-US" sz="1200" strike="noStrike" u="none">
              <a:solidFill>
                <a:srgbClr val="000000"/>
              </a:solidFill>
              <a:effectLst/>
              <a:uFillTx/>
              <a:latin typeface="Calibri"/>
            </a:endParaRPr>
          </a:p>
        </p:txBody>
      </p:sp>
      <p:sp>
        <p:nvSpPr>
          <p:cNvPr id="249" name="PlaceHolder 1"/>
          <p:cNvSpPr>
            <a:spLocks noGrp="1"/>
          </p:cNvSpPr>
          <p:nvPr>
            <p:ph type="sldImg"/>
          </p:nvPr>
        </p:nvSpPr>
        <p:spPr>
          <a:xfrm>
            <a:off x="1143000" y="685800"/>
            <a:ext cx="4572000" cy="3429000"/>
          </a:xfrm>
          <a:prstGeom prst="rect">
            <a:avLst/>
          </a:prstGeom>
          <a:ln w="0">
            <a:noFill/>
          </a:ln>
        </p:spPr>
      </p:sp>
      <p:sp>
        <p:nvSpPr>
          <p:cNvPr id="25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it-IT" sz="1200" strike="noStrike" u="none">
              <a:solidFill>
                <a:srgbClr val="000000"/>
              </a:solidFill>
              <a:effectLst/>
              <a:uFillTx/>
              <a:latin typeface="Calibri"/>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3393043-A3FC-4B5E-9241-EFABB68EFC8D}" type="slidenum">
              <a:rPr b="0" lang="en-US" sz="1200" strike="noStrike" u="none">
                <a:solidFill>
                  <a:srgbClr val="000000"/>
                </a:solidFill>
                <a:effectLst/>
                <a:uFillTx/>
                <a:latin typeface="Calibri"/>
              </a:rPr>
              <a:t>&lt;number&gt;</a:t>
            </a:fld>
            <a:endParaRPr b="0" lang="en-US" sz="1200" strike="noStrike" u="none">
              <a:solidFill>
                <a:srgbClr val="000000"/>
              </a:solidFill>
              <a:effectLst/>
              <a:uFillTx/>
              <a:latin typeface="Calibri"/>
            </a:endParaRPr>
          </a:p>
        </p:txBody>
      </p:sp>
      <p:sp>
        <p:nvSpPr>
          <p:cNvPr id="252" name="PlaceHolder 1"/>
          <p:cNvSpPr>
            <a:spLocks noGrp="1"/>
          </p:cNvSpPr>
          <p:nvPr>
            <p:ph type="sldImg"/>
          </p:nvPr>
        </p:nvSpPr>
        <p:spPr>
          <a:xfrm>
            <a:off x="1143000" y="685800"/>
            <a:ext cx="4572000" cy="3429000"/>
          </a:xfrm>
          <a:prstGeom prst="rect">
            <a:avLst/>
          </a:prstGeom>
          <a:ln w="0">
            <a:noFill/>
          </a:ln>
        </p:spPr>
      </p:sp>
      <p:sp>
        <p:nvSpPr>
          <p:cNvPr id="25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it-IT" sz="1200" strike="noStrike" u="none">
              <a:solidFill>
                <a:srgbClr val="000000"/>
              </a:solidFill>
              <a:effectLst/>
              <a:uFillTx/>
              <a:latin typeface="Calibri"/>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D02EB8C-877F-4863-9526-F53E34246CC4}" type="slidenum">
              <a:rPr b="0" lang="en-US" sz="1200" strike="noStrike" u="none">
                <a:solidFill>
                  <a:srgbClr val="000000"/>
                </a:solidFill>
                <a:effectLst/>
                <a:uFillTx/>
                <a:latin typeface="Calibri"/>
              </a:rPr>
              <a:t>&lt;number&gt;</a:t>
            </a:fld>
            <a:endParaRPr b="0" lang="en-US" sz="1200" strike="noStrike" u="none">
              <a:solidFill>
                <a:srgbClr val="000000"/>
              </a:solidFill>
              <a:effectLst/>
              <a:uFillTx/>
              <a:latin typeface="Calibri"/>
            </a:endParaRPr>
          </a:p>
        </p:txBody>
      </p:sp>
      <p:sp>
        <p:nvSpPr>
          <p:cNvPr id="255" name="PlaceHolder 1"/>
          <p:cNvSpPr>
            <a:spLocks noGrp="1"/>
          </p:cNvSpPr>
          <p:nvPr>
            <p:ph type="sldImg"/>
          </p:nvPr>
        </p:nvSpPr>
        <p:spPr>
          <a:xfrm>
            <a:off x="1143000" y="685800"/>
            <a:ext cx="4572000" cy="3429000"/>
          </a:xfrm>
          <a:prstGeom prst="rect">
            <a:avLst/>
          </a:prstGeom>
          <a:ln w="0">
            <a:noFill/>
          </a:ln>
        </p:spPr>
      </p:sp>
      <p:sp>
        <p:nvSpPr>
          <p:cNvPr id="25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it-IT" sz="1200" strike="noStrike" u="none">
              <a:solidFill>
                <a:srgbClr val="000000"/>
              </a:solidFill>
              <a:effectLst/>
              <a:uFillTx/>
              <a:latin typeface="Calibri"/>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5675652-A1D2-4D9C-AFEE-9FE6A4582495}" type="slidenum">
              <a:rPr b="0" lang="en-US" sz="1200" strike="noStrike" u="none">
                <a:solidFill>
                  <a:srgbClr val="000000"/>
                </a:solidFill>
                <a:effectLst/>
                <a:uFillTx/>
                <a:latin typeface="Calibri"/>
              </a:rPr>
              <a:t>&lt;number&gt;</a:t>
            </a:fld>
            <a:endParaRPr b="0" lang="en-US" sz="1200" strike="noStrike" u="none">
              <a:solidFill>
                <a:srgbClr val="000000"/>
              </a:solidFill>
              <a:effectLst/>
              <a:uFillTx/>
              <a:latin typeface="Calibri"/>
            </a:endParaRPr>
          </a:p>
        </p:txBody>
      </p:sp>
      <p:sp>
        <p:nvSpPr>
          <p:cNvPr id="258" name="PlaceHolder 1"/>
          <p:cNvSpPr>
            <a:spLocks noGrp="1"/>
          </p:cNvSpPr>
          <p:nvPr>
            <p:ph type="sldImg"/>
          </p:nvPr>
        </p:nvSpPr>
        <p:spPr>
          <a:xfrm>
            <a:off x="1143000" y="685800"/>
            <a:ext cx="4572000" cy="3429000"/>
          </a:xfrm>
          <a:prstGeom prst="rect">
            <a:avLst/>
          </a:prstGeom>
          <a:ln w="0">
            <a:noFill/>
          </a:ln>
        </p:spPr>
      </p:sp>
      <p:sp>
        <p:nvSpPr>
          <p:cNvPr id="25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it-IT" sz="1200" strike="noStrike" u="none">
              <a:solidFill>
                <a:srgbClr val="000000"/>
              </a:solidFill>
              <a:effectLst/>
              <a:uFillTx/>
              <a:latin typeface="Calibri"/>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1AF96DA-D5E8-472B-9404-5C4D3CC6E208}" type="slidenum">
              <a:rPr b="0" lang="en-US" sz="1200" strike="noStrike" u="none">
                <a:solidFill>
                  <a:srgbClr val="000000"/>
                </a:solidFill>
                <a:effectLst/>
                <a:uFillTx/>
                <a:latin typeface="Calibri"/>
              </a:rPr>
              <a:t>&lt;number&gt;</a:t>
            </a:fld>
            <a:endParaRPr b="0" lang="en-US" sz="1200" strike="noStrike" u="none">
              <a:solidFill>
                <a:srgbClr val="000000"/>
              </a:solidFill>
              <a:effectLst/>
              <a:uFillTx/>
              <a:latin typeface="Calibri"/>
            </a:endParaRPr>
          </a:p>
        </p:txBody>
      </p:sp>
      <p:sp>
        <p:nvSpPr>
          <p:cNvPr id="261" name="PlaceHolder 1"/>
          <p:cNvSpPr>
            <a:spLocks noGrp="1"/>
          </p:cNvSpPr>
          <p:nvPr>
            <p:ph type="sldImg"/>
          </p:nvPr>
        </p:nvSpPr>
        <p:spPr>
          <a:xfrm>
            <a:off x="1143000" y="685800"/>
            <a:ext cx="4572000" cy="3429000"/>
          </a:xfrm>
          <a:prstGeom prst="rect">
            <a:avLst/>
          </a:prstGeom>
          <a:ln w="0">
            <a:noFill/>
          </a:ln>
        </p:spPr>
      </p:sp>
      <p:sp>
        <p:nvSpPr>
          <p:cNvPr id="26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it-IT" sz="1200" strike="noStrike" u="none">
              <a:solidFill>
                <a:srgbClr val="000000"/>
              </a:solidFill>
              <a:effectLst/>
              <a:uFillTx/>
              <a:latin typeface="Calibri"/>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E0290E1-92FE-474B-A736-537301171AB0}" type="slidenum">
              <a:rPr b="0" lang="en-US" sz="1200" strike="noStrike" u="none">
                <a:solidFill>
                  <a:srgbClr val="000000"/>
                </a:solidFill>
                <a:effectLst/>
                <a:uFillTx/>
                <a:latin typeface="Calibri"/>
              </a:rPr>
              <a:t>&lt;number&gt;</a:t>
            </a:fld>
            <a:endParaRPr b="0" lang="en-US" sz="1200" strike="noStrike" u="none">
              <a:solidFill>
                <a:srgbClr val="000000"/>
              </a:solidFill>
              <a:effectLst/>
              <a:uFillTx/>
              <a:latin typeface="Calibri"/>
            </a:endParaRPr>
          </a:p>
        </p:txBody>
      </p:sp>
      <p:sp>
        <p:nvSpPr>
          <p:cNvPr id="264" name="PlaceHolder 1"/>
          <p:cNvSpPr>
            <a:spLocks noGrp="1"/>
          </p:cNvSpPr>
          <p:nvPr>
            <p:ph type="sldImg"/>
          </p:nvPr>
        </p:nvSpPr>
        <p:spPr>
          <a:xfrm>
            <a:off x="1143000" y="685800"/>
            <a:ext cx="4572000" cy="3429000"/>
          </a:xfrm>
          <a:prstGeom prst="rect">
            <a:avLst/>
          </a:prstGeom>
          <a:ln w="0">
            <a:noFill/>
          </a:ln>
        </p:spPr>
      </p:sp>
      <p:sp>
        <p:nvSpPr>
          <p:cNvPr id="26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it-IT" sz="1200" strike="noStrike" u="none">
              <a:solidFill>
                <a:srgbClr val="000000"/>
              </a:solidFill>
              <a:effectLst/>
              <a:uFillTx/>
              <a:latin typeface="Calibri"/>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F800BBE-7176-4990-80A8-D82521F0461F}"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Click to edit the title text format</a:t>
            </a:r>
            <a:endParaRPr b="0" lang="en-US" sz="4400" strike="noStrike" u="none">
              <a:solidFill>
                <a:srgbClr val="000000"/>
              </a:solidFill>
              <a:effectLst/>
              <a:uFillTx/>
              <a:latin typeface="Calibri"/>
            </a:endParaRPr>
          </a:p>
        </p:txBody>
      </p:sp>
      <p:sp>
        <p:nvSpPr>
          <p:cNvPr id="3"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Click to edit the outline text format</a:t>
            </a:r>
            <a:endParaRPr b="0" lang="en-US" sz="3200" strike="noStrike" u="none">
              <a:solidFill>
                <a:srgbClr val="000000"/>
              </a:solidFill>
              <a:effectLst/>
              <a:uFillTx/>
              <a:latin typeface="Calibri"/>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Second Outline Level</a:t>
            </a:r>
            <a:endParaRPr b="0" lang="en-US" sz="3200" strike="noStrike" u="none">
              <a:solidFill>
                <a:srgbClr val="000000"/>
              </a:solidFill>
              <a:effectLst/>
              <a:uFillTx/>
              <a:latin typeface="Calibri"/>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Third Outline Level</a:t>
            </a:r>
            <a:endParaRPr b="0" lang="en-US" sz="3200" strike="noStrike" u="none">
              <a:solidFill>
                <a:srgbClr val="000000"/>
              </a:solidFill>
              <a:effectLst/>
              <a:uFillTx/>
              <a:latin typeface="Calibri"/>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Fourth Outline Level</a:t>
            </a:r>
            <a:endParaRPr b="0" lang="en-US" sz="3200" strike="noStrike" u="none">
              <a:solidFill>
                <a:srgbClr val="000000"/>
              </a:solidFill>
              <a:effectLst/>
              <a:uFillTx/>
              <a:latin typeface="Calibri"/>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Fifth Outline Level</a:t>
            </a:r>
            <a:endParaRPr b="0" lang="en-US" sz="3200" strike="noStrike" u="none">
              <a:solidFill>
                <a:srgbClr val="000000"/>
              </a:solidFill>
              <a:effectLst/>
              <a:uFillTx/>
              <a:latin typeface="Calibri"/>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Sixth Outline Level</a:t>
            </a:r>
            <a:endParaRPr b="0" lang="en-US" sz="3200" strike="noStrike" u="none">
              <a:solidFill>
                <a:srgbClr val="000000"/>
              </a:solidFill>
              <a:effectLst/>
              <a:uFillTx/>
              <a:latin typeface="Calibri"/>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Seventh Outline Level</a:t>
            </a:r>
            <a:endParaRPr b="0" lang="en-US" sz="3200" strike="noStrike" u="none">
              <a:solidFill>
                <a:srgbClr val="000000"/>
              </a:solidFill>
              <a:effectLst/>
              <a:uFillTx/>
              <a:latin typeface="Calibri"/>
            </a:endParaRPr>
          </a:p>
        </p:txBody>
      </p:sp>
      <p:sp>
        <p:nvSpPr>
          <p:cNvPr id="4" name="PlaceHolder 3"/>
          <p:cNvSpPr>
            <a:spLocks noGrp="1"/>
          </p:cNvSpPr>
          <p:nvPr>
            <p:ph type="dt" idx="1"/>
          </p:nvPr>
        </p:nvSpPr>
        <p:spPr>
          <a:xfrm>
            <a:off x="456840" y="6356520"/>
            <a:ext cx="2133720" cy="365040"/>
          </a:xfrm>
          <a:prstGeom prst="rect">
            <a:avLst/>
          </a:prstGeom>
          <a:noFill/>
          <a:ln w="0">
            <a:noFill/>
          </a:ln>
        </p:spPr>
        <p:txBody>
          <a:bodyPr lIns="90000" rIns="90000" tIns="46800" bIns="46800" anchor="ctr">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898989"/>
                </a:solidFill>
                <a:effectLst/>
                <a:uFillTx/>
                <a:latin typeface="Calibri"/>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898989"/>
                </a:solidFill>
                <a:effectLst/>
                <a:uFillTx/>
                <a:latin typeface="Calibri"/>
              </a:rPr>
              <a:t>&lt;date/time&gt;</a:t>
            </a:r>
            <a:endParaRPr b="0" lang="en-US" sz="1200" strike="noStrike" u="none">
              <a:solidFill>
                <a:srgbClr val="000000"/>
              </a:solidFill>
              <a:effectLst/>
              <a:uFillTx/>
              <a:latin typeface="Calibri"/>
            </a:endParaRPr>
          </a:p>
        </p:txBody>
      </p:sp>
      <p:sp>
        <p:nvSpPr>
          <p:cNvPr id="5" name="PlaceHolder 4"/>
          <p:cNvSpPr>
            <a:spLocks noGrp="1"/>
          </p:cNvSpPr>
          <p:nvPr>
            <p:ph type="ftr" idx="2"/>
          </p:nvPr>
        </p:nvSpPr>
        <p:spPr>
          <a:xfrm>
            <a:off x="3124080" y="6356520"/>
            <a:ext cx="2895840" cy="36504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Calibri"/>
            </a:endParaRPr>
          </a:p>
        </p:txBody>
      </p:sp>
      <p:sp>
        <p:nvSpPr>
          <p:cNvPr id="6" name="PlaceHolder 5"/>
          <p:cNvSpPr>
            <a:spLocks noGrp="1"/>
          </p:cNvSpPr>
          <p:nvPr>
            <p:ph type="sldNum" idx="3"/>
          </p:nvPr>
        </p:nvSpPr>
        <p:spPr>
          <a:xfrm>
            <a:off x="6552720" y="6356520"/>
            <a:ext cx="2133720" cy="365040"/>
          </a:xfrm>
          <a:prstGeom prst="rect">
            <a:avLst/>
          </a:prstGeom>
          <a:noFill/>
          <a:ln w="0">
            <a:noFill/>
          </a:ln>
        </p:spPr>
        <p:txBody>
          <a:bodyPr lIns="90000" rIns="90000" tIns="46800" bIns="46800" anchor="ctr">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898989"/>
                </a:solidFill>
                <a:effectLst/>
                <a:uFillTx/>
                <a:latin typeface="Calibri"/>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D8BD34-0BFF-46DC-B170-B878EC636FD6}" type="slidenum">
              <a:rPr b="0" lang="en-US" sz="1200" strike="noStrike" u="none">
                <a:solidFill>
                  <a:srgbClr val="898989"/>
                </a:solidFill>
                <a:effectLst/>
                <a:uFillTx/>
                <a:latin typeface="Calibri"/>
              </a:rPr>
              <a:t>&lt;number&gt;</a:t>
            </a:fld>
            <a:endParaRPr b="0" lang="en-US" sz="1200" strike="noStrike" u="none">
              <a:solidFill>
                <a:srgbClr val="000000"/>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title"/>
          </p:nvPr>
        </p:nvSpPr>
        <p:spPr>
          <a:xfrm>
            <a:off x="714240" y="0"/>
            <a:ext cx="7772400" cy="9907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SQLHandler future plans</a:t>
            </a:r>
            <a:endParaRPr b="0" lang="en-US" sz="4400" strike="noStrike" u="none">
              <a:solidFill>
                <a:srgbClr val="000000"/>
              </a:solidFill>
              <a:effectLst/>
              <a:uFillTx/>
              <a:latin typeface="Calibri"/>
            </a:endParaRPr>
          </a:p>
        </p:txBody>
      </p:sp>
      <p:sp>
        <p:nvSpPr>
          <p:cNvPr id="15" name="TextBox 7"/>
          <p:cNvSpPr/>
          <p:nvPr/>
        </p:nvSpPr>
        <p:spPr>
          <a:xfrm>
            <a:off x="428760" y="1000080"/>
            <a:ext cx="8286480" cy="520920"/>
          </a:xfrm>
          <a:prstGeom prst="rect">
            <a:avLst/>
          </a:prstGeom>
          <a:solidFill>
            <a:srgbClr val="ffffff"/>
          </a:solidFill>
          <a:ln w="25560">
            <a:solidFill>
              <a:srgbClr val="4bacc6"/>
            </a:solidFill>
            <a:miter/>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2800" strike="noStrike" u="none">
                <a:solidFill>
                  <a:srgbClr val="000000"/>
                </a:solidFill>
                <a:effectLst/>
                <a:uFillTx/>
                <a:latin typeface="Calibri"/>
              </a:rPr>
              <a:t>Let’s see how to proceed into development</a:t>
            </a:r>
            <a:endParaRPr b="0" lang="en-US" sz="2800" strike="noStrike" u="none">
              <a:solidFill>
                <a:srgbClr val="000000"/>
              </a:solidFill>
              <a:effectLst/>
              <a:uFillTx/>
              <a:latin typeface="Calibri"/>
            </a:endParaRPr>
          </a:p>
        </p:txBody>
      </p:sp>
      <p:sp>
        <p:nvSpPr>
          <p:cNvPr id="16" name="TextBox 3"/>
          <p:cNvSpPr/>
          <p:nvPr/>
        </p:nvSpPr>
        <p:spPr>
          <a:xfrm>
            <a:off x="428760" y="3857760"/>
            <a:ext cx="8286480" cy="2014200"/>
          </a:xfrm>
          <a:prstGeom prst="rect">
            <a:avLst/>
          </a:prstGeom>
          <a:solidFill>
            <a:srgbClr val="4f81bd"/>
          </a:solidFill>
          <a:ln w="25560">
            <a:solidFill>
              <a:srgbClr val="385d8a"/>
            </a:solidFill>
            <a:miter/>
          </a:ln>
        </p:spPr>
        <p:style>
          <a:lnRef idx="0"/>
          <a:fillRef idx="0"/>
          <a:effectRef idx="0"/>
          <a:fontRef idx="minor"/>
        </p:style>
        <p:txBody>
          <a:bodyPr lIns="90000" rIns="90000" tIns="46800" bIns="46800" anchor="t">
            <a:spAutoFit/>
          </a:bodyPr>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Patrick West: (cache question)</a:t>
            </a:r>
            <a:endParaRPr b="0" lang="en-US" sz="18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Calibri"/>
              </a:rPr>
              <a:t>On that note, one of the new features we are working on is the ability to see if there is a cached response for any get x for def request, not just with the sql handler. A request comes in, the BES sees if a response for that request has already been built and is up to date (compared against the original data file perhaps) and returning the cached response if available, or going out and building a new response if not. Wondering if we might want to take advantage of that instead of building your own caching mechanism.</a:t>
            </a:r>
            <a:endParaRPr b="0" lang="en-US" sz="1800" strike="noStrike" u="none">
              <a:solidFill>
                <a:srgbClr val="000000"/>
              </a:solidFill>
              <a:effectLst/>
              <a:uFillTx/>
              <a:latin typeface="Calibri"/>
            </a:endParaRPr>
          </a:p>
        </p:txBody>
      </p:sp>
      <p:sp>
        <p:nvSpPr>
          <p:cNvPr id="17" name="Date Placeholder 4"/>
          <p:cNvSpPr/>
          <p:nvPr/>
        </p:nvSpPr>
        <p:spPr>
          <a:xfrm>
            <a:off x="457200" y="6356520"/>
            <a:ext cx="2133720" cy="365040"/>
          </a:xfrm>
          <a:prstGeom prst="rect">
            <a:avLst/>
          </a:prstGeom>
          <a:noFill/>
          <a:ln w="0">
            <a:noFill/>
          </a:ln>
        </p:spPr>
        <p:style>
          <a:lnRef idx="0"/>
          <a:fillRef idx="0"/>
          <a:effectRef idx="0"/>
          <a:fontRef idx="minor"/>
        </p:style>
        <p: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2A0284D-C1E9-46AD-AB00-CF12835931A9}" type="datetime">
              <a:rPr b="0" lang="en-US" sz="1200" strike="noStrike" u="none">
                <a:solidFill>
                  <a:srgbClr val="898989"/>
                </a:solidFill>
                <a:effectLst/>
                <a:uFillTx/>
                <a:latin typeface="Calibri"/>
              </a:rPr>
              <a:t>03/20/26</a:t>
            </a:fld>
            <a:endParaRPr b="0" lang="en-US" sz="1200" strike="noStrike" u="none">
              <a:solidFill>
                <a:srgbClr val="000000"/>
              </a:solidFill>
              <a:effectLst/>
              <a:uFillTx/>
              <a:latin typeface="Calibri"/>
            </a:endParaRPr>
          </a:p>
        </p:txBody>
      </p:sp>
      <p:sp>
        <p:nvSpPr>
          <p:cNvPr id="18" name="Slide Number Placeholder 5"/>
          <p:cNvSpPr/>
          <p:nvPr/>
        </p:nvSpPr>
        <p:spPr>
          <a:xfrm>
            <a:off x="6553080" y="6356520"/>
            <a:ext cx="2133720" cy="365040"/>
          </a:xfrm>
          <a:prstGeom prst="rect">
            <a:avLst/>
          </a:prstGeom>
          <a:noFill/>
          <a:ln w="0">
            <a:noFill/>
          </a:ln>
        </p:spPr>
        <p:style>
          <a:lnRef idx="0"/>
          <a:fillRef idx="0"/>
          <a:effectRef idx="0"/>
          <a:fontRef idx="minor"/>
        </p:style>
        <p: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5546FC8-31B0-4E4F-A461-B411B3E729AB}" type="slidenum">
              <a:rPr b="0" lang="it-IT" sz="1200" strike="noStrike" u="none">
                <a:solidFill>
                  <a:srgbClr val="898989"/>
                </a:solidFill>
                <a:effectLst/>
                <a:uFillTx/>
                <a:latin typeface="Calibri"/>
              </a:rPr>
              <a:t>&lt;number&gt;</a:t>
            </a:fld>
            <a:endParaRPr b="0" lang="en-US" sz="1200" strike="noStrike" u="none">
              <a:solidFill>
                <a:srgbClr val="000000"/>
              </a:solidFill>
              <a:effectLst/>
              <a:uFillTx/>
              <a:latin typeface="Calibri"/>
            </a:endParaRPr>
          </a:p>
        </p:txBody>
      </p:sp>
      <p:sp>
        <p:nvSpPr>
          <p:cNvPr id="19" name="Footer Placeholder 6"/>
          <p:cNvSpPr/>
          <p:nvPr/>
        </p:nvSpPr>
        <p:spPr>
          <a:xfrm>
            <a:off x="3124080" y="6356520"/>
            <a:ext cx="2895840" cy="36504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898989"/>
                </a:solidFill>
                <a:effectLst/>
                <a:uFillTx/>
                <a:latin typeface="Calibri"/>
              </a:rPr>
              <a:t>Author: Dr. Cancellieri Carlo</a:t>
            </a:r>
            <a:endParaRPr b="0" lang="en-US" sz="1200" strike="noStrike" u="none">
              <a:solidFill>
                <a:srgbClr val="000000"/>
              </a:solidFill>
              <a:effectLst/>
              <a:uFillTx/>
              <a:latin typeface="Calibri"/>
            </a:endParaRPr>
          </a:p>
        </p:txBody>
      </p:sp>
      <p:sp>
        <p:nvSpPr>
          <p:cNvPr id="20" name="TextBox 8"/>
          <p:cNvSpPr/>
          <p:nvPr/>
        </p:nvSpPr>
        <p:spPr>
          <a:xfrm>
            <a:off x="428760" y="1643040"/>
            <a:ext cx="8286480" cy="1496160"/>
          </a:xfrm>
          <a:prstGeom prst="rect">
            <a:avLst/>
          </a:prstGeom>
          <a:solidFill>
            <a:srgbClr val="4f81bd"/>
          </a:solidFill>
          <a:ln w="25560">
            <a:solidFill>
              <a:srgbClr val="385d8a"/>
            </a:solidFill>
            <a:miter/>
          </a:ln>
        </p:spPr>
        <p:style>
          <a:lnRef idx="0"/>
          <a:fillRef idx="0"/>
          <a:effectRef idx="0"/>
          <a:fontRef idx="minor"/>
        </p:style>
        <p:txBody>
          <a:bodyPr lIns="90000" rIns="90000" tIns="46800" bIns="46800" anchor="t">
            <a:spAutoFit/>
          </a:bodyPr>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Carlo Cancellieri</a:t>
            </a:r>
            <a:r>
              <a:rPr b="0" lang="en-US" sz="1800" strike="noStrike" u="none">
                <a:solidFill>
                  <a:srgbClr val="000000"/>
                </a:solidFill>
                <a:effectLst/>
                <a:uFillTx/>
                <a:latin typeface="Calibri"/>
              </a:rPr>
              <a:t>:</a:t>
            </a:r>
            <a:endParaRPr b="0" lang="en-US" sz="18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Calibri"/>
              </a:rPr>
              <a:t>To get a complete list of pending question, please, take a look to the doxygen generated documentation, section: TODO</a:t>
            </a:r>
            <a:endParaRPr b="0" lang="en-US" sz="18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Calibri"/>
              </a:rPr>
              <a:t>Still a lot of questions to discuss!</a:t>
            </a:r>
            <a:endParaRPr b="0" lang="en-US" sz="20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685800" y="0"/>
            <a:ext cx="7772400" cy="9907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SQLHandler design</a:t>
            </a:r>
            <a:endParaRPr b="0" lang="en-US" sz="4400" strike="noStrike" u="none">
              <a:solidFill>
                <a:srgbClr val="000000"/>
              </a:solidFill>
              <a:effectLst/>
              <a:uFillTx/>
              <a:latin typeface="Calibri"/>
            </a:endParaRPr>
          </a:p>
        </p:txBody>
      </p:sp>
      <p:sp>
        <p:nvSpPr>
          <p:cNvPr id="22" name="Rectangle 15"/>
          <p:cNvSpPr/>
          <p:nvPr/>
        </p:nvSpPr>
        <p:spPr>
          <a:xfrm>
            <a:off x="142920" y="1000080"/>
            <a:ext cx="8786880" cy="5572080"/>
          </a:xfrm>
          <a:prstGeom prst="rect">
            <a:avLst/>
          </a:prstGeom>
          <a:solidFill>
            <a:srgbClr val="ffffff"/>
          </a:solidFill>
          <a:ln w="25560">
            <a:solidFill>
              <a:srgbClr val="9bbb59"/>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Once called, each ‘</a:t>
            </a:r>
            <a:r>
              <a:rPr b="1" lang="en-US" sz="1600" strike="noStrike" u="none">
                <a:solidFill>
                  <a:srgbClr val="000000"/>
                </a:solidFill>
                <a:effectLst/>
                <a:uFillTx/>
                <a:latin typeface="Calibri"/>
              </a:rPr>
              <a:t>fill_xxx_func</a:t>
            </a:r>
            <a:r>
              <a:rPr b="0" lang="en-US" sz="1600" strike="noStrike" u="none">
                <a:solidFill>
                  <a:srgbClr val="000000"/>
                </a:solidFill>
                <a:effectLst/>
                <a:uFillTx/>
                <a:latin typeface="Calibri"/>
              </a:rPr>
              <a:t>’ of  the </a:t>
            </a:r>
            <a:r>
              <a:rPr b="1" lang="en-US" sz="1600" strike="noStrike" u="none">
                <a:solidFill>
                  <a:srgbClr val="000000"/>
                </a:solidFill>
                <a:effectLst/>
                <a:uFillTx/>
                <a:latin typeface="Calibri"/>
              </a:rPr>
              <a:t>SQLRequestHandler </a:t>
            </a:r>
            <a:r>
              <a:rPr b="0" lang="en-US" sz="1600" strike="noStrike" u="none">
                <a:solidFill>
                  <a:srgbClr val="000000"/>
                </a:solidFill>
                <a:effectLst/>
                <a:uFillTx/>
                <a:latin typeface="Calibri"/>
              </a:rPr>
              <a:t>which call the </a:t>
            </a:r>
            <a:r>
              <a:rPr b="1" lang="en-US" sz="1600" strike="noStrike" u="none">
                <a:solidFill>
                  <a:srgbClr val="000000"/>
                </a:solidFill>
                <a:effectLst/>
                <a:uFillTx/>
                <a:latin typeface="Calibri"/>
              </a:rPr>
              <a:t>SQLResponseHandler</a:t>
            </a:r>
            <a:r>
              <a:rPr b="0" lang="en-US" sz="1600" strike="noStrike" u="none">
                <a:solidFill>
                  <a:srgbClr val="000000"/>
                </a:solidFill>
                <a:effectLst/>
                <a:uFillTx/>
                <a:latin typeface="Calibri"/>
              </a:rPr>
              <a:t>.</a:t>
            </a:r>
            <a:endParaRPr b="0" lang="en-US" sz="16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This is the central point of the SQL Handler  from which decide what component should be activated.</a:t>
            </a:r>
            <a:endParaRPr b="0" lang="en-US" sz="1600" strike="noStrike" u="none">
              <a:solidFill>
                <a:srgbClr val="000000"/>
              </a:solidFill>
              <a:effectLst/>
              <a:uFillTx/>
              <a:latin typeface="Calibri"/>
            </a:endParaRPr>
          </a:p>
        </p:txBody>
      </p:sp>
      <p:sp>
        <p:nvSpPr>
          <p:cNvPr id="23" name="Rectangle 15"/>
          <p:cNvSpPr/>
          <p:nvPr/>
        </p:nvSpPr>
        <p:spPr>
          <a:xfrm>
            <a:off x="6000840" y="1857240"/>
            <a:ext cx="2428920" cy="10717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SQLContainer</a:t>
            </a:r>
            <a:endParaRPr b="0" lang="en-US" sz="18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Add to BESContainer methods</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to read DSN,API,</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constraints,from,where,…</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from a Draft 2 SQL dataset file.</a:t>
            </a:r>
            <a:endParaRPr b="0" lang="en-US" sz="1200" strike="noStrike" u="none">
              <a:solidFill>
                <a:srgbClr val="000000"/>
              </a:solidFill>
              <a:effectLst/>
              <a:uFillTx/>
              <a:latin typeface="Calibri"/>
            </a:endParaRPr>
          </a:p>
        </p:txBody>
      </p:sp>
      <p:sp>
        <p:nvSpPr>
          <p:cNvPr id="24" name="Rectangle 15"/>
          <p:cNvSpPr/>
          <p:nvPr/>
        </p:nvSpPr>
        <p:spPr>
          <a:xfrm>
            <a:off x="785880" y="3571920"/>
            <a:ext cx="2428920" cy="6429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SQLRequestHandler</a:t>
            </a:r>
            <a:endParaRPr b="0" lang="en-US" sz="18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Activate the Handler</a:t>
            </a:r>
            <a:endParaRPr b="0" lang="en-US" sz="1200" strike="noStrike" u="none">
              <a:solidFill>
                <a:srgbClr val="000000"/>
              </a:solidFill>
              <a:effectLst/>
              <a:uFillTx/>
              <a:latin typeface="Calibri"/>
            </a:endParaRPr>
          </a:p>
        </p:txBody>
      </p:sp>
      <p:sp>
        <p:nvSpPr>
          <p:cNvPr id="25" name="Rectangle 15"/>
          <p:cNvSpPr/>
          <p:nvPr/>
        </p:nvSpPr>
        <p:spPr>
          <a:xfrm>
            <a:off x="6000840" y="3429000"/>
            <a:ext cx="2419200" cy="9288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SQLCacheManager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Manage data storage (to DB and files)</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and retrieval from (db and files)</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a:t>
            </a:r>
            <a:r>
              <a:rPr b="1" lang="en-US" sz="1200" strike="noStrike" u="none">
                <a:solidFill>
                  <a:srgbClr val="000000"/>
                </a:solidFill>
                <a:effectLst/>
                <a:uFillTx/>
                <a:latin typeface="Calibri"/>
              </a:rPr>
              <a:t>cache</a:t>
            </a:r>
            <a:r>
              <a:rPr b="0" lang="en-US" sz="1200" strike="noStrike" u="none">
                <a:solidFill>
                  <a:srgbClr val="000000"/>
                </a:solidFill>
                <a:effectLst/>
                <a:uFillTx/>
                <a:latin typeface="Calibri"/>
              </a:rPr>
              <a:t>(SQLDefinition* definition)</a:t>
            </a:r>
            <a:endParaRPr b="0" lang="en-US" sz="1200" strike="noStrike" u="none">
              <a:solidFill>
                <a:srgbClr val="000000"/>
              </a:solidFill>
              <a:effectLst/>
              <a:uFillTx/>
              <a:latin typeface="Calibri"/>
            </a:endParaRPr>
          </a:p>
        </p:txBody>
      </p:sp>
      <p:sp>
        <p:nvSpPr>
          <p:cNvPr id="26" name="Rectangle 24"/>
          <p:cNvSpPr/>
          <p:nvPr/>
        </p:nvSpPr>
        <p:spPr>
          <a:xfrm>
            <a:off x="500040" y="1857240"/>
            <a:ext cx="2428920" cy="304920"/>
          </a:xfrm>
          <a:prstGeom prst="rect">
            <a:avLst/>
          </a:prstGeom>
          <a:solidFill>
            <a:srgbClr val="ffffff"/>
          </a:solidFill>
          <a:ln w="25560">
            <a:solidFill>
              <a:srgbClr val="4f81bd"/>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Get </a:t>
            </a:r>
            <a:r>
              <a:rPr b="0" lang="en-US" sz="1800" strike="noStrike" u="none">
                <a:solidFill>
                  <a:srgbClr val="ff0000"/>
                </a:solidFill>
                <a:effectLst/>
                <a:uFillTx/>
                <a:latin typeface="Calibri"/>
              </a:rPr>
              <a:t>XXX</a:t>
            </a:r>
            <a:r>
              <a:rPr b="0" lang="en-US" sz="1800" strike="noStrike" u="none">
                <a:solidFill>
                  <a:srgbClr val="000000"/>
                </a:solidFill>
                <a:effectLst/>
                <a:uFillTx/>
                <a:latin typeface="Calibri"/>
              </a:rPr>
              <a:t> for </a:t>
            </a:r>
            <a:r>
              <a:rPr b="0" lang="en-US" sz="1800" strike="noStrike" u="none">
                <a:solidFill>
                  <a:srgbClr val="ff0000"/>
                </a:solidFill>
                <a:effectLst/>
                <a:uFillTx/>
                <a:latin typeface="Calibri"/>
              </a:rPr>
              <a:t>DEFINITION</a:t>
            </a:r>
            <a:endParaRPr b="0" lang="en-US" sz="1800" strike="noStrike" u="none">
              <a:solidFill>
                <a:srgbClr val="000000"/>
              </a:solidFill>
              <a:effectLst/>
              <a:uFillTx/>
              <a:latin typeface="Calibri"/>
            </a:endParaRPr>
          </a:p>
        </p:txBody>
      </p:sp>
      <p:grpSp>
        <p:nvGrpSpPr>
          <p:cNvPr id="27" name="Group 47"/>
          <p:cNvGrpSpPr/>
          <p:nvPr/>
        </p:nvGrpSpPr>
        <p:grpSpPr>
          <a:xfrm>
            <a:off x="556920" y="2161800"/>
            <a:ext cx="1157760" cy="1732320"/>
            <a:chOff x="556920" y="2161800"/>
            <a:chExt cx="1157760" cy="1732320"/>
          </a:xfrm>
        </p:grpSpPr>
        <p:cxnSp>
          <p:nvCxnSpPr>
            <p:cNvPr id="28" name="Shape 24"/>
            <p:cNvCxnSpPr>
              <a:stCxn id="26" idx="2"/>
              <a:endCxn id="24" idx="1"/>
            </p:cNvCxnSpPr>
            <p:nvPr/>
          </p:nvCxnSpPr>
          <p:spPr>
            <a:xfrm rot="5400000">
              <a:off x="383760" y="2563560"/>
              <a:ext cx="1732680" cy="929520"/>
            </a:xfrm>
            <a:prstGeom prst="bentConnector4">
              <a:avLst>
                <a:gd name="adj1" fmla="val 40710"/>
                <a:gd name="adj2" fmla="val 124602"/>
              </a:avLst>
            </a:prstGeom>
            <a:ln w="25560">
              <a:solidFill>
                <a:srgbClr val="c0504d"/>
              </a:solidFill>
              <a:miter/>
              <a:tailEnd len="med" type="arrow" w="med"/>
            </a:ln>
          </p:spPr>
        </p:cxnSp>
        <p:sp>
          <p:nvSpPr>
            <p:cNvPr id="29" name="TextBox 41"/>
            <p:cNvSpPr/>
            <p:nvPr/>
          </p:nvSpPr>
          <p:spPr>
            <a:xfrm>
              <a:off x="1071720" y="2571480"/>
              <a:ext cx="6429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c0504d"/>
                  </a:solidFill>
                  <a:effectLst/>
                  <a:uFillTx/>
                  <a:latin typeface="Calibri"/>
                </a:rPr>
                <a:t>CALL</a:t>
              </a:r>
              <a:endParaRPr b="0" lang="en-US" sz="1200" strike="noStrike" u="none">
                <a:solidFill>
                  <a:srgbClr val="000000"/>
                </a:solidFill>
                <a:effectLst/>
                <a:uFillTx/>
                <a:latin typeface="Calibri"/>
              </a:endParaRPr>
            </a:p>
          </p:txBody>
        </p:sp>
      </p:grpSp>
      <p:grpSp>
        <p:nvGrpSpPr>
          <p:cNvPr id="30" name="Group 49"/>
          <p:cNvGrpSpPr/>
          <p:nvPr/>
        </p:nvGrpSpPr>
        <p:grpSpPr>
          <a:xfrm>
            <a:off x="3214440" y="2928600"/>
            <a:ext cx="4000680" cy="1348920"/>
            <a:chOff x="3214440" y="2928600"/>
            <a:chExt cx="4000680" cy="1348920"/>
          </a:xfrm>
        </p:grpSpPr>
        <p:sp>
          <p:nvSpPr>
            <p:cNvPr id="31" name="TextBox 50"/>
            <p:cNvSpPr/>
            <p:nvPr/>
          </p:nvSpPr>
          <p:spPr>
            <a:xfrm>
              <a:off x="4214880" y="4000680"/>
              <a:ext cx="8571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9bbb59"/>
                  </a:solidFill>
                  <a:effectLst/>
                  <a:uFillTx/>
                  <a:latin typeface="Calibri"/>
                </a:rPr>
                <a:t>RETURN</a:t>
              </a:r>
              <a:endParaRPr b="0" lang="en-US" sz="1200" strike="noStrike" u="none">
                <a:solidFill>
                  <a:srgbClr val="000000"/>
                </a:solidFill>
                <a:effectLst/>
                <a:uFillTx/>
                <a:latin typeface="Calibri"/>
              </a:endParaRPr>
            </a:p>
          </p:txBody>
        </p:sp>
        <p:cxnSp>
          <p:nvCxnSpPr>
            <p:cNvPr id="32" name="Shape 51"/>
            <p:cNvCxnSpPr>
              <a:stCxn id="23" idx="2"/>
              <a:endCxn id="24" idx="3"/>
            </p:cNvCxnSpPr>
            <p:nvPr/>
          </p:nvCxnSpPr>
          <p:spPr>
            <a:xfrm rot="5400000">
              <a:off x="4732560" y="1410480"/>
              <a:ext cx="964440" cy="4001040"/>
            </a:xfrm>
            <a:prstGeom prst="bentConnector2">
              <a:avLst/>
            </a:prstGeom>
            <a:ln w="25560">
              <a:solidFill>
                <a:srgbClr val="9bbb59"/>
              </a:solidFill>
              <a:miter/>
              <a:tailEnd len="med" type="arrow" w="med"/>
            </a:ln>
          </p:spPr>
        </p:cxnSp>
      </p:grpSp>
      <p:grpSp>
        <p:nvGrpSpPr>
          <p:cNvPr id="33" name="Group 55"/>
          <p:cNvGrpSpPr/>
          <p:nvPr/>
        </p:nvGrpSpPr>
        <p:grpSpPr>
          <a:xfrm>
            <a:off x="1999080" y="2143080"/>
            <a:ext cx="4001040" cy="1428480"/>
            <a:chOff x="1999080" y="2143080"/>
            <a:chExt cx="4001040" cy="1428480"/>
          </a:xfrm>
        </p:grpSpPr>
        <p:grpSp>
          <p:nvGrpSpPr>
            <p:cNvPr id="34" name="Group 48"/>
            <p:cNvGrpSpPr/>
            <p:nvPr/>
          </p:nvGrpSpPr>
          <p:grpSpPr>
            <a:xfrm>
              <a:off x="1999080" y="2387160"/>
              <a:ext cx="4001040" cy="1184400"/>
              <a:chOff x="1999080" y="2387160"/>
              <a:chExt cx="4001040" cy="1184400"/>
            </a:xfrm>
          </p:grpSpPr>
          <p:cxnSp>
            <p:nvCxnSpPr>
              <p:cNvPr id="35" name="Shape 33"/>
              <p:cNvCxnSpPr>
                <a:stCxn id="24" idx="0"/>
                <a:endCxn id="23" idx="1"/>
              </p:cNvCxnSpPr>
              <p:nvPr/>
            </p:nvCxnSpPr>
            <p:spPr>
              <a:xfrm flipH="1" flipV="1" rot="5400000">
                <a:off x="3410280" y="981720"/>
                <a:ext cx="1179000" cy="4001400"/>
              </a:xfrm>
              <a:prstGeom prst="bentConnector2">
                <a:avLst/>
              </a:prstGeom>
              <a:ln w="25560">
                <a:solidFill>
                  <a:srgbClr val="c0504d"/>
                </a:solidFill>
                <a:miter/>
                <a:tailEnd len="med" type="arrow" w="med"/>
              </a:ln>
            </p:spPr>
          </p:cxnSp>
          <p:sp>
            <p:nvSpPr>
              <p:cNvPr id="36" name="TextBox 37"/>
              <p:cNvSpPr/>
              <p:nvPr/>
            </p:nvSpPr>
            <p:spPr>
              <a:xfrm>
                <a:off x="2786040" y="2387160"/>
                <a:ext cx="221472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000000"/>
                    </a:solidFill>
                    <a:effectLst/>
                    <a:uFillTx/>
                    <a:latin typeface="Calibri"/>
                  </a:rPr>
                  <a:t>Extract from DATASET.sql</a:t>
                </a:r>
                <a:endParaRPr b="0" lang="en-US" sz="1200" strike="noStrike" u="none">
                  <a:solidFill>
                    <a:srgbClr val="000000"/>
                  </a:solidFill>
                  <a:effectLst/>
                  <a:uFillTx/>
                  <a:latin typeface="Calibri"/>
                </a:endParaRPr>
              </a:p>
            </p:txBody>
          </p:sp>
        </p:grpSp>
        <p:sp>
          <p:nvSpPr>
            <p:cNvPr id="37" name="TextBox 54"/>
            <p:cNvSpPr/>
            <p:nvPr/>
          </p:nvSpPr>
          <p:spPr>
            <a:xfrm>
              <a:off x="3571920" y="2143080"/>
              <a:ext cx="6429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c0504d"/>
                  </a:solidFill>
                  <a:effectLst/>
                  <a:uFillTx/>
                  <a:latin typeface="Calibri"/>
                </a:rPr>
                <a:t>CALL</a:t>
              </a:r>
              <a:endParaRPr b="0" lang="en-US" sz="1200" strike="noStrike" u="none">
                <a:solidFill>
                  <a:srgbClr val="000000"/>
                </a:solidFill>
                <a:effectLst/>
                <a:uFillTx/>
                <a:latin typeface="Calibri"/>
              </a:endParaRPr>
            </a:p>
          </p:txBody>
        </p:sp>
      </p:grpSp>
      <p:sp>
        <p:nvSpPr>
          <p:cNvPr id="38" name="Rectangle 15"/>
          <p:cNvSpPr/>
          <p:nvPr/>
        </p:nvSpPr>
        <p:spPr>
          <a:xfrm>
            <a:off x="5857920" y="5429160"/>
            <a:ext cx="2714760" cy="9288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SQLDefinitionStorage</a:t>
            </a:r>
            <a:endParaRPr b="0" lang="en-US" sz="18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Store/retrieve definitions  as SQL VIEW </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into/from referred (by each definition) DB</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a:t>
            </a:r>
            <a:r>
              <a:rPr b="1" lang="en-US" sz="1200" strike="noStrike" u="none">
                <a:solidFill>
                  <a:srgbClr val="000000"/>
                </a:solidFill>
                <a:effectLst/>
                <a:uFillTx/>
                <a:latin typeface="Calibri"/>
              </a:rPr>
              <a:t>check</a:t>
            </a:r>
            <a:r>
              <a:rPr b="0" lang="en-US" sz="1200" strike="noStrike" u="none">
                <a:solidFill>
                  <a:srgbClr val="000000"/>
                </a:solidFill>
                <a:effectLst/>
                <a:uFillTx/>
                <a:latin typeface="Calibri"/>
              </a:rPr>
              <a:t>( const string &amp; name)</a:t>
            </a:r>
            <a:endParaRPr b="0" lang="en-US" sz="1200" strike="noStrike" u="none">
              <a:solidFill>
                <a:srgbClr val="000000"/>
              </a:solidFill>
              <a:effectLst/>
              <a:uFillTx/>
              <a:latin typeface="Calibri"/>
            </a:endParaRPr>
          </a:p>
        </p:txBody>
      </p:sp>
      <p:grpSp>
        <p:nvGrpSpPr>
          <p:cNvPr id="39" name="Group 61"/>
          <p:cNvGrpSpPr/>
          <p:nvPr/>
        </p:nvGrpSpPr>
        <p:grpSpPr>
          <a:xfrm>
            <a:off x="1999080" y="3000240"/>
            <a:ext cx="6859080" cy="571320"/>
            <a:chOff x="1999080" y="3000240"/>
            <a:chExt cx="6859080" cy="571320"/>
          </a:xfrm>
        </p:grpSpPr>
        <p:grpSp>
          <p:nvGrpSpPr>
            <p:cNvPr id="40" name="Group 48"/>
            <p:cNvGrpSpPr/>
            <p:nvPr/>
          </p:nvGrpSpPr>
          <p:grpSpPr>
            <a:xfrm>
              <a:off x="1999080" y="3000240"/>
              <a:ext cx="6859080" cy="571320"/>
              <a:chOff x="1999080" y="3000240"/>
              <a:chExt cx="6859080" cy="571320"/>
            </a:xfrm>
          </p:grpSpPr>
          <p:cxnSp>
            <p:nvCxnSpPr>
              <p:cNvPr id="41" name="Shape 64"/>
              <p:cNvCxnSpPr>
                <a:stCxn id="24" idx="0"/>
                <a:endCxn id="25" idx="0"/>
              </p:cNvCxnSpPr>
              <p:nvPr/>
            </p:nvCxnSpPr>
            <p:spPr>
              <a:xfrm flipH="1" flipV="1" rot="5400000">
                <a:off x="4532760" y="894600"/>
                <a:ext cx="143640" cy="5211000"/>
              </a:xfrm>
              <a:prstGeom prst="bentConnector3">
                <a:avLst>
                  <a:gd name="adj1" fmla="val 259798"/>
                </a:avLst>
              </a:prstGeom>
              <a:ln w="25560">
                <a:solidFill>
                  <a:srgbClr val="c0504d"/>
                </a:solidFill>
                <a:miter/>
                <a:tailEnd len="med" type="arrow" w="med"/>
              </a:ln>
            </p:spPr>
          </p:cxnSp>
          <p:sp>
            <p:nvSpPr>
              <p:cNvPr id="42" name="TextBox 65"/>
              <p:cNvSpPr/>
              <p:nvPr/>
            </p:nvSpPr>
            <p:spPr>
              <a:xfrm>
                <a:off x="7215120" y="3000240"/>
                <a:ext cx="1643040" cy="4597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000000"/>
                    </a:solidFill>
                    <a:effectLst/>
                    <a:uFillTx/>
                    <a:latin typeface="Calibri"/>
                  </a:rPr>
                  <a:t>Check for</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000000"/>
                    </a:solidFill>
                    <a:effectLst/>
                    <a:uFillTx/>
                    <a:latin typeface="Calibri"/>
                  </a:rPr>
                  <a:t>cached information</a:t>
                </a:r>
                <a:endParaRPr b="0" lang="en-US" sz="1200" strike="noStrike" u="none">
                  <a:solidFill>
                    <a:srgbClr val="000000"/>
                  </a:solidFill>
                  <a:effectLst/>
                  <a:uFillTx/>
                  <a:latin typeface="Calibri"/>
                </a:endParaRPr>
              </a:p>
            </p:txBody>
          </p:sp>
        </p:grpSp>
        <p:sp>
          <p:nvSpPr>
            <p:cNvPr id="43" name="TextBox 63"/>
            <p:cNvSpPr/>
            <p:nvPr/>
          </p:nvSpPr>
          <p:spPr>
            <a:xfrm>
              <a:off x="6000840" y="3214440"/>
              <a:ext cx="6429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c0504d"/>
                  </a:solidFill>
                  <a:effectLst/>
                  <a:uFillTx/>
                  <a:latin typeface="Calibri"/>
                </a:rPr>
                <a:t>CALL</a:t>
              </a:r>
              <a:endParaRPr b="0" lang="en-US" sz="1200" strike="noStrike" u="none">
                <a:solidFill>
                  <a:srgbClr val="000000"/>
                </a:solidFill>
                <a:effectLst/>
                <a:uFillTx/>
                <a:latin typeface="Calibri"/>
              </a:endParaRPr>
            </a:p>
          </p:txBody>
        </p:sp>
      </p:grpSp>
      <p:grpSp>
        <p:nvGrpSpPr>
          <p:cNvPr id="44" name="Group 72"/>
          <p:cNvGrpSpPr/>
          <p:nvPr/>
        </p:nvGrpSpPr>
        <p:grpSpPr>
          <a:xfrm>
            <a:off x="5629320" y="3893760"/>
            <a:ext cx="1085760" cy="2000520"/>
            <a:chOff x="5629320" y="3893760"/>
            <a:chExt cx="1085760" cy="2000520"/>
          </a:xfrm>
        </p:grpSpPr>
        <p:sp>
          <p:nvSpPr>
            <p:cNvPr id="45" name="TextBox 73"/>
            <p:cNvSpPr/>
            <p:nvPr/>
          </p:nvSpPr>
          <p:spPr>
            <a:xfrm>
              <a:off x="5857920" y="4645080"/>
              <a:ext cx="8571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9bbb59"/>
                  </a:solidFill>
                  <a:effectLst/>
                  <a:uFillTx/>
                  <a:latin typeface="Calibri"/>
                </a:rPr>
                <a:t>RETURN</a:t>
              </a:r>
              <a:endParaRPr b="0" lang="en-US" sz="1200" strike="noStrike" u="none">
                <a:solidFill>
                  <a:srgbClr val="000000"/>
                </a:solidFill>
                <a:effectLst/>
                <a:uFillTx/>
                <a:latin typeface="Calibri"/>
              </a:endParaRPr>
            </a:p>
          </p:txBody>
        </p:sp>
        <p:cxnSp>
          <p:nvCxnSpPr>
            <p:cNvPr id="46" name="Shape 74"/>
            <p:cNvCxnSpPr>
              <a:stCxn id="38" idx="1"/>
              <a:endCxn id="25" idx="1"/>
            </p:cNvCxnSpPr>
            <p:nvPr/>
          </p:nvCxnSpPr>
          <p:spPr>
            <a:xfrm flipH="1" rot="10800000">
              <a:off x="5857560" y="3893400"/>
              <a:ext cx="143280" cy="2000880"/>
            </a:xfrm>
            <a:prstGeom prst="bentConnector3">
              <a:avLst>
                <a:gd name="adj1" fmla="val -159949"/>
              </a:avLst>
            </a:prstGeom>
            <a:ln w="25560">
              <a:solidFill>
                <a:srgbClr val="9bbb59"/>
              </a:solidFill>
              <a:miter/>
              <a:tailEnd len="med" type="arrow" w="med"/>
            </a:ln>
          </p:spPr>
        </p:cxnSp>
      </p:grpSp>
      <p:grpSp>
        <p:nvGrpSpPr>
          <p:cNvPr id="47" name="Group 81"/>
          <p:cNvGrpSpPr/>
          <p:nvPr/>
        </p:nvGrpSpPr>
        <p:grpSpPr>
          <a:xfrm>
            <a:off x="6572160" y="3894120"/>
            <a:ext cx="2214720" cy="1535400"/>
            <a:chOff x="6572160" y="3894120"/>
            <a:chExt cx="2214720" cy="1535400"/>
          </a:xfrm>
        </p:grpSpPr>
        <p:grpSp>
          <p:nvGrpSpPr>
            <p:cNvPr id="48" name="Group 48"/>
            <p:cNvGrpSpPr/>
            <p:nvPr/>
          </p:nvGrpSpPr>
          <p:grpSpPr>
            <a:xfrm>
              <a:off x="6572160" y="3894120"/>
              <a:ext cx="2214720" cy="1535400"/>
              <a:chOff x="6572160" y="3894120"/>
              <a:chExt cx="2214720" cy="1535400"/>
            </a:xfrm>
          </p:grpSpPr>
          <p:cxnSp>
            <p:nvCxnSpPr>
              <p:cNvPr id="49" name="Shape 84"/>
              <p:cNvCxnSpPr>
                <a:stCxn id="25" idx="3"/>
                <a:endCxn id="38" idx="0"/>
              </p:cNvCxnSpPr>
              <p:nvPr/>
            </p:nvCxnSpPr>
            <p:spPr>
              <a:xfrm flipH="1">
                <a:off x="7214400" y="3894120"/>
                <a:ext cx="1205640" cy="1535760"/>
              </a:xfrm>
              <a:prstGeom prst="bentConnector4">
                <a:avLst>
                  <a:gd name="adj1" fmla="val -18966"/>
                  <a:gd name="adj2" fmla="val 65111"/>
                </a:avLst>
              </a:prstGeom>
              <a:ln w="25560">
                <a:solidFill>
                  <a:srgbClr val="c0504d"/>
                </a:solidFill>
                <a:miter/>
                <a:tailEnd len="med" type="arrow" w="med"/>
              </a:ln>
            </p:spPr>
          </p:cxnSp>
          <p:sp>
            <p:nvSpPr>
              <p:cNvPr id="50" name="TextBox 85"/>
              <p:cNvSpPr/>
              <p:nvPr/>
            </p:nvSpPr>
            <p:spPr>
              <a:xfrm>
                <a:off x="6572160" y="4429440"/>
                <a:ext cx="2214720" cy="4597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000000"/>
                    </a:solidFill>
                    <a:effectLst/>
                    <a:uFillTx/>
                    <a:latin typeface="Calibri"/>
                  </a:rPr>
                  <a:t>Check for stored information on cached data</a:t>
                </a:r>
                <a:endParaRPr b="0" lang="en-US" sz="1200" strike="noStrike" u="none">
                  <a:solidFill>
                    <a:srgbClr val="000000"/>
                  </a:solidFill>
                  <a:effectLst/>
                  <a:uFillTx/>
                  <a:latin typeface="Calibri"/>
                </a:endParaRPr>
              </a:p>
            </p:txBody>
          </p:sp>
        </p:grpSp>
        <p:sp>
          <p:nvSpPr>
            <p:cNvPr id="51" name="TextBox 83"/>
            <p:cNvSpPr/>
            <p:nvPr/>
          </p:nvSpPr>
          <p:spPr>
            <a:xfrm>
              <a:off x="7286400" y="4929120"/>
              <a:ext cx="6429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c0504d"/>
                  </a:solidFill>
                  <a:effectLst/>
                  <a:uFillTx/>
                  <a:latin typeface="Calibri"/>
                </a:rPr>
                <a:t>CALL</a:t>
              </a:r>
              <a:endParaRPr b="0" lang="en-US" sz="1200" strike="noStrike" u="none">
                <a:solidFill>
                  <a:srgbClr val="000000"/>
                </a:solidFill>
                <a:effectLst/>
                <a:uFillTx/>
                <a:latin typeface="Calibri"/>
              </a:endParaRPr>
            </a:p>
          </p:txBody>
        </p:sp>
      </p:grpSp>
      <p:grpSp>
        <p:nvGrpSpPr>
          <p:cNvPr id="52" name="Group 112"/>
          <p:cNvGrpSpPr/>
          <p:nvPr/>
        </p:nvGrpSpPr>
        <p:grpSpPr>
          <a:xfrm>
            <a:off x="571680" y="5072040"/>
            <a:ext cx="4929120" cy="1285920"/>
            <a:chOff x="571680" y="5072040"/>
            <a:chExt cx="4929120" cy="1285920"/>
          </a:xfrm>
        </p:grpSpPr>
        <p:sp>
          <p:nvSpPr>
            <p:cNvPr id="53" name="Rectangle 15"/>
            <p:cNvSpPr/>
            <p:nvPr/>
          </p:nvSpPr>
          <p:spPr>
            <a:xfrm>
              <a:off x="571680" y="5072040"/>
              <a:ext cx="4929120" cy="12859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SQLPlugin</a:t>
              </a:r>
              <a:endParaRPr b="0" lang="en-US" sz="18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alibri"/>
                </a:rPr>
                <a:t>Define the interface for expansions Sub-Plugins</a:t>
              </a:r>
              <a:endParaRPr b="0" lang="en-US" sz="14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Calibri"/>
                </a:rPr>
                <a:t>NAME</a:t>
              </a:r>
              <a:r>
                <a:rPr b="0" lang="en-US" sz="1200" strike="noStrike" u="none">
                  <a:solidFill>
                    <a:srgbClr val="000000"/>
                  </a:solidFill>
                  <a:effectLst/>
                  <a:uFillTx/>
                  <a:latin typeface="Calibri"/>
                </a:rPr>
                <a:t> -&gt; Is the name assigned to the sub-Plugin (must be different from SQL)</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Calibri"/>
              </a:endParaRPr>
            </a:p>
          </p:txBody>
        </p:sp>
        <p:sp>
          <p:nvSpPr>
            <p:cNvPr id="54" name="Rectangle 15"/>
            <p:cNvSpPr/>
            <p:nvPr/>
          </p:nvSpPr>
          <p:spPr>
            <a:xfrm>
              <a:off x="642960" y="5929200"/>
              <a:ext cx="1500120" cy="3571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SQLTypeFactory</a:t>
              </a:r>
              <a:endParaRPr b="0" lang="en-US" sz="1800" strike="noStrike" u="none">
                <a:solidFill>
                  <a:srgbClr val="000000"/>
                </a:solidFill>
                <a:effectLst/>
                <a:uFillTx/>
                <a:latin typeface="Calibri"/>
              </a:endParaRPr>
            </a:p>
          </p:txBody>
        </p:sp>
        <p:sp>
          <p:nvSpPr>
            <p:cNvPr id="55" name="Rectangle 15"/>
            <p:cNvSpPr/>
            <p:nvPr/>
          </p:nvSpPr>
          <p:spPr>
            <a:xfrm>
              <a:off x="4000680" y="5929200"/>
              <a:ext cx="1428480" cy="3571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SQLConnector</a:t>
              </a:r>
              <a:endParaRPr b="0" lang="en-US" sz="1800" strike="noStrike" u="none">
                <a:solidFill>
                  <a:srgbClr val="000000"/>
                </a:solidFill>
                <a:effectLst/>
                <a:uFillTx/>
                <a:latin typeface="Calibri"/>
              </a:endParaRPr>
            </a:p>
          </p:txBody>
        </p:sp>
        <p:sp>
          <p:nvSpPr>
            <p:cNvPr id="56" name="Rectangle 15"/>
            <p:cNvSpPr/>
            <p:nvPr/>
          </p:nvSpPr>
          <p:spPr>
            <a:xfrm>
              <a:off x="2286000" y="5929200"/>
              <a:ext cx="1571400" cy="3571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SQLError</a:t>
              </a:r>
              <a:endParaRPr b="0" lang="en-US" sz="1800" strike="noStrike" u="none">
                <a:solidFill>
                  <a:srgbClr val="000000"/>
                </a:solidFill>
                <a:effectLst/>
                <a:uFillTx/>
                <a:latin typeface="Calibri"/>
              </a:endParaRPr>
            </a:p>
          </p:txBody>
        </p:sp>
      </p:grpSp>
      <p:cxnSp>
        <p:nvCxnSpPr>
          <p:cNvPr id="57" name="Shape 74"/>
          <p:cNvCxnSpPr>
            <a:stCxn id="25" idx="1"/>
            <a:endCxn id="24" idx="3"/>
          </p:cNvCxnSpPr>
          <p:nvPr/>
        </p:nvCxnSpPr>
        <p:spPr>
          <a:xfrm rot="10800000">
            <a:off x="3214080" y="3893400"/>
            <a:ext cx="2786760" cy="2160"/>
          </a:xfrm>
          <a:prstGeom prst="bentConnector3">
            <a:avLst>
              <a:gd name="adj1" fmla="val 45310"/>
            </a:avLst>
          </a:prstGeom>
          <a:ln w="25560">
            <a:solidFill>
              <a:srgbClr val="9bbb59"/>
            </a:solidFill>
            <a:miter/>
            <a:tailEnd len="med" type="arrow" w="med"/>
          </a:ln>
        </p:spPr>
      </p:cxnSp>
      <p:sp>
        <p:nvSpPr>
          <p:cNvPr id="58" name="TextBox 95"/>
          <p:cNvSpPr/>
          <p:nvPr/>
        </p:nvSpPr>
        <p:spPr>
          <a:xfrm>
            <a:off x="857160" y="4714920"/>
            <a:ext cx="2071800" cy="276840"/>
          </a:xfrm>
          <a:prstGeom prst="rect">
            <a:avLst/>
          </a:prstGeom>
          <a:solidFill>
            <a:srgbClr val="c0504d"/>
          </a:solidFill>
          <a:ln w="25560">
            <a:solidFill>
              <a:srgbClr val="8c3836"/>
            </a:solidFill>
            <a:miter/>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ffffff"/>
                </a:solidFill>
                <a:effectLst/>
                <a:uFillTx/>
                <a:latin typeface="Calibri"/>
              </a:rPr>
              <a:t>Null</a:t>
            </a:r>
            <a:r>
              <a:rPr b="0" lang="it-IT" sz="1200" strike="noStrike" u="none">
                <a:solidFill>
                  <a:srgbClr val="ffffff"/>
                </a:solidFill>
                <a:effectLst/>
                <a:uFillTx/>
                <a:latin typeface="Calibri"/>
              </a:rPr>
              <a:t> -&gt; No data cached</a:t>
            </a:r>
            <a:endParaRPr b="0" lang="en-US" sz="1200" strike="noStrike" u="none">
              <a:solidFill>
                <a:srgbClr val="000000"/>
              </a:solidFill>
              <a:effectLst/>
              <a:uFillTx/>
              <a:latin typeface="Calibri"/>
            </a:endParaRPr>
          </a:p>
        </p:txBody>
      </p:sp>
      <p:sp>
        <p:nvSpPr>
          <p:cNvPr id="59" name="TextBox 103"/>
          <p:cNvSpPr/>
          <p:nvPr/>
        </p:nvSpPr>
        <p:spPr>
          <a:xfrm>
            <a:off x="3429000" y="3357720"/>
            <a:ext cx="2071800" cy="459720"/>
          </a:xfrm>
          <a:prstGeom prst="rect">
            <a:avLst/>
          </a:prstGeom>
          <a:solidFill>
            <a:srgbClr val="9bbb59"/>
          </a:solidFill>
          <a:ln w="25560">
            <a:solidFill>
              <a:srgbClr val="71893f"/>
            </a:solidFill>
            <a:miter/>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ffffff"/>
                </a:solidFill>
                <a:effectLst/>
                <a:uFillTx/>
                <a:latin typeface="Calibri"/>
              </a:rPr>
              <a:t>If return is a </a:t>
            </a:r>
            <a:r>
              <a:rPr b="1" lang="it-IT" sz="1200" strike="noStrike" u="none">
                <a:solidFill>
                  <a:srgbClr val="ffffff"/>
                </a:solidFill>
                <a:effectLst/>
                <a:uFillTx/>
                <a:latin typeface="Calibri"/>
              </a:rPr>
              <a:t>NotNull</a:t>
            </a:r>
            <a:r>
              <a:rPr b="0" lang="it-IT" sz="1200" strike="noStrike" u="none">
                <a:solidFill>
                  <a:srgbClr val="ffffff"/>
                </a:solidFill>
                <a:effectLst/>
                <a:uFillTx/>
                <a:latin typeface="Calibri"/>
              </a:rPr>
              <a:t>  </a:t>
            </a:r>
            <a:r>
              <a:rPr b="1" lang="it-IT" sz="1200" strike="noStrike" u="none">
                <a:solidFill>
                  <a:srgbClr val="ffffff"/>
                </a:solidFill>
                <a:effectLst/>
                <a:uFillTx/>
                <a:latin typeface="Calibri"/>
              </a:rPr>
              <a:t>BESResponseObject </a:t>
            </a:r>
            <a:r>
              <a:rPr b="0" lang="it-IT" sz="1200" strike="noStrike" u="none">
                <a:solidFill>
                  <a:srgbClr val="ffffff"/>
                </a:solidFill>
                <a:effectLst/>
                <a:uFillTx/>
                <a:latin typeface="Calibri"/>
              </a:rPr>
              <a:t>with data</a:t>
            </a:r>
            <a:endParaRPr b="0" lang="en-US" sz="1200" strike="noStrike" u="none">
              <a:solidFill>
                <a:srgbClr val="000000"/>
              </a:solidFill>
              <a:effectLst/>
              <a:uFillTx/>
              <a:latin typeface="Calibri"/>
            </a:endParaRPr>
          </a:p>
        </p:txBody>
      </p:sp>
      <p:grpSp>
        <p:nvGrpSpPr>
          <p:cNvPr id="60" name="Group 105"/>
          <p:cNvGrpSpPr/>
          <p:nvPr/>
        </p:nvGrpSpPr>
        <p:grpSpPr>
          <a:xfrm>
            <a:off x="1999080" y="4214880"/>
            <a:ext cx="3430080" cy="857880"/>
            <a:chOff x="1999080" y="4214880"/>
            <a:chExt cx="3430080" cy="857880"/>
          </a:xfrm>
        </p:grpSpPr>
        <p:grpSp>
          <p:nvGrpSpPr>
            <p:cNvPr id="61" name="Group 48"/>
            <p:cNvGrpSpPr/>
            <p:nvPr/>
          </p:nvGrpSpPr>
          <p:grpSpPr>
            <a:xfrm>
              <a:off x="1999080" y="4214880"/>
              <a:ext cx="3430080" cy="857880"/>
              <a:chOff x="1999080" y="4214880"/>
              <a:chExt cx="3430080" cy="857880"/>
            </a:xfrm>
          </p:grpSpPr>
          <p:cxnSp>
            <p:nvCxnSpPr>
              <p:cNvPr id="62" name="Shape 108"/>
              <p:cNvCxnSpPr>
                <a:stCxn id="24" idx="2"/>
                <a:endCxn id="53" idx="0"/>
              </p:cNvCxnSpPr>
              <p:nvPr/>
            </p:nvCxnSpPr>
            <p:spPr>
              <a:xfrm flipH="1" rot="16200000">
                <a:off x="2088000" y="4125960"/>
                <a:ext cx="858240" cy="1035720"/>
              </a:xfrm>
              <a:prstGeom prst="bentConnector3">
                <a:avLst>
                  <a:gd name="adj1" fmla="val 49979"/>
                </a:avLst>
              </a:prstGeom>
              <a:ln w="25560">
                <a:solidFill>
                  <a:srgbClr val="c0504d"/>
                </a:solidFill>
                <a:miter/>
                <a:tailEnd len="med" type="arrow" w="med"/>
              </a:ln>
            </p:spPr>
          </p:cxnSp>
          <p:sp>
            <p:nvSpPr>
              <p:cNvPr id="63" name="TextBox 109"/>
              <p:cNvSpPr/>
              <p:nvPr/>
            </p:nvSpPr>
            <p:spPr>
              <a:xfrm>
                <a:off x="3143160" y="4425480"/>
                <a:ext cx="2286000" cy="64260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000000"/>
                    </a:solidFill>
                    <a:effectLst/>
                    <a:uFillTx/>
                    <a:latin typeface="Calibri"/>
                  </a:rPr>
                  <a:t>The referenced API plugin driver will be called using info extracted into the SQLContainer</a:t>
                </a:r>
                <a:endParaRPr b="0" lang="en-US" sz="1200" strike="noStrike" u="none">
                  <a:solidFill>
                    <a:srgbClr val="000000"/>
                  </a:solidFill>
                  <a:effectLst/>
                  <a:uFillTx/>
                  <a:latin typeface="Calibri"/>
                </a:endParaRPr>
              </a:p>
            </p:txBody>
          </p:sp>
        </p:grpSp>
        <p:sp>
          <p:nvSpPr>
            <p:cNvPr id="64" name="TextBox 107"/>
            <p:cNvSpPr/>
            <p:nvPr/>
          </p:nvSpPr>
          <p:spPr>
            <a:xfrm>
              <a:off x="2357280" y="4286160"/>
              <a:ext cx="6429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c0504d"/>
                  </a:solidFill>
                  <a:effectLst/>
                  <a:uFillTx/>
                  <a:latin typeface="Calibri"/>
                </a:rPr>
                <a:t>CALL</a:t>
              </a:r>
              <a:endParaRPr b="0" lang="en-US" sz="1200" strike="noStrike" u="none">
                <a:solidFill>
                  <a:srgbClr val="000000"/>
                </a:solidFill>
                <a:effectLst/>
                <a:uFillTx/>
                <a:latin typeface="Calibri"/>
              </a:endParaRPr>
            </a:p>
          </p:txBody>
        </p:sp>
      </p:grpSp>
      <p:grpSp>
        <p:nvGrpSpPr>
          <p:cNvPr id="65" name="Group 119"/>
          <p:cNvGrpSpPr/>
          <p:nvPr/>
        </p:nvGrpSpPr>
        <p:grpSpPr>
          <a:xfrm>
            <a:off x="1999800" y="2820240"/>
            <a:ext cx="3729600" cy="2894400"/>
            <a:chOff x="1999800" y="2820240"/>
            <a:chExt cx="3729600" cy="2894400"/>
          </a:xfrm>
        </p:grpSpPr>
        <p:sp>
          <p:nvSpPr>
            <p:cNvPr id="66" name="TextBox 120"/>
            <p:cNvSpPr/>
            <p:nvPr/>
          </p:nvSpPr>
          <p:spPr>
            <a:xfrm>
              <a:off x="3214440" y="4010040"/>
              <a:ext cx="8571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9bbb59"/>
                  </a:solidFill>
                  <a:effectLst/>
                  <a:uFillTx/>
                  <a:latin typeface="Calibri"/>
                </a:rPr>
                <a:t>RETURN</a:t>
              </a:r>
              <a:endParaRPr b="0" lang="en-US" sz="1200" strike="noStrike" u="none">
                <a:solidFill>
                  <a:srgbClr val="000000"/>
                </a:solidFill>
                <a:effectLst/>
                <a:uFillTx/>
                <a:latin typeface="Calibri"/>
              </a:endParaRPr>
            </a:p>
          </p:txBody>
        </p:sp>
        <p:cxnSp>
          <p:nvCxnSpPr>
            <p:cNvPr id="67" name="Shape 121"/>
            <p:cNvCxnSpPr>
              <a:stCxn id="53" idx="3"/>
              <a:endCxn id="24" idx="0"/>
            </p:cNvCxnSpPr>
            <p:nvPr/>
          </p:nvCxnSpPr>
          <p:spPr>
            <a:xfrm flipH="1" flipV="1">
              <a:off x="1999800" y="3571200"/>
              <a:ext cx="3501360" cy="2143800"/>
            </a:xfrm>
            <a:prstGeom prst="bentConnector4">
              <a:avLst>
                <a:gd name="adj1" fmla="val -6529"/>
                <a:gd name="adj2" fmla="val 135035"/>
              </a:avLst>
            </a:prstGeom>
            <a:ln w="25560">
              <a:solidFill>
                <a:srgbClr val="9bbb59"/>
              </a:solidFill>
              <a:miter/>
              <a:tailEnd len="med" type="arrow" w="med"/>
            </a:ln>
          </p:spPr>
        </p:cxnSp>
      </p:grpSp>
      <p:grpSp>
        <p:nvGrpSpPr>
          <p:cNvPr id="68" name="Group 124"/>
          <p:cNvGrpSpPr/>
          <p:nvPr/>
        </p:nvGrpSpPr>
        <p:grpSpPr>
          <a:xfrm>
            <a:off x="270720" y="2009160"/>
            <a:ext cx="1729080" cy="2696760"/>
            <a:chOff x="270720" y="2009160"/>
            <a:chExt cx="1729080" cy="2696760"/>
          </a:xfrm>
        </p:grpSpPr>
        <p:sp>
          <p:nvSpPr>
            <p:cNvPr id="69" name="TextBox 125"/>
            <p:cNvSpPr/>
            <p:nvPr/>
          </p:nvSpPr>
          <p:spPr>
            <a:xfrm>
              <a:off x="285840" y="4429080"/>
              <a:ext cx="8571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9bbb59"/>
                  </a:solidFill>
                  <a:effectLst/>
                  <a:uFillTx/>
                  <a:latin typeface="Calibri"/>
                </a:rPr>
                <a:t>RETURN</a:t>
              </a:r>
              <a:endParaRPr b="0" lang="en-US" sz="1200" strike="noStrike" u="none">
                <a:solidFill>
                  <a:srgbClr val="000000"/>
                </a:solidFill>
                <a:effectLst/>
                <a:uFillTx/>
                <a:latin typeface="Calibri"/>
              </a:endParaRPr>
            </a:p>
          </p:txBody>
        </p:sp>
        <p:cxnSp>
          <p:nvCxnSpPr>
            <p:cNvPr id="70" name="Shape 126"/>
            <p:cNvCxnSpPr>
              <a:stCxn id="24" idx="2"/>
              <a:endCxn id="26" idx="1"/>
            </p:cNvCxnSpPr>
            <p:nvPr/>
          </p:nvCxnSpPr>
          <p:spPr>
            <a:xfrm flipV="1" rot="16200000">
              <a:off x="146880" y="2361600"/>
              <a:ext cx="2205720" cy="1500840"/>
            </a:xfrm>
            <a:prstGeom prst="bentConnector4">
              <a:avLst>
                <a:gd name="adj1" fmla="val -10365"/>
                <a:gd name="adj2" fmla="val 115235"/>
              </a:avLst>
            </a:prstGeom>
            <a:ln w="25560">
              <a:solidFill>
                <a:srgbClr val="9bbb59"/>
              </a:solidFill>
              <a:miter/>
              <a:tailEnd len="med" type="arrow" w="med"/>
            </a:ln>
          </p:spPr>
        </p:cxnSp>
      </p:grpSp>
      <p:sp>
        <p:nvSpPr>
          <p:cNvPr id="71" name="Date Placeholder 52"/>
          <p:cNvSpPr/>
          <p:nvPr/>
        </p:nvSpPr>
        <p:spPr>
          <a:xfrm>
            <a:off x="457200" y="6356520"/>
            <a:ext cx="2133720" cy="365040"/>
          </a:xfrm>
          <a:prstGeom prst="rect">
            <a:avLst/>
          </a:prstGeom>
          <a:noFill/>
          <a:ln w="0">
            <a:noFill/>
          </a:ln>
        </p:spPr>
        <p:style>
          <a:lnRef idx="0"/>
          <a:fillRef idx="0"/>
          <a:effectRef idx="0"/>
          <a:fontRef idx="minor"/>
        </p:style>
        <p: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7239144-252F-4352-AD91-752F6C290C41}" type="datetime">
              <a:rPr b="0" lang="en-US" sz="1200" strike="noStrike" u="none">
                <a:solidFill>
                  <a:srgbClr val="898989"/>
                </a:solidFill>
                <a:effectLst/>
                <a:uFillTx/>
                <a:latin typeface="Calibri"/>
              </a:rPr>
              <a:t>03/20/26</a:t>
            </a:fld>
            <a:endParaRPr b="0" lang="en-US" sz="1200" strike="noStrike" u="none">
              <a:solidFill>
                <a:srgbClr val="000000"/>
              </a:solidFill>
              <a:effectLst/>
              <a:uFillTx/>
              <a:latin typeface="Calibri"/>
            </a:endParaRPr>
          </a:p>
        </p:txBody>
      </p:sp>
      <p:sp>
        <p:nvSpPr>
          <p:cNvPr id="72" name="Slide Number Placeholder 53"/>
          <p:cNvSpPr/>
          <p:nvPr/>
        </p:nvSpPr>
        <p:spPr>
          <a:xfrm>
            <a:off x="6553080" y="6356520"/>
            <a:ext cx="2133720" cy="365040"/>
          </a:xfrm>
          <a:prstGeom prst="rect">
            <a:avLst/>
          </a:prstGeom>
          <a:noFill/>
          <a:ln w="0">
            <a:noFill/>
          </a:ln>
        </p:spPr>
        <p:style>
          <a:lnRef idx="0"/>
          <a:fillRef idx="0"/>
          <a:effectRef idx="0"/>
          <a:fontRef idx="minor"/>
        </p:style>
        <p: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01CE97F-B400-4DB8-93A3-BE29D363CF25}" type="slidenum">
              <a:rPr b="0" lang="it-IT" sz="1200" strike="noStrike" u="none">
                <a:solidFill>
                  <a:srgbClr val="898989"/>
                </a:solidFill>
                <a:effectLst/>
                <a:uFillTx/>
                <a:latin typeface="Calibri"/>
              </a:rPr>
              <a:t>&lt;number&gt;</a:t>
            </a:fld>
            <a:endParaRPr b="0" lang="en-US" sz="1200" strike="noStrike" u="none">
              <a:solidFill>
                <a:srgbClr val="000000"/>
              </a:solidFill>
              <a:effectLst/>
              <a:uFillTx/>
              <a:latin typeface="Calibri"/>
            </a:endParaRPr>
          </a:p>
        </p:txBody>
      </p:sp>
      <p:sp>
        <p:nvSpPr>
          <p:cNvPr id="73" name="Footer Placeholder 55"/>
          <p:cNvSpPr/>
          <p:nvPr/>
        </p:nvSpPr>
        <p:spPr>
          <a:xfrm>
            <a:off x="3124080" y="6356520"/>
            <a:ext cx="2895840" cy="36504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898989"/>
                </a:solidFill>
                <a:effectLst/>
                <a:uFillTx/>
                <a:latin typeface="Calibri"/>
              </a:rPr>
              <a:t>Author: Dr. Cancellieri Carlo</a:t>
            </a:r>
            <a:endParaRPr b="0" lang="en-US" sz="12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27"/>
                                        </p:tgtEl>
                                        <p:attrNameLst>
                                          <p:attrName>style.visibility</p:attrName>
                                        </p:attrNameLst>
                                      </p:cBhvr>
                                      <p:to>
                                        <p:strVal val="visible"/>
                                      </p:to>
                                    </p:set>
                                    <p:animEffect filter="fade" transition="in">
                                      <p:cBhvr additive="repl">
                                        <p:cTn id="7" dur="2000"/>
                                        <p:tgtEl>
                                          <p:spTgt spid="27"/>
                                        </p:tgtEl>
                                      </p:cBhvr>
                                    </p:animEffect>
                                  </p:childTnLst>
                                </p:cTn>
                              </p:par>
                              <p:par>
                                <p:cTn id="8" nodeType="withEffect" fill="hold" presetClass="entr" presetID="10">
                                  <p:stCondLst>
                                    <p:cond delay="0"/>
                                  </p:stCondLst>
                                  <p:childTnLst>
                                    <p:set>
                                      <p:cBhvr>
                                        <p:cTn id="9" dur="1" fill="hold">
                                          <p:stCondLst>
                                            <p:cond delay="0"/>
                                          </p:stCondLst>
                                        </p:cTn>
                                        <p:tgtEl>
                                          <p:spTgt spid="24"/>
                                        </p:tgtEl>
                                        <p:attrNameLst>
                                          <p:attrName>style.visibility</p:attrName>
                                        </p:attrNameLst>
                                      </p:cBhvr>
                                      <p:to>
                                        <p:strVal val="visible"/>
                                      </p:to>
                                    </p:set>
                                    <p:animEffect filter="fade" transition="in">
                                      <p:cBhvr additive="repl">
                                        <p:cTn id="10" dur="20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0">
                                  <p:stCondLst>
                                    <p:cond delay="0"/>
                                  </p:stCondLst>
                                  <p:childTnLst>
                                    <p:set>
                                      <p:cBhvr>
                                        <p:cTn id="14" dur="1" fill="hold">
                                          <p:stCondLst>
                                            <p:cond delay="0"/>
                                          </p:stCondLst>
                                        </p:cTn>
                                        <p:tgtEl>
                                          <p:spTgt spid="33"/>
                                        </p:tgtEl>
                                        <p:attrNameLst>
                                          <p:attrName>style.visibility</p:attrName>
                                        </p:attrNameLst>
                                      </p:cBhvr>
                                      <p:to>
                                        <p:strVal val="visible"/>
                                      </p:to>
                                    </p:set>
                                    <p:animEffect filter="fade" transition="in">
                                      <p:cBhvr additive="repl">
                                        <p:cTn id="15" dur="2000"/>
                                        <p:tgtEl>
                                          <p:spTgt spid="33"/>
                                        </p:tgtEl>
                                      </p:cBhvr>
                                    </p:animEffect>
                                  </p:childTnLst>
                                </p:cTn>
                              </p:par>
                              <p:par>
                                <p:cTn id="16" nodeType="withEffect" fill="hold" presetClass="entr" presetID="10">
                                  <p:stCondLst>
                                    <p:cond delay="0"/>
                                  </p:stCondLst>
                                  <p:childTnLst>
                                    <p:set>
                                      <p:cBhvr>
                                        <p:cTn id="17" dur="1" fill="hold">
                                          <p:stCondLst>
                                            <p:cond delay="0"/>
                                          </p:stCondLst>
                                        </p:cTn>
                                        <p:tgtEl>
                                          <p:spTgt spid="23"/>
                                        </p:tgtEl>
                                        <p:attrNameLst>
                                          <p:attrName>style.visibility</p:attrName>
                                        </p:attrNameLst>
                                      </p:cBhvr>
                                      <p:to>
                                        <p:strVal val="visible"/>
                                      </p:to>
                                    </p:set>
                                    <p:animEffect filter="fade" transition="in">
                                      <p:cBhvr additive="repl">
                                        <p:cTn id="18" dur="20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0">
                                  <p:stCondLst>
                                    <p:cond delay="0"/>
                                  </p:stCondLst>
                                  <p:childTnLst>
                                    <p:set>
                                      <p:cBhvr>
                                        <p:cTn id="22" dur="1" fill="hold">
                                          <p:stCondLst>
                                            <p:cond delay="0"/>
                                          </p:stCondLst>
                                        </p:cTn>
                                        <p:tgtEl>
                                          <p:spTgt spid="30"/>
                                        </p:tgtEl>
                                        <p:attrNameLst>
                                          <p:attrName>style.visibility</p:attrName>
                                        </p:attrNameLst>
                                      </p:cBhvr>
                                      <p:to>
                                        <p:strVal val="visible"/>
                                      </p:to>
                                    </p:set>
                                    <p:animEffect filter="fade" transition="in">
                                      <p:cBhvr additive="repl">
                                        <p:cTn id="23" dur="20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nodeType="clickEffect" fill="hold" presetClass="exit" presetID="10">
                                  <p:stCondLst>
                                    <p:cond delay="0"/>
                                  </p:stCondLst>
                                  <p:childTnLst>
                                    <p:animEffect filter="fade" transition="out">
                                      <p:cBhvr additive="repl">
                                        <p:cTn id="27" dur="2000"/>
                                        <p:tgtEl>
                                          <p:spTgt spid="30"/>
                                        </p:tgtEl>
                                      </p:cBhvr>
                                    </p:animEffect>
                                    <p:set>
                                      <p:cBhvr>
                                        <p:cTn id="28" dur="1" fill="hold">
                                          <p:stCondLst>
                                            <p:cond delay="1999"/>
                                          </p:stCondLst>
                                        </p:cTn>
                                        <p:tgtEl>
                                          <p:spTgt spid="30"/>
                                        </p:tgtEl>
                                        <p:attrNameLst>
                                          <p:attrName>style.visibility</p:attrName>
                                        </p:attrNameLst>
                                      </p:cBhvr>
                                      <p:to>
                                        <p:strVal val="hidden"/>
                                      </p:to>
                                    </p:set>
                                  </p:childTnLst>
                                </p:cTn>
                              </p:par>
                              <p:par>
                                <p:cTn id="29" nodeType="withEffect" fill="hold" presetClass="exit" presetID="10">
                                  <p:stCondLst>
                                    <p:cond delay="0"/>
                                  </p:stCondLst>
                                  <p:childTnLst>
                                    <p:animEffect filter="fade" transition="out">
                                      <p:cBhvr additive="repl">
                                        <p:cTn id="30" dur="2000"/>
                                        <p:tgtEl>
                                          <p:spTgt spid="33"/>
                                        </p:tgtEl>
                                      </p:cBhvr>
                                    </p:animEffect>
                                    <p:set>
                                      <p:cBhvr>
                                        <p:cTn id="31" dur="1" fill="hold">
                                          <p:stCondLst>
                                            <p:cond delay="1999"/>
                                          </p:stCondLst>
                                        </p:cTn>
                                        <p:tgtEl>
                                          <p:spTgt spid="33"/>
                                        </p:tgtEl>
                                        <p:attrNameLst>
                                          <p:attrName>style.visibility</p:attrName>
                                        </p:attrNameLst>
                                      </p:cBhvr>
                                      <p:to>
                                        <p:strVal val="hidden"/>
                                      </p:to>
                                    </p:set>
                                  </p:childTnLst>
                                </p:cTn>
                              </p:par>
                            </p:childTnLst>
                          </p:cTn>
                        </p:par>
                        <p:par>
                          <p:cTn id="32" fill="hold">
                            <p:stCondLst>
                              <p:cond delay="2000"/>
                            </p:stCondLst>
                            <p:childTnLst>
                              <p:par>
                                <p:cTn id="33" nodeType="afterEffect" fill="hold" presetClass="entr" presetID="10">
                                  <p:stCondLst>
                                    <p:cond delay="0"/>
                                  </p:stCondLst>
                                  <p:childTnLst>
                                    <p:set>
                                      <p:cBhvr>
                                        <p:cTn id="34" dur="1" fill="hold">
                                          <p:stCondLst>
                                            <p:cond delay="0"/>
                                          </p:stCondLst>
                                        </p:cTn>
                                        <p:tgtEl>
                                          <p:spTgt spid="39"/>
                                        </p:tgtEl>
                                        <p:attrNameLst>
                                          <p:attrName>style.visibility</p:attrName>
                                        </p:attrNameLst>
                                      </p:cBhvr>
                                      <p:to>
                                        <p:strVal val="visible"/>
                                      </p:to>
                                    </p:set>
                                    <p:animEffect filter="fade" transition="in">
                                      <p:cBhvr additive="repl">
                                        <p:cTn id="35" dur="2000"/>
                                        <p:tgtEl>
                                          <p:spTgt spid="39"/>
                                        </p:tgtEl>
                                      </p:cBhvr>
                                    </p:animEffect>
                                  </p:childTnLst>
                                </p:cTn>
                              </p:par>
                              <p:par>
                                <p:cTn id="36" nodeType="withEffect" fill="hold" presetClass="entr" presetID="10">
                                  <p:stCondLst>
                                    <p:cond delay="0"/>
                                  </p:stCondLst>
                                  <p:childTnLst>
                                    <p:set>
                                      <p:cBhvr>
                                        <p:cTn id="37" dur="1" fill="hold">
                                          <p:stCondLst>
                                            <p:cond delay="0"/>
                                          </p:stCondLst>
                                        </p:cTn>
                                        <p:tgtEl>
                                          <p:spTgt spid="25"/>
                                        </p:tgtEl>
                                        <p:attrNameLst>
                                          <p:attrName>style.visibility</p:attrName>
                                        </p:attrNameLst>
                                      </p:cBhvr>
                                      <p:to>
                                        <p:strVal val="visible"/>
                                      </p:to>
                                    </p:set>
                                    <p:animEffect filter="fade" transition="in">
                                      <p:cBhvr additive="repl">
                                        <p:cTn id="38" dur="2000"/>
                                        <p:tgtEl>
                                          <p:spTgt spid="25"/>
                                        </p:tgtEl>
                                      </p:cBhvr>
                                    </p:animEffect>
                                  </p:childTnLst>
                                </p:cTn>
                              </p:par>
                            </p:childTnLst>
                          </p:cTn>
                        </p:par>
                        <p:par>
                          <p:cTn id="39" fill="hold">
                            <p:stCondLst>
                              <p:cond delay="4000"/>
                            </p:stCondLst>
                            <p:childTnLst>
                              <p:par>
                                <p:cTn id="40" nodeType="afterEffect" fill="hold" presetClass="entr" presetID="10">
                                  <p:stCondLst>
                                    <p:cond delay="0"/>
                                  </p:stCondLst>
                                  <p:childTnLst>
                                    <p:set>
                                      <p:cBhvr>
                                        <p:cTn id="41" dur="1" fill="hold">
                                          <p:stCondLst>
                                            <p:cond delay="0"/>
                                          </p:stCondLst>
                                        </p:cTn>
                                        <p:tgtEl>
                                          <p:spTgt spid="47"/>
                                        </p:tgtEl>
                                        <p:attrNameLst>
                                          <p:attrName>style.visibility</p:attrName>
                                        </p:attrNameLst>
                                      </p:cBhvr>
                                      <p:to>
                                        <p:strVal val="visible"/>
                                      </p:to>
                                    </p:set>
                                    <p:animEffect filter="fade" transition="in">
                                      <p:cBhvr additive="repl">
                                        <p:cTn id="42" dur="2000"/>
                                        <p:tgtEl>
                                          <p:spTgt spid="47"/>
                                        </p:tgtEl>
                                      </p:cBhvr>
                                    </p:animEffect>
                                  </p:childTnLst>
                                </p:cTn>
                              </p:par>
                              <p:par>
                                <p:cTn id="43" nodeType="withEffect" fill="hold" presetClass="entr" presetID="10">
                                  <p:stCondLst>
                                    <p:cond delay="0"/>
                                  </p:stCondLst>
                                  <p:childTnLst>
                                    <p:set>
                                      <p:cBhvr>
                                        <p:cTn id="44" dur="1" fill="hold">
                                          <p:stCondLst>
                                            <p:cond delay="0"/>
                                          </p:stCondLst>
                                        </p:cTn>
                                        <p:tgtEl>
                                          <p:spTgt spid="38"/>
                                        </p:tgtEl>
                                        <p:attrNameLst>
                                          <p:attrName>style.visibility</p:attrName>
                                        </p:attrNameLst>
                                      </p:cBhvr>
                                      <p:to>
                                        <p:strVal val="visible"/>
                                      </p:to>
                                    </p:set>
                                    <p:animEffect filter="fade" transition="in">
                                      <p:cBhvr additive="repl">
                                        <p:cTn id="45" dur="2000"/>
                                        <p:tgtEl>
                                          <p:spTgt spid="38"/>
                                        </p:tgtEl>
                                      </p:cBhvr>
                                    </p:animEffect>
                                  </p:childTnLst>
                                </p:cTn>
                              </p:par>
                              <p:par>
                                <p:cTn id="46" nodeType="withEffect" fill="hold" presetClass="entr" presetID="10">
                                  <p:stCondLst>
                                    <p:cond delay="0"/>
                                  </p:stCondLst>
                                  <p:childTnLst>
                                    <p:set>
                                      <p:cBhvr>
                                        <p:cTn id="47" dur="1" fill="hold">
                                          <p:stCondLst>
                                            <p:cond delay="0"/>
                                          </p:stCondLst>
                                        </p:cTn>
                                        <p:tgtEl>
                                          <p:spTgt spid="44"/>
                                        </p:tgtEl>
                                        <p:attrNameLst>
                                          <p:attrName>style.visibility</p:attrName>
                                        </p:attrNameLst>
                                      </p:cBhvr>
                                      <p:to>
                                        <p:strVal val="visible"/>
                                      </p:to>
                                    </p:set>
                                    <p:animEffect filter="fade" transition="in">
                                      <p:cBhvr additive="repl">
                                        <p:cTn id="48" dur="2000"/>
                                        <p:tgtEl>
                                          <p:spTgt spid="44"/>
                                        </p:tgtEl>
                                      </p:cBhvr>
                                    </p:animEffect>
                                  </p:childTnLst>
                                </p:cTn>
                              </p:par>
                            </p:childTnLst>
                          </p:cTn>
                        </p:par>
                        <p:par>
                          <p:cTn id="49" fill="hold">
                            <p:stCondLst>
                              <p:cond delay="6000"/>
                            </p:stCondLst>
                            <p:childTnLst>
                              <p:par>
                                <p:cTn id="50" nodeType="afterEffect" fill="hold" presetClass="entr" presetID="10">
                                  <p:stCondLst>
                                    <p:cond delay="0"/>
                                  </p:stCondLst>
                                  <p:childTnLst>
                                    <p:set>
                                      <p:cBhvr>
                                        <p:cTn id="51" dur="1" fill="hold">
                                          <p:stCondLst>
                                            <p:cond delay="0"/>
                                          </p:stCondLst>
                                        </p:cTn>
                                        <p:tgtEl>
                                          <p:spTgt spid="57"/>
                                        </p:tgtEl>
                                        <p:attrNameLst>
                                          <p:attrName>style.visibility</p:attrName>
                                        </p:attrNameLst>
                                      </p:cBhvr>
                                      <p:to>
                                        <p:strVal val="visible"/>
                                      </p:to>
                                    </p:set>
                                    <p:animEffect filter="fade" transition="in">
                                      <p:cBhvr additive="repl">
                                        <p:cTn id="52" dur="2000"/>
                                        <p:tgtEl>
                                          <p:spTgt spid="57"/>
                                        </p:tgtEl>
                                      </p:cBhvr>
                                    </p:animEffect>
                                  </p:childTnLst>
                                </p:cTn>
                              </p:par>
                              <p:par>
                                <p:cTn id="53" nodeType="withEffect" fill="hold" presetClass="entr" presetID="10">
                                  <p:stCondLst>
                                    <p:cond delay="0"/>
                                  </p:stCondLst>
                                  <p:childTnLst>
                                    <p:set>
                                      <p:cBhvr>
                                        <p:cTn id="54" dur="1" fill="hold">
                                          <p:stCondLst>
                                            <p:cond delay="0"/>
                                          </p:stCondLst>
                                        </p:cTn>
                                        <p:tgtEl>
                                          <p:spTgt spid="59"/>
                                        </p:tgtEl>
                                        <p:attrNameLst>
                                          <p:attrName>style.visibility</p:attrName>
                                        </p:attrNameLst>
                                      </p:cBhvr>
                                      <p:to>
                                        <p:strVal val="visible"/>
                                      </p:to>
                                    </p:set>
                                    <p:animEffect filter="fade" transition="in">
                                      <p:cBhvr additive="repl">
                                        <p:cTn id="55" dur="2000"/>
                                        <p:tgtEl>
                                          <p:spTgt spid="59"/>
                                        </p:tgtEl>
                                      </p:cBhvr>
                                    </p:animEffect>
                                  </p:childTnLst>
                                </p:cTn>
                              </p:par>
                              <p:par>
                                <p:cTn id="56" nodeType="withEffect" fill="hold" presetClass="entr" presetID="10">
                                  <p:stCondLst>
                                    <p:cond delay="0"/>
                                  </p:stCondLst>
                                  <p:childTnLst>
                                    <p:set>
                                      <p:cBhvr>
                                        <p:cTn id="57" dur="1" fill="hold">
                                          <p:stCondLst>
                                            <p:cond delay="0"/>
                                          </p:stCondLst>
                                        </p:cTn>
                                        <p:tgtEl>
                                          <p:spTgt spid="68"/>
                                        </p:tgtEl>
                                        <p:attrNameLst>
                                          <p:attrName>style.visibility</p:attrName>
                                        </p:attrNameLst>
                                      </p:cBhvr>
                                      <p:to>
                                        <p:strVal val="visible"/>
                                      </p:to>
                                    </p:set>
                                    <p:animEffect filter="fade" transition="in">
                                      <p:cBhvr additive="repl">
                                        <p:cTn id="58" dur="2000"/>
                                        <p:tgtEl>
                                          <p:spTgt spid="68"/>
                                        </p:tgtEl>
                                      </p:cBhvr>
                                    </p:animEffect>
                                  </p:childTnLst>
                                </p:cTn>
                              </p:par>
                            </p:childTnLst>
                          </p:cTn>
                        </p:par>
                      </p:childTnLst>
                    </p:cTn>
                  </p:par>
                  <p:par>
                    <p:cTn id="59" fill="hold">
                      <p:stCondLst>
                        <p:cond delay="indefinite"/>
                      </p:stCondLst>
                      <p:childTnLst>
                        <p:par>
                          <p:cTn id="60" fill="hold">
                            <p:stCondLst>
                              <p:cond delay="0"/>
                            </p:stCondLst>
                            <p:childTnLst>
                              <p:par>
                                <p:cTn id="61" nodeType="clickEffect" fill="hold" presetClass="exit" presetID="10">
                                  <p:stCondLst>
                                    <p:cond delay="0"/>
                                  </p:stCondLst>
                                  <p:childTnLst>
                                    <p:animEffect filter="fade" transition="out">
                                      <p:cBhvr additive="repl">
                                        <p:cTn id="62" dur="2000"/>
                                        <p:tgtEl>
                                          <p:spTgt spid="68"/>
                                        </p:tgtEl>
                                      </p:cBhvr>
                                    </p:animEffect>
                                    <p:set>
                                      <p:cBhvr>
                                        <p:cTn id="63" dur="1" fill="hold">
                                          <p:stCondLst>
                                            <p:cond delay="1999"/>
                                          </p:stCondLst>
                                        </p:cTn>
                                        <p:tgtEl>
                                          <p:spTgt spid="68"/>
                                        </p:tgtEl>
                                        <p:attrNameLst>
                                          <p:attrName>style.visibility</p:attrName>
                                        </p:attrNameLst>
                                      </p:cBhvr>
                                      <p:to>
                                        <p:strVal val="hidden"/>
                                      </p:to>
                                    </p:set>
                                  </p:childTnLst>
                                </p:cTn>
                              </p:par>
                              <p:par>
                                <p:cTn id="64" nodeType="withEffect" fill="hold" presetClass="exit" presetID="10">
                                  <p:stCondLst>
                                    <p:cond delay="0"/>
                                  </p:stCondLst>
                                  <p:childTnLst>
                                    <p:animEffect filter="fade" transition="out">
                                      <p:cBhvr additive="repl">
                                        <p:cTn id="65" dur="2000"/>
                                        <p:tgtEl>
                                          <p:spTgt spid="59"/>
                                        </p:tgtEl>
                                      </p:cBhvr>
                                    </p:animEffect>
                                    <p:set>
                                      <p:cBhvr>
                                        <p:cTn id="66" dur="1" fill="hold">
                                          <p:stCondLst>
                                            <p:cond delay="1999"/>
                                          </p:stCondLst>
                                        </p:cTn>
                                        <p:tgtEl>
                                          <p:spTgt spid="59"/>
                                        </p:tgtEl>
                                        <p:attrNameLst>
                                          <p:attrName>style.visibility</p:attrName>
                                        </p:attrNameLst>
                                      </p:cBhvr>
                                      <p:to>
                                        <p:strVal val="hidden"/>
                                      </p:to>
                                    </p:set>
                                  </p:childTnLst>
                                </p:cTn>
                              </p:par>
                              <p:par>
                                <p:cTn id="67" nodeType="withEffect" fill="hold" presetClass="exit" presetID="10">
                                  <p:stCondLst>
                                    <p:cond delay="0"/>
                                  </p:stCondLst>
                                  <p:childTnLst>
                                    <p:animEffect filter="fade" transition="out">
                                      <p:cBhvr additive="repl">
                                        <p:cTn id="68" dur="2000"/>
                                        <p:tgtEl>
                                          <p:spTgt spid="38"/>
                                        </p:tgtEl>
                                      </p:cBhvr>
                                    </p:animEffect>
                                    <p:set>
                                      <p:cBhvr>
                                        <p:cTn id="69" dur="1" fill="hold">
                                          <p:stCondLst>
                                            <p:cond delay="1999"/>
                                          </p:stCondLst>
                                        </p:cTn>
                                        <p:tgtEl>
                                          <p:spTgt spid="38"/>
                                        </p:tgtEl>
                                        <p:attrNameLst>
                                          <p:attrName>style.visibility</p:attrName>
                                        </p:attrNameLst>
                                      </p:cBhvr>
                                      <p:to>
                                        <p:strVal val="hidden"/>
                                      </p:to>
                                    </p:set>
                                  </p:childTnLst>
                                </p:cTn>
                              </p:par>
                              <p:par>
                                <p:cTn id="70" nodeType="withEffect" fill="hold" presetClass="exit" presetID="10">
                                  <p:stCondLst>
                                    <p:cond delay="0"/>
                                  </p:stCondLst>
                                  <p:childTnLst>
                                    <p:animEffect filter="fade" transition="out">
                                      <p:cBhvr additive="repl">
                                        <p:cTn id="71" dur="2000"/>
                                        <p:tgtEl>
                                          <p:spTgt spid="44"/>
                                        </p:tgtEl>
                                      </p:cBhvr>
                                    </p:animEffect>
                                    <p:set>
                                      <p:cBhvr>
                                        <p:cTn id="72" dur="1" fill="hold">
                                          <p:stCondLst>
                                            <p:cond delay="1999"/>
                                          </p:stCondLst>
                                        </p:cTn>
                                        <p:tgtEl>
                                          <p:spTgt spid="44"/>
                                        </p:tgtEl>
                                        <p:attrNameLst>
                                          <p:attrName>style.visibility</p:attrName>
                                        </p:attrNameLst>
                                      </p:cBhvr>
                                      <p:to>
                                        <p:strVal val="hidden"/>
                                      </p:to>
                                    </p:set>
                                  </p:childTnLst>
                                </p:cTn>
                              </p:par>
                              <p:par>
                                <p:cTn id="73" nodeType="withEffect" fill="hold" presetClass="exit" presetID="10">
                                  <p:stCondLst>
                                    <p:cond delay="0"/>
                                  </p:stCondLst>
                                  <p:childTnLst>
                                    <p:animEffect filter="fade" transition="out">
                                      <p:cBhvr additive="repl">
                                        <p:cTn id="74" dur="2000"/>
                                        <p:tgtEl>
                                          <p:spTgt spid="47"/>
                                        </p:tgtEl>
                                      </p:cBhvr>
                                    </p:animEffect>
                                    <p:set>
                                      <p:cBhvr>
                                        <p:cTn id="75" dur="1" fill="hold">
                                          <p:stCondLst>
                                            <p:cond delay="1999"/>
                                          </p:stCondLst>
                                        </p:cTn>
                                        <p:tgtEl>
                                          <p:spTgt spid="47"/>
                                        </p:tgtEl>
                                        <p:attrNameLst>
                                          <p:attrName>style.visibility</p:attrName>
                                        </p:attrNameLst>
                                      </p:cBhvr>
                                      <p:to>
                                        <p:strVal val="hidden"/>
                                      </p:to>
                                    </p:set>
                                  </p:childTnLst>
                                </p:cTn>
                              </p:par>
                              <p:par>
                                <p:cTn id="76" nodeType="withEffect" fill="hold" presetClass="exit" presetID="10">
                                  <p:stCondLst>
                                    <p:cond delay="0"/>
                                  </p:stCondLst>
                                  <p:childTnLst>
                                    <p:animEffect filter="fade" transition="out">
                                      <p:cBhvr additive="repl">
                                        <p:cTn id="77" dur="2000"/>
                                        <p:tgtEl>
                                          <p:spTgt spid="25"/>
                                        </p:tgtEl>
                                      </p:cBhvr>
                                    </p:animEffect>
                                    <p:set>
                                      <p:cBhvr>
                                        <p:cTn id="78" dur="1" fill="hold">
                                          <p:stCondLst>
                                            <p:cond delay="1999"/>
                                          </p:stCondLst>
                                        </p:cTn>
                                        <p:tgtEl>
                                          <p:spTgt spid="25"/>
                                        </p:tgtEl>
                                        <p:attrNameLst>
                                          <p:attrName>style.visibility</p:attrName>
                                        </p:attrNameLst>
                                      </p:cBhvr>
                                      <p:to>
                                        <p:strVal val="hidden"/>
                                      </p:to>
                                    </p:set>
                                  </p:childTnLst>
                                </p:cTn>
                              </p:par>
                              <p:par>
                                <p:cTn id="79" nodeType="withEffect" fill="hold" presetClass="exit" presetID="10">
                                  <p:stCondLst>
                                    <p:cond delay="0"/>
                                  </p:stCondLst>
                                  <p:childTnLst>
                                    <p:animEffect filter="fade" transition="out">
                                      <p:cBhvr additive="repl">
                                        <p:cTn id="80" dur="2000"/>
                                        <p:tgtEl>
                                          <p:spTgt spid="39"/>
                                        </p:tgtEl>
                                      </p:cBhvr>
                                    </p:animEffect>
                                    <p:set>
                                      <p:cBhvr>
                                        <p:cTn id="81" dur="1" fill="hold">
                                          <p:stCondLst>
                                            <p:cond delay="1999"/>
                                          </p:stCondLst>
                                        </p:cTn>
                                        <p:tgtEl>
                                          <p:spTgt spid="39"/>
                                        </p:tgtEl>
                                        <p:attrNameLst>
                                          <p:attrName>style.visibility</p:attrName>
                                        </p:attrNameLst>
                                      </p:cBhvr>
                                      <p:to>
                                        <p:strVal val="hidden"/>
                                      </p:to>
                                    </p:set>
                                  </p:childTnLst>
                                </p:cTn>
                              </p:par>
                              <p:par>
                                <p:cTn id="82" nodeType="withEffect" fill="hold" presetClass="exit" presetID="10">
                                  <p:stCondLst>
                                    <p:cond delay="0"/>
                                  </p:stCondLst>
                                  <p:childTnLst>
                                    <p:animEffect filter="fade" transition="out">
                                      <p:cBhvr additive="repl">
                                        <p:cTn id="83" dur="2000"/>
                                        <p:tgtEl>
                                          <p:spTgt spid="57"/>
                                        </p:tgtEl>
                                      </p:cBhvr>
                                    </p:animEffect>
                                    <p:set>
                                      <p:cBhvr>
                                        <p:cTn id="84" dur="1" fill="hold">
                                          <p:stCondLst>
                                            <p:cond delay="1999"/>
                                          </p:stCondLst>
                                        </p:cTn>
                                        <p:tgtEl>
                                          <p:spTgt spid="57"/>
                                        </p:tgtEl>
                                        <p:attrNameLst>
                                          <p:attrName>style.visibility</p:attrName>
                                        </p:attrNameLst>
                                      </p:cBhvr>
                                      <p:to>
                                        <p:strVal val="hidden"/>
                                      </p:to>
                                    </p:set>
                                  </p:childTnLst>
                                </p:cTn>
                              </p:par>
                            </p:childTnLst>
                          </p:cTn>
                        </p:par>
                        <p:par>
                          <p:cTn id="85" fill="hold">
                            <p:stCondLst>
                              <p:cond delay="2000"/>
                            </p:stCondLst>
                            <p:childTnLst>
                              <p:par>
                                <p:cTn id="86" nodeType="afterEffect" fill="hold" presetClass="entr" presetID="10">
                                  <p:stCondLst>
                                    <p:cond delay="0"/>
                                  </p:stCondLst>
                                  <p:childTnLst>
                                    <p:set>
                                      <p:cBhvr>
                                        <p:cTn id="87" dur="1" fill="hold">
                                          <p:stCondLst>
                                            <p:cond delay="0"/>
                                          </p:stCondLst>
                                        </p:cTn>
                                        <p:tgtEl>
                                          <p:spTgt spid="58"/>
                                        </p:tgtEl>
                                        <p:attrNameLst>
                                          <p:attrName>style.visibility</p:attrName>
                                        </p:attrNameLst>
                                      </p:cBhvr>
                                      <p:to>
                                        <p:strVal val="visible"/>
                                      </p:to>
                                    </p:set>
                                    <p:animEffect filter="fade" transition="in">
                                      <p:cBhvr additive="repl">
                                        <p:cTn id="88" dur="2000"/>
                                        <p:tgtEl>
                                          <p:spTgt spid="58"/>
                                        </p:tgtEl>
                                      </p:cBhvr>
                                    </p:animEffect>
                                  </p:childTnLst>
                                </p:cTn>
                              </p:par>
                            </p:childTnLst>
                          </p:cTn>
                        </p:par>
                        <p:par>
                          <p:cTn id="89" fill="hold">
                            <p:stCondLst>
                              <p:cond delay="4000"/>
                            </p:stCondLst>
                            <p:childTnLst>
                              <p:par>
                                <p:cTn id="90" nodeType="afterEffect" fill="hold" presetClass="entr" presetID="10">
                                  <p:stCondLst>
                                    <p:cond delay="0"/>
                                  </p:stCondLst>
                                  <p:childTnLst>
                                    <p:set>
                                      <p:cBhvr>
                                        <p:cTn id="91" dur="1" fill="hold">
                                          <p:stCondLst>
                                            <p:cond delay="0"/>
                                          </p:stCondLst>
                                        </p:cTn>
                                        <p:tgtEl>
                                          <p:spTgt spid="60"/>
                                        </p:tgtEl>
                                        <p:attrNameLst>
                                          <p:attrName>style.visibility</p:attrName>
                                        </p:attrNameLst>
                                      </p:cBhvr>
                                      <p:to>
                                        <p:strVal val="visible"/>
                                      </p:to>
                                    </p:set>
                                    <p:animEffect filter="fade" transition="in">
                                      <p:cBhvr additive="repl">
                                        <p:cTn id="92" dur="2000"/>
                                        <p:tgtEl>
                                          <p:spTgt spid="60"/>
                                        </p:tgtEl>
                                      </p:cBhvr>
                                    </p:animEffect>
                                  </p:childTnLst>
                                </p:cTn>
                              </p:par>
                              <p:par>
                                <p:cTn id="93" nodeType="withEffect" fill="hold" presetClass="entr" presetID="10">
                                  <p:stCondLst>
                                    <p:cond delay="0"/>
                                  </p:stCondLst>
                                  <p:childTnLst>
                                    <p:set>
                                      <p:cBhvr>
                                        <p:cTn id="94" dur="1" fill="hold">
                                          <p:stCondLst>
                                            <p:cond delay="0"/>
                                          </p:stCondLst>
                                        </p:cTn>
                                        <p:tgtEl>
                                          <p:spTgt spid="52"/>
                                        </p:tgtEl>
                                        <p:attrNameLst>
                                          <p:attrName>style.visibility</p:attrName>
                                        </p:attrNameLst>
                                      </p:cBhvr>
                                      <p:to>
                                        <p:strVal val="visible"/>
                                      </p:to>
                                    </p:set>
                                    <p:animEffect filter="fade" transition="in">
                                      <p:cBhvr additive="repl">
                                        <p:cTn id="95" dur="2000"/>
                                        <p:tgtEl>
                                          <p:spTgt spid="52"/>
                                        </p:tgtEl>
                                      </p:cBhvr>
                                    </p:animEffect>
                                  </p:childTnLst>
                                </p:cTn>
                              </p:par>
                            </p:childTnLst>
                          </p:cTn>
                        </p:par>
                      </p:childTnLst>
                    </p:cTn>
                  </p:par>
                  <p:par>
                    <p:cTn id="96" fill="hold">
                      <p:stCondLst>
                        <p:cond delay="indefinite"/>
                      </p:stCondLst>
                      <p:childTnLst>
                        <p:par>
                          <p:cTn id="97" fill="hold">
                            <p:stCondLst>
                              <p:cond delay="0"/>
                            </p:stCondLst>
                            <p:childTnLst>
                              <p:par>
                                <p:cTn id="98" nodeType="clickEffect" fill="hold" presetClass="exit" presetID="10">
                                  <p:stCondLst>
                                    <p:cond delay="0"/>
                                  </p:stCondLst>
                                  <p:childTnLst>
                                    <p:animEffect filter="fade" transition="out">
                                      <p:cBhvr additive="repl">
                                        <p:cTn id="99" dur="2000"/>
                                        <p:tgtEl>
                                          <p:spTgt spid="58"/>
                                        </p:tgtEl>
                                      </p:cBhvr>
                                    </p:animEffect>
                                    <p:set>
                                      <p:cBhvr>
                                        <p:cTn id="100" dur="1" fill="hold">
                                          <p:stCondLst>
                                            <p:cond delay="1999"/>
                                          </p:stCondLst>
                                        </p:cTn>
                                        <p:tgtEl>
                                          <p:spTgt spid="58"/>
                                        </p:tgtEl>
                                        <p:attrNameLst>
                                          <p:attrName>style.visibility</p:attrName>
                                        </p:attrNameLst>
                                      </p:cBhvr>
                                      <p:to>
                                        <p:strVal val="hidden"/>
                                      </p:to>
                                    </p:set>
                                  </p:childTnLst>
                                </p:cTn>
                              </p:par>
                            </p:childTnLst>
                          </p:cTn>
                        </p:par>
                        <p:par>
                          <p:cTn id="101" fill="hold">
                            <p:stCondLst>
                              <p:cond delay="2000"/>
                            </p:stCondLst>
                            <p:childTnLst>
                              <p:par>
                                <p:cTn id="102" nodeType="afterEffect" fill="hold" presetClass="entr" presetID="10">
                                  <p:stCondLst>
                                    <p:cond delay="0"/>
                                  </p:stCondLst>
                                  <p:childTnLst>
                                    <p:set>
                                      <p:cBhvr>
                                        <p:cTn id="103" dur="1" fill="hold">
                                          <p:stCondLst>
                                            <p:cond delay="0"/>
                                          </p:stCondLst>
                                        </p:cTn>
                                        <p:tgtEl>
                                          <p:spTgt spid="65"/>
                                        </p:tgtEl>
                                        <p:attrNameLst>
                                          <p:attrName>style.visibility</p:attrName>
                                        </p:attrNameLst>
                                      </p:cBhvr>
                                      <p:to>
                                        <p:strVal val="visible"/>
                                      </p:to>
                                    </p:set>
                                    <p:animEffect filter="fade" transition="in">
                                      <p:cBhvr additive="repl">
                                        <p:cTn id="104" dur="2000"/>
                                        <p:tgtEl>
                                          <p:spTgt spid="65"/>
                                        </p:tgtEl>
                                      </p:cBhvr>
                                    </p:animEffect>
                                  </p:childTnLst>
                                </p:cTn>
                              </p:par>
                            </p:childTnLst>
                          </p:cTn>
                        </p:par>
                        <p:par>
                          <p:cTn id="105" fill="hold">
                            <p:stCondLst>
                              <p:cond delay="4000"/>
                            </p:stCondLst>
                            <p:childTnLst>
                              <p:par>
                                <p:cTn id="106" nodeType="afterEffect" fill="hold" presetClass="entr" presetID="10">
                                  <p:stCondLst>
                                    <p:cond delay="0"/>
                                  </p:stCondLst>
                                  <p:childTnLst>
                                    <p:set>
                                      <p:cBhvr>
                                        <p:cTn id="107" dur="1" fill="hold">
                                          <p:stCondLst>
                                            <p:cond delay="0"/>
                                          </p:stCondLst>
                                        </p:cTn>
                                        <p:tgtEl>
                                          <p:spTgt spid="68"/>
                                        </p:tgtEl>
                                        <p:attrNameLst>
                                          <p:attrName>style.visibility</p:attrName>
                                        </p:attrNameLst>
                                      </p:cBhvr>
                                      <p:to>
                                        <p:strVal val="visible"/>
                                      </p:to>
                                    </p:set>
                                    <p:animEffect filter="fade" transition="in">
                                      <p:cBhvr additive="repl">
                                        <p:cTn id="108" dur="2000"/>
                                        <p:tgtEl>
                                          <p:spTgt spid="68"/>
                                        </p:tgtEl>
                                      </p:cBhvr>
                                    </p:animEffect>
                                  </p:childTnLst>
                                </p:cTn>
                              </p:par>
                              <p:par>
                                <p:cTn id="109" nodeType="withEffect" fill="hold" presetClass="exit" presetID="10">
                                  <p:stCondLst>
                                    <p:cond delay="0"/>
                                  </p:stCondLst>
                                  <p:childTnLst>
                                    <p:animEffect filter="fade" transition="out">
                                      <p:cBhvr additive="repl">
                                        <p:cTn id="110" dur="2000"/>
                                        <p:tgtEl>
                                          <p:spTgt spid="60"/>
                                        </p:tgtEl>
                                      </p:cBhvr>
                                    </p:animEffect>
                                    <p:set>
                                      <p:cBhvr>
                                        <p:cTn id="111" dur="1" fill="hold">
                                          <p:stCondLst>
                                            <p:cond delay="1999"/>
                                          </p:stCondLst>
                                        </p:cTn>
                                        <p:tgtEl>
                                          <p:spTgt spid="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685800" y="0"/>
            <a:ext cx="7772400" cy="9907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Starting phase:</a:t>
            </a:r>
            <a:endParaRPr b="0" lang="en-US" sz="4400" strike="noStrike" u="none">
              <a:solidFill>
                <a:srgbClr val="000000"/>
              </a:solidFill>
              <a:effectLst/>
              <a:uFillTx/>
              <a:latin typeface="Calibri"/>
            </a:endParaRPr>
          </a:p>
        </p:txBody>
      </p:sp>
      <p:sp>
        <p:nvSpPr>
          <p:cNvPr id="75" name="Rectangle 15"/>
          <p:cNvSpPr/>
          <p:nvPr/>
        </p:nvSpPr>
        <p:spPr>
          <a:xfrm>
            <a:off x="2928960" y="1071720"/>
            <a:ext cx="2286000" cy="12142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Definitions</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def as c1, c2</a:t>
            </a:r>
            <a:endParaRPr b="0" lang="en-US" sz="1800" strike="noStrike" u="none">
              <a:solidFill>
                <a:srgbClr val="000000"/>
              </a:solidFill>
              <a:effectLst/>
              <a:uFillTx/>
              <a:latin typeface="Calibri"/>
            </a:endParaRPr>
          </a:p>
        </p:txBody>
      </p:sp>
      <p:sp>
        <p:nvSpPr>
          <p:cNvPr id="76" name="Rectangle 18"/>
          <p:cNvSpPr/>
          <p:nvPr/>
        </p:nvSpPr>
        <p:spPr>
          <a:xfrm>
            <a:off x="357120" y="1071720"/>
            <a:ext cx="2133720" cy="4572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get data for def</a:t>
            </a:r>
            <a:endParaRPr b="0" lang="en-US" sz="1800" strike="noStrike" u="none">
              <a:solidFill>
                <a:srgbClr val="000000"/>
              </a:solidFill>
              <a:effectLst/>
              <a:uFillTx/>
              <a:latin typeface="Calibri"/>
            </a:endParaRPr>
          </a:p>
        </p:txBody>
      </p:sp>
      <p:sp>
        <p:nvSpPr>
          <p:cNvPr id="77" name="Rectangle 9"/>
          <p:cNvSpPr/>
          <p:nvPr/>
        </p:nvSpPr>
        <p:spPr>
          <a:xfrm>
            <a:off x="6072120" y="928800"/>
            <a:ext cx="2133720" cy="19047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Containers</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c1,file1,SQL</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c2,file2,SQL</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ce,file3,nc</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c4,file4,nc</a:t>
            </a:r>
            <a:endParaRPr b="0" lang="en-US" sz="1800" strike="noStrike" u="none">
              <a:solidFill>
                <a:srgbClr val="000000"/>
              </a:solidFill>
              <a:effectLst/>
              <a:uFillTx/>
              <a:latin typeface="Calibri"/>
            </a:endParaRPr>
          </a:p>
        </p:txBody>
      </p:sp>
      <p:grpSp>
        <p:nvGrpSpPr>
          <p:cNvPr id="78" name="Group 75"/>
          <p:cNvGrpSpPr/>
          <p:nvPr/>
        </p:nvGrpSpPr>
        <p:grpSpPr>
          <a:xfrm>
            <a:off x="1571760" y="1143000"/>
            <a:ext cx="1961640" cy="571680"/>
            <a:chOff x="1571760" y="1143000"/>
            <a:chExt cx="1961640" cy="571680"/>
          </a:xfrm>
        </p:grpSpPr>
        <p:sp>
          <p:nvSpPr>
            <p:cNvPr id="79" name="Rectangle 21"/>
            <p:cNvSpPr/>
            <p:nvPr/>
          </p:nvSpPr>
          <p:spPr>
            <a:xfrm>
              <a:off x="3000240" y="1409760"/>
              <a:ext cx="533160" cy="304920"/>
            </a:xfrm>
            <a:prstGeom prst="rect">
              <a:avLst/>
            </a:prstGeom>
            <a:solidFill>
              <a:srgbClr val="00ffff"/>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def</a:t>
              </a:r>
              <a:endParaRPr b="0" lang="en-US" sz="1800" strike="noStrike" u="none">
                <a:solidFill>
                  <a:srgbClr val="000000"/>
                </a:solidFill>
                <a:effectLst/>
                <a:uFillTx/>
                <a:latin typeface="Calibri"/>
              </a:endParaRPr>
            </a:p>
          </p:txBody>
        </p:sp>
        <p:sp>
          <p:nvSpPr>
            <p:cNvPr id="80" name="Rectangle 19"/>
            <p:cNvSpPr/>
            <p:nvPr/>
          </p:nvSpPr>
          <p:spPr>
            <a:xfrm>
              <a:off x="1571760" y="1143000"/>
              <a:ext cx="533160" cy="304920"/>
            </a:xfrm>
            <a:prstGeom prst="rect">
              <a:avLst/>
            </a:prstGeom>
            <a:solidFill>
              <a:srgbClr val="00ffff"/>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def</a:t>
              </a:r>
              <a:endParaRPr b="0" lang="en-US" sz="1800" strike="noStrike" u="none">
                <a:solidFill>
                  <a:srgbClr val="000000"/>
                </a:solidFill>
                <a:effectLst/>
                <a:uFillTx/>
                <a:latin typeface="Calibri"/>
              </a:endParaRPr>
            </a:p>
          </p:txBody>
        </p:sp>
        <p:cxnSp>
          <p:nvCxnSpPr>
            <p:cNvPr id="81" name="AutoShape 32"/>
            <p:cNvCxnSpPr>
              <a:stCxn id="80" idx="3"/>
              <a:endCxn id="79" idx="1"/>
            </p:cNvCxnSpPr>
            <p:nvPr/>
          </p:nvCxnSpPr>
          <p:spPr>
            <a:xfrm>
              <a:off x="2104920" y="1294920"/>
              <a:ext cx="895680" cy="267120"/>
            </a:xfrm>
            <a:prstGeom prst="straightConnector1">
              <a:avLst/>
            </a:prstGeom>
            <a:ln w="9360">
              <a:solidFill>
                <a:srgbClr val="000000"/>
              </a:solidFill>
              <a:miter/>
              <a:tailEnd len="med" type="triangle" w="med"/>
            </a:ln>
          </p:spPr>
        </p:cxnSp>
      </p:grpSp>
      <p:sp>
        <p:nvSpPr>
          <p:cNvPr id="82" name="Text Box 37"/>
          <p:cNvSpPr/>
          <p:nvPr/>
        </p:nvSpPr>
        <p:spPr>
          <a:xfrm>
            <a:off x="326520" y="570600"/>
            <a:ext cx="1218600" cy="39888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alibri"/>
              </a:rPr>
              <a:t>command</a:t>
            </a:r>
            <a:endParaRPr b="0" lang="en-US" sz="2000" strike="noStrike" u="none">
              <a:solidFill>
                <a:srgbClr val="000000"/>
              </a:solidFill>
              <a:effectLst/>
              <a:uFillTx/>
              <a:latin typeface="Calibri"/>
            </a:endParaRPr>
          </a:p>
        </p:txBody>
      </p:sp>
      <p:sp>
        <p:nvSpPr>
          <p:cNvPr id="83" name="Rectangle 23"/>
          <p:cNvSpPr/>
          <p:nvPr/>
        </p:nvSpPr>
        <p:spPr>
          <a:xfrm>
            <a:off x="3976560" y="3505320"/>
            <a:ext cx="4953240" cy="12189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Response HandlerList::TheList()</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data, BESDataResponseHandler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manager, SQLResponseHandler</a:t>
            </a:r>
            <a:endParaRPr b="0" lang="en-US" sz="1800" strike="noStrike" u="none">
              <a:solidFill>
                <a:srgbClr val="000000"/>
              </a:solidFill>
              <a:effectLst/>
              <a:uFillTx/>
              <a:latin typeface="Calibri"/>
            </a:endParaRPr>
          </a:p>
        </p:txBody>
      </p:sp>
      <p:sp>
        <p:nvSpPr>
          <p:cNvPr id="84" name="Rectangle 25"/>
          <p:cNvSpPr/>
          <p:nvPr/>
        </p:nvSpPr>
        <p:spPr>
          <a:xfrm>
            <a:off x="3976560" y="4786200"/>
            <a:ext cx="4876920" cy="17668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Request HandlerList::TheList()</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sql, SQLRequestHandler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data, fill_data_func</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dds, fill_dds_func</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das, fill_das_func</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a:t>
            </a:r>
            <a:endParaRPr b="0" lang="en-US" sz="1800" strike="noStrike" u="none">
              <a:solidFill>
                <a:srgbClr val="000000"/>
              </a:solidFill>
              <a:effectLst/>
              <a:uFillTx/>
              <a:latin typeface="Calibri"/>
            </a:endParaRPr>
          </a:p>
        </p:txBody>
      </p:sp>
      <p:grpSp>
        <p:nvGrpSpPr>
          <p:cNvPr id="85" name="Group 74"/>
          <p:cNvGrpSpPr/>
          <p:nvPr/>
        </p:nvGrpSpPr>
        <p:grpSpPr>
          <a:xfrm>
            <a:off x="3786120" y="1214280"/>
            <a:ext cx="2852640" cy="447840"/>
            <a:chOff x="3786120" y="1214280"/>
            <a:chExt cx="2852640" cy="447840"/>
          </a:xfrm>
        </p:grpSpPr>
        <p:sp>
          <p:nvSpPr>
            <p:cNvPr id="86" name="Rectangle 12"/>
            <p:cNvSpPr/>
            <p:nvPr/>
          </p:nvSpPr>
          <p:spPr>
            <a:xfrm>
              <a:off x="6257880" y="1214280"/>
              <a:ext cx="380880" cy="304920"/>
            </a:xfrm>
            <a:prstGeom prst="rec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c1</a:t>
              </a:r>
              <a:endParaRPr b="0" lang="en-US" sz="1800" strike="noStrike" u="none">
                <a:solidFill>
                  <a:srgbClr val="000000"/>
                </a:solidFill>
                <a:effectLst/>
                <a:uFillTx/>
                <a:latin typeface="Calibri"/>
              </a:endParaRPr>
            </a:p>
          </p:txBody>
        </p:sp>
        <p:cxnSp>
          <p:nvCxnSpPr>
            <p:cNvPr id="87" name="AutoShape 33"/>
            <p:cNvCxnSpPr>
              <a:stCxn id="88" idx="3"/>
              <a:endCxn id="86" idx="1"/>
            </p:cNvCxnSpPr>
            <p:nvPr/>
          </p:nvCxnSpPr>
          <p:spPr>
            <a:xfrm flipV="1">
              <a:off x="4172040" y="1365840"/>
              <a:ext cx="2086560" cy="143640"/>
            </a:xfrm>
            <a:prstGeom prst="straightConnector1">
              <a:avLst/>
            </a:prstGeom>
            <a:ln w="25560">
              <a:solidFill>
                <a:srgbClr val="c0504d"/>
              </a:solidFill>
              <a:miter/>
              <a:tailEnd len="med" type="triangle" w="med"/>
            </a:ln>
          </p:spPr>
        </p:cxnSp>
        <p:sp>
          <p:nvSpPr>
            <p:cNvPr id="89" name="Rectangle 61"/>
            <p:cNvSpPr/>
            <p:nvPr/>
          </p:nvSpPr>
          <p:spPr>
            <a:xfrm>
              <a:off x="3786120" y="1357200"/>
              <a:ext cx="380880" cy="304920"/>
            </a:xfrm>
            <a:prstGeom prst="rec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c1</a:t>
              </a:r>
              <a:endParaRPr b="0" lang="en-US" sz="1800" strike="noStrike" u="none">
                <a:solidFill>
                  <a:srgbClr val="000000"/>
                </a:solidFill>
                <a:effectLst/>
                <a:uFillTx/>
                <a:latin typeface="Calibri"/>
              </a:endParaRPr>
            </a:p>
          </p:txBody>
        </p:sp>
      </p:grpSp>
      <p:grpSp>
        <p:nvGrpSpPr>
          <p:cNvPr id="90" name="Group 60"/>
          <p:cNvGrpSpPr/>
          <p:nvPr/>
        </p:nvGrpSpPr>
        <p:grpSpPr>
          <a:xfrm>
            <a:off x="714240" y="1143000"/>
            <a:ext cx="4000680" cy="2948040"/>
            <a:chOff x="714240" y="1143000"/>
            <a:chExt cx="4000680" cy="2948040"/>
          </a:xfrm>
        </p:grpSpPr>
        <p:sp>
          <p:nvSpPr>
            <p:cNvPr id="91" name="Rectangle 22"/>
            <p:cNvSpPr/>
            <p:nvPr/>
          </p:nvSpPr>
          <p:spPr>
            <a:xfrm>
              <a:off x="714240" y="1143000"/>
              <a:ext cx="50004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Data</a:t>
              </a:r>
              <a:endParaRPr b="0" lang="en-US" sz="1800" strike="noStrike" u="none">
                <a:solidFill>
                  <a:srgbClr val="000000"/>
                </a:solidFill>
                <a:effectLst/>
                <a:uFillTx/>
                <a:latin typeface="Calibri"/>
              </a:endParaRPr>
            </a:p>
          </p:txBody>
        </p:sp>
        <p:sp>
          <p:nvSpPr>
            <p:cNvPr id="92" name="Rectangle 24"/>
            <p:cNvSpPr/>
            <p:nvPr/>
          </p:nvSpPr>
          <p:spPr>
            <a:xfrm>
              <a:off x="4143240" y="3786120"/>
              <a:ext cx="571680" cy="30492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Data</a:t>
              </a:r>
              <a:endParaRPr b="0" lang="en-US" sz="1800" strike="noStrike" u="none">
                <a:solidFill>
                  <a:srgbClr val="000000"/>
                </a:solidFill>
                <a:effectLst/>
                <a:uFillTx/>
                <a:latin typeface="Calibri"/>
              </a:endParaRPr>
            </a:p>
          </p:txBody>
        </p:sp>
        <p:cxnSp>
          <p:nvCxnSpPr>
            <p:cNvPr id="93" name="AutoShape 30"/>
            <p:cNvCxnSpPr>
              <a:stCxn id="91" idx="2"/>
              <a:endCxn id="92" idx="0"/>
            </p:cNvCxnSpPr>
            <p:nvPr/>
          </p:nvCxnSpPr>
          <p:spPr>
            <a:xfrm flipH="1" rot="16200000">
              <a:off x="1527120" y="883800"/>
              <a:ext cx="2339280" cy="3466080"/>
            </a:xfrm>
            <a:prstGeom prst="bentConnector3">
              <a:avLst>
                <a:gd name="adj1" fmla="val 49992"/>
              </a:avLst>
            </a:prstGeom>
            <a:ln w="25560">
              <a:solidFill>
                <a:srgbClr val="4bacc6"/>
              </a:solidFill>
              <a:miter/>
              <a:tailEnd len="med" type="triangle" w="med"/>
            </a:ln>
          </p:spPr>
        </p:cxnSp>
      </p:grpSp>
      <p:grpSp>
        <p:nvGrpSpPr>
          <p:cNvPr id="94" name="Group 79"/>
          <p:cNvGrpSpPr/>
          <p:nvPr/>
        </p:nvGrpSpPr>
        <p:grpSpPr>
          <a:xfrm>
            <a:off x="4000680" y="1214280"/>
            <a:ext cx="4535280" cy="4162680"/>
            <a:chOff x="4000680" y="1214280"/>
            <a:chExt cx="4535280" cy="4162680"/>
          </a:xfrm>
        </p:grpSpPr>
        <p:grpSp>
          <p:nvGrpSpPr>
            <p:cNvPr id="95" name="Group 77"/>
            <p:cNvGrpSpPr/>
            <p:nvPr/>
          </p:nvGrpSpPr>
          <p:grpSpPr>
            <a:xfrm>
              <a:off x="4533120" y="1214280"/>
              <a:ext cx="4002840" cy="4010040"/>
              <a:chOff x="4533120" y="1214280"/>
              <a:chExt cx="4002840" cy="4010040"/>
            </a:xfrm>
          </p:grpSpPr>
          <p:sp>
            <p:nvSpPr>
              <p:cNvPr id="96" name="Rectangle 28"/>
              <p:cNvSpPr/>
              <p:nvPr/>
            </p:nvSpPr>
            <p:spPr>
              <a:xfrm>
                <a:off x="7072200" y="1214280"/>
                <a:ext cx="533520" cy="304920"/>
              </a:xfrm>
              <a:prstGeom prst="rect">
                <a:avLst/>
              </a:prstGeom>
              <a:solidFill>
                <a:srgbClr val="ff3a91"/>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a:t>
                </a:r>
                <a:endParaRPr b="0" lang="en-US" sz="1800" strike="noStrike" u="none">
                  <a:solidFill>
                    <a:srgbClr val="000000"/>
                  </a:solidFill>
                  <a:effectLst/>
                  <a:uFillTx/>
                  <a:latin typeface="Calibri"/>
                </a:endParaRPr>
              </a:p>
            </p:txBody>
          </p:sp>
          <p:cxnSp>
            <p:nvCxnSpPr>
              <p:cNvPr id="97" name="AutoShape 56"/>
              <p:cNvCxnSpPr>
                <a:stCxn id="96" idx="3"/>
                <a:endCxn id="98" idx="3"/>
              </p:cNvCxnSpPr>
              <p:nvPr/>
            </p:nvCxnSpPr>
            <p:spPr>
              <a:xfrm flipH="1">
                <a:off x="4533120" y="1366560"/>
                <a:ext cx="3072600" cy="3858120"/>
              </a:xfrm>
              <a:prstGeom prst="bentConnector3">
                <a:avLst>
                  <a:gd name="adj1" fmla="val -30290"/>
                </a:avLst>
              </a:prstGeom>
              <a:ln w="25560">
                <a:solidFill>
                  <a:srgbClr val="c0504d"/>
                </a:solidFill>
                <a:miter/>
                <a:tailEnd len="med" type="triangle" w="med"/>
              </a:ln>
            </p:spPr>
          </p:cxnSp>
        </p:grpSp>
        <p:sp>
          <p:nvSpPr>
            <p:cNvPr id="98" name="Rectangle 28"/>
            <p:cNvSpPr/>
            <p:nvPr/>
          </p:nvSpPr>
          <p:spPr>
            <a:xfrm>
              <a:off x="4000680" y="5072400"/>
              <a:ext cx="533160" cy="304560"/>
            </a:xfrm>
            <a:prstGeom prst="rect">
              <a:avLst/>
            </a:prstGeom>
            <a:solidFill>
              <a:srgbClr val="ff3a91"/>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a:t>
              </a:r>
              <a:endParaRPr b="0" lang="en-US" sz="1800" strike="noStrike" u="none">
                <a:solidFill>
                  <a:srgbClr val="000000"/>
                </a:solidFill>
                <a:effectLst/>
                <a:uFillTx/>
                <a:latin typeface="Calibri"/>
              </a:endParaRPr>
            </a:p>
          </p:txBody>
        </p:sp>
      </p:grpSp>
      <p:grpSp>
        <p:nvGrpSpPr>
          <p:cNvPr id="99" name="Group 64"/>
          <p:cNvGrpSpPr/>
          <p:nvPr/>
        </p:nvGrpSpPr>
        <p:grpSpPr>
          <a:xfrm>
            <a:off x="3790800" y="1357200"/>
            <a:ext cx="885960" cy="2733840"/>
            <a:chOff x="3790800" y="1357200"/>
            <a:chExt cx="885960" cy="2733840"/>
          </a:xfrm>
        </p:grpSpPr>
        <p:sp>
          <p:nvSpPr>
            <p:cNvPr id="88" name="Rectangle 16"/>
            <p:cNvSpPr/>
            <p:nvPr/>
          </p:nvSpPr>
          <p:spPr>
            <a:xfrm>
              <a:off x="3790800" y="1357200"/>
              <a:ext cx="380880" cy="304920"/>
            </a:xfrm>
            <a:prstGeom prst="rec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c1</a:t>
              </a:r>
              <a:endParaRPr b="0" lang="en-US" sz="1800" strike="noStrike" u="none">
                <a:solidFill>
                  <a:srgbClr val="000000"/>
                </a:solidFill>
                <a:effectLst/>
                <a:uFillTx/>
                <a:latin typeface="Calibri"/>
              </a:endParaRPr>
            </a:p>
          </p:txBody>
        </p:sp>
        <p:cxnSp>
          <p:nvCxnSpPr>
            <p:cNvPr id="100" name="AutoShape 50"/>
            <p:cNvCxnSpPr>
              <a:stCxn id="101" idx="0"/>
              <a:endCxn id="88" idx="2"/>
            </p:cNvCxnSpPr>
            <p:nvPr/>
          </p:nvCxnSpPr>
          <p:spPr>
            <a:xfrm flipH="1" flipV="1">
              <a:off x="3980520" y="1661760"/>
              <a:ext cx="429480" cy="2124720"/>
            </a:xfrm>
            <a:prstGeom prst="straightConnector1">
              <a:avLst/>
            </a:prstGeom>
            <a:ln w="25560">
              <a:solidFill>
                <a:srgbClr val="c0504d"/>
              </a:solidFill>
              <a:miter/>
              <a:tailEnd len="med" type="triangle" w="med"/>
            </a:ln>
          </p:spPr>
        </p:cxnSp>
        <p:sp>
          <p:nvSpPr>
            <p:cNvPr id="101" name="Rectangle 59"/>
            <p:cNvSpPr/>
            <p:nvPr/>
          </p:nvSpPr>
          <p:spPr>
            <a:xfrm>
              <a:off x="4143240" y="3786120"/>
              <a:ext cx="533520" cy="30492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data</a:t>
              </a:r>
              <a:endParaRPr b="0" lang="en-US" sz="1800" strike="noStrike" u="none">
                <a:solidFill>
                  <a:srgbClr val="000000"/>
                </a:solidFill>
                <a:effectLst/>
                <a:uFillTx/>
                <a:latin typeface="Calibri"/>
              </a:endParaRPr>
            </a:p>
          </p:txBody>
        </p:sp>
      </p:grpSp>
      <p:sp>
        <p:nvSpPr>
          <p:cNvPr id="102" name="Rectangle 9"/>
          <p:cNvSpPr/>
          <p:nvPr/>
        </p:nvSpPr>
        <p:spPr>
          <a:xfrm>
            <a:off x="142920" y="2714760"/>
            <a:ext cx="3643200" cy="18572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Since all SQLHandler actions should be </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transparent to the user </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ALL the requests begins with </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the standard (already defined) </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command:</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Calibri"/>
              </a:rPr>
              <a:t>GET</a:t>
            </a:r>
            <a:r>
              <a:rPr b="0" lang="en-US" sz="1400" strike="noStrike" u="none">
                <a:solidFill>
                  <a:srgbClr val="000000"/>
                </a:solidFill>
                <a:effectLst/>
                <a:uFillTx/>
                <a:latin typeface="Calibri"/>
              </a:rPr>
              <a:t> [DAS.DATA,DDS,DDX] </a:t>
            </a:r>
            <a:r>
              <a:rPr b="1" lang="en-US" sz="1400" strike="noStrike" u="none">
                <a:solidFill>
                  <a:srgbClr val="000000"/>
                </a:solidFill>
                <a:effectLst/>
                <a:uFillTx/>
                <a:latin typeface="Calibri"/>
              </a:rPr>
              <a:t>FOR</a:t>
            </a:r>
            <a:r>
              <a:rPr b="0" lang="en-US" sz="1400" strike="noStrike" u="none">
                <a:solidFill>
                  <a:srgbClr val="000000"/>
                </a:solidFill>
                <a:effectLst/>
                <a:uFillTx/>
                <a:latin typeface="Calibri"/>
              </a:rPr>
              <a:t> [DEFINITION]</a:t>
            </a:r>
            <a:endParaRPr b="0" lang="en-US" sz="1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000000"/>
              </a:solidFill>
              <a:effectLst/>
              <a:uFillTx/>
              <a:latin typeface="Calibri"/>
            </a:endParaRPr>
          </a:p>
        </p:txBody>
      </p:sp>
      <p:sp>
        <p:nvSpPr>
          <p:cNvPr id="103" name="Date Placeholder 30"/>
          <p:cNvSpPr/>
          <p:nvPr/>
        </p:nvSpPr>
        <p:spPr>
          <a:xfrm>
            <a:off x="457200" y="6356520"/>
            <a:ext cx="2133720" cy="365040"/>
          </a:xfrm>
          <a:prstGeom prst="rect">
            <a:avLst/>
          </a:prstGeom>
          <a:noFill/>
          <a:ln w="0">
            <a:noFill/>
          </a:ln>
        </p:spPr>
        <p:style>
          <a:lnRef idx="0"/>
          <a:fillRef idx="0"/>
          <a:effectRef idx="0"/>
          <a:fontRef idx="minor"/>
        </p:style>
        <p: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00C667E-8279-4699-AFED-19E0328C67B8}" type="datetime">
              <a:rPr b="0" lang="en-US" sz="1200" strike="noStrike" u="none">
                <a:solidFill>
                  <a:srgbClr val="898989"/>
                </a:solidFill>
                <a:effectLst/>
                <a:uFillTx/>
                <a:latin typeface="Calibri"/>
              </a:rPr>
              <a:t>03/20/26</a:t>
            </a:fld>
            <a:endParaRPr b="0" lang="en-US" sz="1200" strike="noStrike" u="none">
              <a:solidFill>
                <a:srgbClr val="000000"/>
              </a:solidFill>
              <a:effectLst/>
              <a:uFillTx/>
              <a:latin typeface="Calibri"/>
            </a:endParaRPr>
          </a:p>
        </p:txBody>
      </p:sp>
      <p:sp>
        <p:nvSpPr>
          <p:cNvPr id="104" name="Slide Number Placeholder 31"/>
          <p:cNvSpPr/>
          <p:nvPr/>
        </p:nvSpPr>
        <p:spPr>
          <a:xfrm>
            <a:off x="6553080" y="6356520"/>
            <a:ext cx="2133720" cy="365040"/>
          </a:xfrm>
          <a:prstGeom prst="rect">
            <a:avLst/>
          </a:prstGeom>
          <a:noFill/>
          <a:ln w="0">
            <a:noFill/>
          </a:ln>
        </p:spPr>
        <p:style>
          <a:lnRef idx="0"/>
          <a:fillRef idx="0"/>
          <a:effectRef idx="0"/>
          <a:fontRef idx="minor"/>
        </p:style>
        <p: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BDBE460-84F9-43C8-BA32-3A99CB7437CF}" type="slidenum">
              <a:rPr b="0" lang="it-IT" sz="1200" strike="noStrike" u="none">
                <a:solidFill>
                  <a:srgbClr val="898989"/>
                </a:solidFill>
                <a:effectLst/>
                <a:uFillTx/>
                <a:latin typeface="Calibri"/>
              </a:rPr>
              <a:t>&lt;number&gt;</a:t>
            </a:fld>
            <a:endParaRPr b="0" lang="en-US" sz="1200" strike="noStrike" u="none">
              <a:solidFill>
                <a:srgbClr val="000000"/>
              </a:solidFill>
              <a:effectLst/>
              <a:uFillTx/>
              <a:latin typeface="Calibri"/>
            </a:endParaRPr>
          </a:p>
        </p:txBody>
      </p:sp>
      <p:sp>
        <p:nvSpPr>
          <p:cNvPr id="105" name="Footer Placeholder 32"/>
          <p:cNvSpPr/>
          <p:nvPr/>
        </p:nvSpPr>
        <p:spPr>
          <a:xfrm>
            <a:off x="3124080" y="6356520"/>
            <a:ext cx="2895840" cy="36504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898989"/>
                </a:solidFill>
                <a:effectLst/>
                <a:uFillTx/>
                <a:latin typeface="Calibri"/>
              </a:rPr>
              <a:t>Author: Dr. Cancellieri Carlo</a:t>
            </a:r>
            <a:endParaRPr b="0" lang="en-US" sz="12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timing>
    <p:tnLst>
      <p:par>
        <p:cTn id="112" dur="indefinite" restart="never" nodeType="tmRoot">
          <p:childTnLst>
            <p:seq>
              <p:cTn id="113" dur="indefinite" nodeType="mainSeq">
                <p:childTnLst>
                  <p:par>
                    <p:cTn id="114" fill="hold">
                      <p:stCondLst>
                        <p:cond delay="0"/>
                      </p:stCondLst>
                      <p:childTnLst>
                        <p:par>
                          <p:cTn id="115" fill="hold">
                            <p:stCondLst>
                              <p:cond delay="0"/>
                            </p:stCondLst>
                            <p:childTnLst>
                              <p:par>
                                <p:cTn id="116" nodeType="afterEffect" fill="hold" presetClass="entr" presetID="1">
                                  <p:stCondLst>
                                    <p:cond delay="0"/>
                                  </p:stCondLst>
                                  <p:childTnLst>
                                    <p:set>
                                      <p:cBhvr>
                                        <p:cTn id="117" dur="1" fill="hold">
                                          <p:stCondLst>
                                            <p:cond delay="0"/>
                                          </p:stCondLst>
                                        </p:cTn>
                                        <p:tgtEl>
                                          <p:spTgt spid="76"/>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nodeType="clickEffect" fill="hold" presetClass="entr" presetID="1">
                                  <p:stCondLst>
                                    <p:cond delay="0"/>
                                  </p:stCondLst>
                                  <p:childTnLst>
                                    <p:set>
                                      <p:cBhvr>
                                        <p:cTn id="121" dur="1" fill="hold">
                                          <p:stCondLst>
                                            <p:cond delay="0"/>
                                          </p:stCondLst>
                                        </p:cTn>
                                        <p:tgtEl>
                                          <p:spTgt spid="78"/>
                                        </p:tgtEl>
                                        <p:attrNameLst>
                                          <p:attrName>style.visibility</p:attrName>
                                        </p:attrNameLst>
                                      </p:cBhvr>
                                      <p:to>
                                        <p:strVal val="visible"/>
                                      </p:to>
                                    </p:set>
                                  </p:childTnLst>
                                </p:cTn>
                              </p:par>
                              <p:par>
                                <p:cTn id="122" nodeType="withEffect" fill="hold" presetClass="entr" presetID="1">
                                  <p:stCondLst>
                                    <p:cond delay="0"/>
                                  </p:stCondLst>
                                  <p:childTnLst>
                                    <p:set>
                                      <p:cBhvr>
                                        <p:cTn id="123" dur="1" fill="hold">
                                          <p:stCondLst>
                                            <p:cond delay="0"/>
                                          </p:stCondLst>
                                        </p:cTn>
                                        <p:tgtEl>
                                          <p:spTgt spid="90"/>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nodeType="clickEffect" fill="hold" presetClass="exit" presetID="1">
                                  <p:stCondLst>
                                    <p:cond delay="0"/>
                                  </p:stCondLst>
                                  <p:childTnLst>
                                    <p:set>
                                      <p:cBhvr>
                                        <p:cTn id="127" dur="1" fill="hold">
                                          <p:stCondLst>
                                            <p:cond delay="0"/>
                                          </p:stCondLst>
                                        </p:cTn>
                                        <p:tgtEl>
                                          <p:spTgt spid="90"/>
                                        </p:tgtEl>
                                        <p:attrNameLst>
                                          <p:attrName>style.visibility</p:attrName>
                                        </p:attrNameLst>
                                      </p:cBhvr>
                                      <p:to>
                                        <p:strVal val="hidden"/>
                                      </p:to>
                                    </p:set>
                                  </p:childTnLst>
                                </p:cTn>
                              </p:par>
                              <p:par>
                                <p:cTn id="128" nodeType="withEffect" fill="hold" presetClass="entr" presetID="1">
                                  <p:stCondLst>
                                    <p:cond delay="0"/>
                                  </p:stCondLst>
                                  <p:childTnLst>
                                    <p:set>
                                      <p:cBhvr>
                                        <p:cTn id="129" dur="1" fill="hold">
                                          <p:stCondLst>
                                            <p:cond delay="0"/>
                                          </p:stCondLst>
                                        </p:cTn>
                                        <p:tgtEl>
                                          <p:spTgt spid="99"/>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nodeType="clickEffect" fill="hold" presetClass="exit" presetID="1">
                                  <p:stCondLst>
                                    <p:cond delay="0"/>
                                  </p:stCondLst>
                                  <p:childTnLst>
                                    <p:set>
                                      <p:cBhvr>
                                        <p:cTn id="133" dur="1" fill="hold">
                                          <p:stCondLst>
                                            <p:cond delay="0"/>
                                          </p:stCondLst>
                                        </p:cTn>
                                        <p:tgtEl>
                                          <p:spTgt spid="99"/>
                                        </p:tgtEl>
                                        <p:attrNameLst>
                                          <p:attrName>style.visibility</p:attrName>
                                        </p:attrNameLst>
                                      </p:cBhvr>
                                      <p:to>
                                        <p:strVal val="hidden"/>
                                      </p:to>
                                    </p:set>
                                  </p:childTnLst>
                                </p:cTn>
                              </p:par>
                              <p:par>
                                <p:cTn id="134" nodeType="withEffect" fill="hold" presetClass="entr" presetID="1">
                                  <p:stCondLst>
                                    <p:cond delay="0"/>
                                  </p:stCondLst>
                                  <p:childTnLst>
                                    <p:set>
                                      <p:cBhvr>
                                        <p:cTn id="135" dur="1" fill="hold">
                                          <p:stCondLst>
                                            <p:cond delay="0"/>
                                          </p:stCondLst>
                                        </p:cTn>
                                        <p:tgtEl>
                                          <p:spTgt spid="85"/>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nodeType="clickEffect" fill="hold" presetClass="exit" presetID="1">
                                  <p:stCondLst>
                                    <p:cond delay="0"/>
                                  </p:stCondLst>
                                  <p:childTnLst>
                                    <p:set>
                                      <p:cBhvr>
                                        <p:cTn id="139" dur="1" fill="hold">
                                          <p:stCondLst>
                                            <p:cond delay="0"/>
                                          </p:stCondLst>
                                        </p:cTn>
                                        <p:tgtEl>
                                          <p:spTgt spid="85"/>
                                        </p:tgtEl>
                                        <p:attrNameLst>
                                          <p:attrName>style.visibility</p:attrName>
                                        </p:attrNameLst>
                                      </p:cBhvr>
                                      <p:to>
                                        <p:strVal val="hidden"/>
                                      </p:to>
                                    </p:set>
                                  </p:childTnLst>
                                </p:cTn>
                              </p:par>
                              <p:par>
                                <p:cTn id="140" nodeType="withEffect" fill="hold" presetClass="exit" presetID="1">
                                  <p:stCondLst>
                                    <p:cond delay="0"/>
                                  </p:stCondLst>
                                  <p:childTnLst>
                                    <p:set>
                                      <p:cBhvr>
                                        <p:cTn id="141" dur="1" fill="hold">
                                          <p:stCondLst>
                                            <p:cond delay="0"/>
                                          </p:stCondLst>
                                        </p:cTn>
                                        <p:tgtEl>
                                          <p:spTgt spid="78"/>
                                        </p:tgtEl>
                                        <p:attrNameLst>
                                          <p:attrName>style.visibility</p:attrName>
                                        </p:attrNameLst>
                                      </p:cBhvr>
                                      <p:to>
                                        <p:strVal val="hidden"/>
                                      </p:to>
                                    </p:set>
                                  </p:childTnLst>
                                </p:cTn>
                              </p:par>
                              <p:par>
                                <p:cTn id="142" nodeType="withEffect" fill="hold" presetClass="entr" presetID="3" presetSubtype="10">
                                  <p:stCondLst>
                                    <p:cond delay="0"/>
                                  </p:stCondLst>
                                  <p:childTnLst>
                                    <p:set>
                                      <p:cBhvr>
                                        <p:cTn id="143" dur="1" fill="hold">
                                          <p:stCondLst>
                                            <p:cond delay="0"/>
                                          </p:stCondLst>
                                        </p:cTn>
                                        <p:tgtEl>
                                          <p:spTgt spid="94"/>
                                        </p:tgtEl>
                                        <p:attrNameLst>
                                          <p:attrName>style.visibility</p:attrName>
                                        </p:attrNameLst>
                                      </p:cBhvr>
                                      <p:to>
                                        <p:strVal val="visible"/>
                                      </p:to>
                                    </p:set>
                                    <p:animEffect filter="blinds(horizontal)" transition="in">
                                      <p:cBhvr additive="repl">
                                        <p:cTn id="144" dur="500"/>
                                        <p:tgtEl>
                                          <p:spTgt spid="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685800" y="0"/>
            <a:ext cx="7772400" cy="9907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SQLCacheManager</a:t>
            </a:r>
            <a:endParaRPr b="0" lang="en-US" sz="4400" strike="noStrike" u="none">
              <a:solidFill>
                <a:srgbClr val="000000"/>
              </a:solidFill>
              <a:effectLst/>
              <a:uFillTx/>
              <a:latin typeface="Calibri"/>
            </a:endParaRPr>
          </a:p>
        </p:txBody>
      </p:sp>
      <p:sp>
        <p:nvSpPr>
          <p:cNvPr id="107" name="Rectangle 15"/>
          <p:cNvSpPr/>
          <p:nvPr/>
        </p:nvSpPr>
        <p:spPr>
          <a:xfrm>
            <a:off x="214200" y="928800"/>
            <a:ext cx="8715600" cy="5643360"/>
          </a:xfrm>
          <a:prstGeom prst="rect">
            <a:avLst/>
          </a:prstGeom>
          <a:solidFill>
            <a:srgbClr val="ffffff"/>
          </a:solidFill>
          <a:ln w="25560">
            <a:solidFill>
              <a:srgbClr val="9bbb59"/>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Once called, each ‘</a:t>
            </a:r>
            <a:r>
              <a:rPr b="1" lang="en-US" sz="1600" strike="noStrike" u="none">
                <a:solidFill>
                  <a:srgbClr val="000000"/>
                </a:solidFill>
                <a:effectLst/>
                <a:uFillTx/>
                <a:latin typeface="Calibri"/>
              </a:rPr>
              <a:t>fill_xxx_func</a:t>
            </a:r>
            <a:r>
              <a:rPr b="0" lang="en-US" sz="1600" strike="noStrike" u="none">
                <a:solidFill>
                  <a:srgbClr val="000000"/>
                </a:solidFill>
                <a:effectLst/>
                <a:uFillTx/>
                <a:latin typeface="Calibri"/>
              </a:rPr>
              <a:t>’ of  the </a:t>
            </a:r>
            <a:r>
              <a:rPr b="1" lang="en-US" sz="1600" strike="noStrike" u="none">
                <a:solidFill>
                  <a:srgbClr val="000000"/>
                </a:solidFill>
                <a:effectLst/>
                <a:uFillTx/>
                <a:latin typeface="Calibri"/>
              </a:rPr>
              <a:t>SQLRequestHandler </a:t>
            </a:r>
            <a:r>
              <a:rPr b="0" lang="en-US" sz="1600" strike="noStrike" u="none">
                <a:solidFill>
                  <a:srgbClr val="000000"/>
                </a:solidFill>
                <a:effectLst/>
                <a:uFillTx/>
                <a:latin typeface="Calibri"/>
              </a:rPr>
              <a:t>which call the </a:t>
            </a:r>
            <a:r>
              <a:rPr b="1" lang="en-US" sz="1600" strike="noStrike" u="none">
                <a:solidFill>
                  <a:srgbClr val="000000"/>
                </a:solidFill>
                <a:effectLst/>
                <a:uFillTx/>
                <a:latin typeface="Calibri"/>
              </a:rPr>
              <a:t>SQLResponseHandler</a:t>
            </a:r>
            <a:r>
              <a:rPr b="0" lang="en-US" sz="1600" strike="noStrike" u="none">
                <a:solidFill>
                  <a:srgbClr val="000000"/>
                </a:solidFill>
                <a:effectLst/>
                <a:uFillTx/>
                <a:latin typeface="Calibri"/>
              </a:rPr>
              <a:t>.</a:t>
            </a:r>
            <a:endParaRPr b="0" lang="en-US" sz="16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This is the central point of the SQL Handler  from which decide </a:t>
            </a:r>
            <a:endParaRPr b="0" lang="en-US" sz="16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what component should be activated.</a:t>
            </a:r>
            <a:endParaRPr b="0" lang="en-US" sz="1600" strike="noStrike" u="none">
              <a:solidFill>
                <a:srgbClr val="000000"/>
              </a:solidFill>
              <a:effectLst/>
              <a:uFillTx/>
              <a:latin typeface="Calibri"/>
            </a:endParaRPr>
          </a:p>
        </p:txBody>
      </p:sp>
      <p:sp>
        <p:nvSpPr>
          <p:cNvPr id="108" name="Rectangle 15"/>
          <p:cNvSpPr/>
          <p:nvPr/>
        </p:nvSpPr>
        <p:spPr>
          <a:xfrm>
            <a:off x="785880" y="3571920"/>
            <a:ext cx="2428920" cy="6429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SQLRequestHandler</a:t>
            </a:r>
            <a:endParaRPr b="0" lang="en-US" sz="18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Activate the Handler</a:t>
            </a:r>
            <a:endParaRPr b="0" lang="en-US" sz="1200" strike="noStrike" u="none">
              <a:solidFill>
                <a:srgbClr val="000000"/>
              </a:solidFill>
              <a:effectLst/>
              <a:uFillTx/>
              <a:latin typeface="Calibri"/>
            </a:endParaRPr>
          </a:p>
        </p:txBody>
      </p:sp>
      <p:sp>
        <p:nvSpPr>
          <p:cNvPr id="109" name="Rectangle 15"/>
          <p:cNvSpPr/>
          <p:nvPr/>
        </p:nvSpPr>
        <p:spPr>
          <a:xfrm>
            <a:off x="6000840" y="3429000"/>
            <a:ext cx="2419200" cy="9288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SQLCacheManager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Manage data storage (to DB and files)</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and retrieval from (db and files)</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a:t>
            </a:r>
            <a:r>
              <a:rPr b="1" lang="en-US" sz="1200" strike="noStrike" u="none">
                <a:solidFill>
                  <a:srgbClr val="000000"/>
                </a:solidFill>
                <a:effectLst/>
                <a:uFillTx/>
                <a:latin typeface="Calibri"/>
              </a:rPr>
              <a:t>cache</a:t>
            </a:r>
            <a:r>
              <a:rPr b="0" lang="en-US" sz="1200" strike="noStrike" u="none">
                <a:solidFill>
                  <a:srgbClr val="000000"/>
                </a:solidFill>
                <a:effectLst/>
                <a:uFillTx/>
                <a:latin typeface="Calibri"/>
              </a:rPr>
              <a:t>(SQLDefinition* definition)</a:t>
            </a:r>
            <a:endParaRPr b="0" lang="en-US" sz="1200" strike="noStrike" u="none">
              <a:solidFill>
                <a:srgbClr val="000000"/>
              </a:solidFill>
              <a:effectLst/>
              <a:uFillTx/>
              <a:latin typeface="Calibri"/>
            </a:endParaRPr>
          </a:p>
        </p:txBody>
      </p:sp>
      <p:sp>
        <p:nvSpPr>
          <p:cNvPr id="110" name="Rectangle 24"/>
          <p:cNvSpPr/>
          <p:nvPr/>
        </p:nvSpPr>
        <p:spPr>
          <a:xfrm>
            <a:off x="500040" y="1857240"/>
            <a:ext cx="2428920" cy="304920"/>
          </a:xfrm>
          <a:prstGeom prst="rect">
            <a:avLst/>
          </a:prstGeom>
          <a:solidFill>
            <a:srgbClr val="ffffff"/>
          </a:solidFill>
          <a:ln w="25560">
            <a:solidFill>
              <a:srgbClr val="4f81bd"/>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Get </a:t>
            </a:r>
            <a:r>
              <a:rPr b="0" lang="en-US" sz="1800" strike="noStrike" u="none">
                <a:solidFill>
                  <a:srgbClr val="ff0000"/>
                </a:solidFill>
                <a:effectLst/>
                <a:uFillTx/>
                <a:latin typeface="Calibri"/>
              </a:rPr>
              <a:t>XXX</a:t>
            </a:r>
            <a:r>
              <a:rPr b="0" lang="en-US" sz="1800" strike="noStrike" u="none">
                <a:solidFill>
                  <a:srgbClr val="000000"/>
                </a:solidFill>
                <a:effectLst/>
                <a:uFillTx/>
                <a:latin typeface="Calibri"/>
              </a:rPr>
              <a:t> for </a:t>
            </a:r>
            <a:r>
              <a:rPr b="0" lang="en-US" sz="1800" strike="noStrike" u="none">
                <a:solidFill>
                  <a:srgbClr val="ff0000"/>
                </a:solidFill>
                <a:effectLst/>
                <a:uFillTx/>
                <a:latin typeface="Calibri"/>
              </a:rPr>
              <a:t>DEFINITION</a:t>
            </a:r>
            <a:endParaRPr b="0" lang="en-US" sz="1800" strike="noStrike" u="none">
              <a:solidFill>
                <a:srgbClr val="000000"/>
              </a:solidFill>
              <a:effectLst/>
              <a:uFillTx/>
              <a:latin typeface="Calibri"/>
            </a:endParaRPr>
          </a:p>
        </p:txBody>
      </p:sp>
      <p:grpSp>
        <p:nvGrpSpPr>
          <p:cNvPr id="111" name="Group 47"/>
          <p:cNvGrpSpPr/>
          <p:nvPr/>
        </p:nvGrpSpPr>
        <p:grpSpPr>
          <a:xfrm>
            <a:off x="556920" y="2161800"/>
            <a:ext cx="1157760" cy="1732320"/>
            <a:chOff x="556920" y="2161800"/>
            <a:chExt cx="1157760" cy="1732320"/>
          </a:xfrm>
        </p:grpSpPr>
        <p:cxnSp>
          <p:nvCxnSpPr>
            <p:cNvPr id="112" name="Shape 24"/>
            <p:cNvCxnSpPr>
              <a:stCxn id="110" idx="2"/>
              <a:endCxn id="108" idx="1"/>
            </p:cNvCxnSpPr>
            <p:nvPr/>
          </p:nvCxnSpPr>
          <p:spPr>
            <a:xfrm rot="5400000">
              <a:off x="383760" y="2563560"/>
              <a:ext cx="1732680" cy="929520"/>
            </a:xfrm>
            <a:prstGeom prst="bentConnector4">
              <a:avLst>
                <a:gd name="adj1" fmla="val 40710"/>
                <a:gd name="adj2" fmla="val 124602"/>
              </a:avLst>
            </a:prstGeom>
            <a:ln w="25560">
              <a:solidFill>
                <a:srgbClr val="c0504d"/>
              </a:solidFill>
              <a:miter/>
              <a:tailEnd len="med" type="arrow" w="med"/>
            </a:ln>
          </p:spPr>
        </p:cxnSp>
        <p:sp>
          <p:nvSpPr>
            <p:cNvPr id="113" name="TextBox 41"/>
            <p:cNvSpPr/>
            <p:nvPr/>
          </p:nvSpPr>
          <p:spPr>
            <a:xfrm>
              <a:off x="1071720" y="2571480"/>
              <a:ext cx="6429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c0504d"/>
                  </a:solidFill>
                  <a:effectLst/>
                  <a:uFillTx/>
                  <a:latin typeface="Calibri"/>
                </a:rPr>
                <a:t>CALL</a:t>
              </a:r>
              <a:endParaRPr b="0" lang="en-US" sz="1200" strike="noStrike" u="none">
                <a:solidFill>
                  <a:srgbClr val="000000"/>
                </a:solidFill>
                <a:effectLst/>
                <a:uFillTx/>
                <a:latin typeface="Calibri"/>
              </a:endParaRPr>
            </a:p>
          </p:txBody>
        </p:sp>
      </p:grpSp>
      <p:sp>
        <p:nvSpPr>
          <p:cNvPr id="114" name="Rectangle 15"/>
          <p:cNvSpPr/>
          <p:nvPr/>
        </p:nvSpPr>
        <p:spPr>
          <a:xfrm>
            <a:off x="5857920" y="5429160"/>
            <a:ext cx="2714760" cy="9288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Calibri"/>
              </a:rPr>
              <a:t>SQLDefinitionStorage</a:t>
            </a:r>
            <a:endParaRPr b="0" lang="en-US" sz="18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Store/retrieve definitions  as SQL VIEW </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into/from referred (by each definition) DB</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a:t>
            </a:r>
            <a:r>
              <a:rPr b="1" lang="en-US" sz="1200" strike="noStrike" u="none">
                <a:solidFill>
                  <a:srgbClr val="000000"/>
                </a:solidFill>
                <a:effectLst/>
                <a:uFillTx/>
                <a:latin typeface="Calibri"/>
              </a:rPr>
              <a:t>check</a:t>
            </a:r>
            <a:r>
              <a:rPr b="0" lang="en-US" sz="1200" strike="noStrike" u="none">
                <a:solidFill>
                  <a:srgbClr val="000000"/>
                </a:solidFill>
                <a:effectLst/>
                <a:uFillTx/>
                <a:latin typeface="Calibri"/>
              </a:rPr>
              <a:t>( const string &amp; name)</a:t>
            </a:r>
            <a:endParaRPr b="0" lang="en-US" sz="1200" strike="noStrike" u="none">
              <a:solidFill>
                <a:srgbClr val="000000"/>
              </a:solidFill>
              <a:effectLst/>
              <a:uFillTx/>
              <a:latin typeface="Calibri"/>
            </a:endParaRPr>
          </a:p>
        </p:txBody>
      </p:sp>
      <p:grpSp>
        <p:nvGrpSpPr>
          <p:cNvPr id="115" name="Group 61"/>
          <p:cNvGrpSpPr/>
          <p:nvPr/>
        </p:nvGrpSpPr>
        <p:grpSpPr>
          <a:xfrm>
            <a:off x="1999080" y="2714760"/>
            <a:ext cx="5210640" cy="856800"/>
            <a:chOff x="1999080" y="2714760"/>
            <a:chExt cx="5210640" cy="856800"/>
          </a:xfrm>
        </p:grpSpPr>
        <p:grpSp>
          <p:nvGrpSpPr>
            <p:cNvPr id="116" name="Group 48"/>
            <p:cNvGrpSpPr/>
            <p:nvPr/>
          </p:nvGrpSpPr>
          <p:grpSpPr>
            <a:xfrm>
              <a:off x="1999080" y="3199320"/>
              <a:ext cx="5210640" cy="372240"/>
              <a:chOff x="1999080" y="3199320"/>
              <a:chExt cx="5210640" cy="372240"/>
            </a:xfrm>
          </p:grpSpPr>
          <p:cxnSp>
            <p:nvCxnSpPr>
              <p:cNvPr id="117" name="Shape 64"/>
              <p:cNvCxnSpPr>
                <a:stCxn id="108" idx="0"/>
                <a:endCxn id="109" idx="0"/>
              </p:cNvCxnSpPr>
              <p:nvPr/>
            </p:nvCxnSpPr>
            <p:spPr>
              <a:xfrm flipH="1" flipV="1" rot="5400000">
                <a:off x="4532760" y="894600"/>
                <a:ext cx="143640" cy="5211000"/>
              </a:xfrm>
              <a:prstGeom prst="bentConnector3">
                <a:avLst>
                  <a:gd name="adj1" fmla="val 259798"/>
                </a:avLst>
              </a:prstGeom>
              <a:ln w="25560">
                <a:solidFill>
                  <a:srgbClr val="c0504d"/>
                </a:solidFill>
                <a:miter/>
                <a:tailEnd len="med" type="arrow" w="med"/>
              </a:ln>
            </p:spPr>
          </p:cxnSp>
          <p:sp>
            <p:nvSpPr>
              <p:cNvPr id="118" name="TextBox 65"/>
              <p:cNvSpPr/>
              <p:nvPr/>
            </p:nvSpPr>
            <p:spPr>
              <a:xfrm>
                <a:off x="3786120" y="3286080"/>
                <a:ext cx="221472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000000"/>
                    </a:solidFill>
                    <a:effectLst/>
                    <a:uFillTx/>
                    <a:latin typeface="Calibri"/>
                  </a:rPr>
                  <a:t>Check for cached information</a:t>
                </a:r>
                <a:endParaRPr b="0" lang="en-US" sz="1200" strike="noStrike" u="none">
                  <a:solidFill>
                    <a:srgbClr val="000000"/>
                  </a:solidFill>
                  <a:effectLst/>
                  <a:uFillTx/>
                  <a:latin typeface="Calibri"/>
                </a:endParaRPr>
              </a:p>
            </p:txBody>
          </p:sp>
        </p:grpSp>
        <p:sp>
          <p:nvSpPr>
            <p:cNvPr id="119" name="TextBox 63"/>
            <p:cNvSpPr/>
            <p:nvPr/>
          </p:nvSpPr>
          <p:spPr>
            <a:xfrm>
              <a:off x="5143680" y="2714760"/>
              <a:ext cx="6429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c0504d"/>
                  </a:solidFill>
                  <a:effectLst/>
                  <a:uFillTx/>
                  <a:latin typeface="Calibri"/>
                </a:rPr>
                <a:t>CALL</a:t>
              </a:r>
              <a:endParaRPr b="0" lang="en-US" sz="1200" strike="noStrike" u="none">
                <a:solidFill>
                  <a:srgbClr val="000000"/>
                </a:solidFill>
                <a:effectLst/>
                <a:uFillTx/>
                <a:latin typeface="Calibri"/>
              </a:endParaRPr>
            </a:p>
          </p:txBody>
        </p:sp>
      </p:grpSp>
      <p:grpSp>
        <p:nvGrpSpPr>
          <p:cNvPr id="120" name="Group 72"/>
          <p:cNvGrpSpPr/>
          <p:nvPr/>
        </p:nvGrpSpPr>
        <p:grpSpPr>
          <a:xfrm>
            <a:off x="5629320" y="3893760"/>
            <a:ext cx="1085760" cy="2000520"/>
            <a:chOff x="5629320" y="3893760"/>
            <a:chExt cx="1085760" cy="2000520"/>
          </a:xfrm>
        </p:grpSpPr>
        <p:sp>
          <p:nvSpPr>
            <p:cNvPr id="121" name="TextBox 73"/>
            <p:cNvSpPr/>
            <p:nvPr/>
          </p:nvSpPr>
          <p:spPr>
            <a:xfrm>
              <a:off x="5857920" y="4645080"/>
              <a:ext cx="8571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9bbb59"/>
                  </a:solidFill>
                  <a:effectLst/>
                  <a:uFillTx/>
                  <a:latin typeface="Calibri"/>
                </a:rPr>
                <a:t>RETURN</a:t>
              </a:r>
              <a:endParaRPr b="0" lang="en-US" sz="1200" strike="noStrike" u="none">
                <a:solidFill>
                  <a:srgbClr val="000000"/>
                </a:solidFill>
                <a:effectLst/>
                <a:uFillTx/>
                <a:latin typeface="Calibri"/>
              </a:endParaRPr>
            </a:p>
          </p:txBody>
        </p:sp>
        <p:cxnSp>
          <p:nvCxnSpPr>
            <p:cNvPr id="122" name="Shape 74"/>
            <p:cNvCxnSpPr>
              <a:stCxn id="114" idx="1"/>
              <a:endCxn id="109" idx="1"/>
            </p:cNvCxnSpPr>
            <p:nvPr/>
          </p:nvCxnSpPr>
          <p:spPr>
            <a:xfrm flipH="1" rot="10800000">
              <a:off x="5857560" y="3893400"/>
              <a:ext cx="143280" cy="2000880"/>
            </a:xfrm>
            <a:prstGeom prst="bentConnector3">
              <a:avLst>
                <a:gd name="adj1" fmla="val -159949"/>
              </a:avLst>
            </a:prstGeom>
            <a:ln w="25560">
              <a:solidFill>
                <a:srgbClr val="9bbb59"/>
              </a:solidFill>
              <a:miter/>
              <a:tailEnd len="med" type="arrow" w="med"/>
            </a:ln>
          </p:spPr>
        </p:cxnSp>
      </p:grpSp>
      <p:grpSp>
        <p:nvGrpSpPr>
          <p:cNvPr id="123" name="Group 81"/>
          <p:cNvGrpSpPr/>
          <p:nvPr/>
        </p:nvGrpSpPr>
        <p:grpSpPr>
          <a:xfrm>
            <a:off x="6500880" y="3894120"/>
            <a:ext cx="2214360" cy="1535400"/>
            <a:chOff x="6500880" y="3894120"/>
            <a:chExt cx="2214360" cy="1535400"/>
          </a:xfrm>
        </p:grpSpPr>
        <p:grpSp>
          <p:nvGrpSpPr>
            <p:cNvPr id="124" name="Group 48"/>
            <p:cNvGrpSpPr/>
            <p:nvPr/>
          </p:nvGrpSpPr>
          <p:grpSpPr>
            <a:xfrm>
              <a:off x="6500880" y="3894120"/>
              <a:ext cx="2214360" cy="1535400"/>
              <a:chOff x="6500880" y="3894120"/>
              <a:chExt cx="2214360" cy="1535400"/>
            </a:xfrm>
          </p:grpSpPr>
          <p:cxnSp>
            <p:nvCxnSpPr>
              <p:cNvPr id="125" name="Shape 84"/>
              <p:cNvCxnSpPr>
                <a:stCxn id="109" idx="3"/>
                <a:endCxn id="114" idx="0"/>
              </p:cNvCxnSpPr>
              <p:nvPr/>
            </p:nvCxnSpPr>
            <p:spPr>
              <a:xfrm flipH="1">
                <a:off x="7214400" y="3894120"/>
                <a:ext cx="1205640" cy="1535760"/>
              </a:xfrm>
              <a:prstGeom prst="bentConnector4">
                <a:avLst>
                  <a:gd name="adj1" fmla="val -18966"/>
                  <a:gd name="adj2" fmla="val 65111"/>
                </a:avLst>
              </a:prstGeom>
              <a:ln w="25560">
                <a:solidFill>
                  <a:srgbClr val="c0504d"/>
                </a:solidFill>
                <a:miter/>
                <a:tailEnd len="med" type="arrow" w="med"/>
              </a:ln>
            </p:spPr>
          </p:cxnSp>
          <p:sp>
            <p:nvSpPr>
              <p:cNvPr id="126" name="TextBox 85"/>
              <p:cNvSpPr/>
              <p:nvPr/>
            </p:nvSpPr>
            <p:spPr>
              <a:xfrm>
                <a:off x="6500880" y="4429440"/>
                <a:ext cx="2214360" cy="4597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000000"/>
                    </a:solidFill>
                    <a:effectLst/>
                    <a:uFillTx/>
                    <a:latin typeface="Calibri"/>
                  </a:rPr>
                  <a:t>Check for stored information on cached data</a:t>
                </a:r>
                <a:endParaRPr b="0" lang="en-US" sz="1200" strike="noStrike" u="none">
                  <a:solidFill>
                    <a:srgbClr val="000000"/>
                  </a:solidFill>
                  <a:effectLst/>
                  <a:uFillTx/>
                  <a:latin typeface="Calibri"/>
                </a:endParaRPr>
              </a:p>
            </p:txBody>
          </p:sp>
        </p:grpSp>
        <p:sp>
          <p:nvSpPr>
            <p:cNvPr id="127" name="TextBox 83"/>
            <p:cNvSpPr/>
            <p:nvPr/>
          </p:nvSpPr>
          <p:spPr>
            <a:xfrm>
              <a:off x="7286400" y="4929120"/>
              <a:ext cx="6429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c0504d"/>
                  </a:solidFill>
                  <a:effectLst/>
                  <a:uFillTx/>
                  <a:latin typeface="Calibri"/>
                </a:rPr>
                <a:t>CALL</a:t>
              </a:r>
              <a:endParaRPr b="0" lang="en-US" sz="1200" strike="noStrike" u="none">
                <a:solidFill>
                  <a:srgbClr val="000000"/>
                </a:solidFill>
                <a:effectLst/>
                <a:uFillTx/>
                <a:latin typeface="Calibri"/>
              </a:endParaRPr>
            </a:p>
          </p:txBody>
        </p:sp>
      </p:grpSp>
      <p:cxnSp>
        <p:nvCxnSpPr>
          <p:cNvPr id="128" name="Shape 74"/>
          <p:cNvCxnSpPr>
            <a:stCxn id="109" idx="1"/>
            <a:endCxn id="108" idx="3"/>
          </p:cNvCxnSpPr>
          <p:nvPr/>
        </p:nvCxnSpPr>
        <p:spPr>
          <a:xfrm rot="10800000">
            <a:off x="3214080" y="3893400"/>
            <a:ext cx="2786760" cy="2160"/>
          </a:xfrm>
          <a:prstGeom prst="bentConnector3">
            <a:avLst>
              <a:gd name="adj1" fmla="val 50000"/>
            </a:avLst>
          </a:prstGeom>
          <a:ln w="25560">
            <a:solidFill>
              <a:srgbClr val="9bbb59"/>
            </a:solidFill>
            <a:miter/>
            <a:tailEnd len="med" type="arrow" w="med"/>
          </a:ln>
        </p:spPr>
      </p:cxnSp>
      <p:sp>
        <p:nvSpPr>
          <p:cNvPr id="129" name="TextBox 103"/>
          <p:cNvSpPr/>
          <p:nvPr/>
        </p:nvSpPr>
        <p:spPr>
          <a:xfrm>
            <a:off x="3500280" y="3967200"/>
            <a:ext cx="2071800" cy="459720"/>
          </a:xfrm>
          <a:prstGeom prst="rect">
            <a:avLst/>
          </a:prstGeom>
          <a:solidFill>
            <a:srgbClr val="9bbb59"/>
          </a:solidFill>
          <a:ln w="25560">
            <a:solidFill>
              <a:srgbClr val="71893f"/>
            </a:solidFill>
            <a:miter/>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ffffff"/>
                </a:solidFill>
                <a:effectLst/>
                <a:uFillTx/>
                <a:latin typeface="Calibri"/>
              </a:rPr>
              <a:t>If return is a </a:t>
            </a:r>
            <a:r>
              <a:rPr b="1" lang="it-IT" sz="1200" strike="noStrike" u="none">
                <a:solidFill>
                  <a:srgbClr val="ffffff"/>
                </a:solidFill>
                <a:effectLst/>
                <a:uFillTx/>
                <a:latin typeface="Calibri"/>
              </a:rPr>
              <a:t>NotNull</a:t>
            </a:r>
            <a:r>
              <a:rPr b="0" lang="it-IT" sz="1200" strike="noStrike" u="none">
                <a:solidFill>
                  <a:srgbClr val="ffffff"/>
                </a:solidFill>
                <a:effectLst/>
                <a:uFillTx/>
                <a:latin typeface="Calibri"/>
              </a:rPr>
              <a:t>  </a:t>
            </a:r>
            <a:r>
              <a:rPr b="1" lang="it-IT" sz="1200" strike="noStrike" u="none">
                <a:solidFill>
                  <a:srgbClr val="ffffff"/>
                </a:solidFill>
                <a:effectLst/>
                <a:uFillTx/>
                <a:latin typeface="Calibri"/>
              </a:rPr>
              <a:t>BESResponseObject </a:t>
            </a:r>
            <a:r>
              <a:rPr b="0" lang="it-IT" sz="1200" strike="noStrike" u="none">
                <a:solidFill>
                  <a:srgbClr val="ffffff"/>
                </a:solidFill>
                <a:effectLst/>
                <a:uFillTx/>
                <a:latin typeface="Calibri"/>
              </a:rPr>
              <a:t>with data</a:t>
            </a:r>
            <a:endParaRPr b="0" lang="en-US" sz="1200" strike="noStrike" u="none">
              <a:solidFill>
                <a:srgbClr val="000000"/>
              </a:solidFill>
              <a:effectLst/>
              <a:uFillTx/>
              <a:latin typeface="Calibri"/>
            </a:endParaRPr>
          </a:p>
        </p:txBody>
      </p:sp>
      <p:grpSp>
        <p:nvGrpSpPr>
          <p:cNvPr id="130" name="Group 124"/>
          <p:cNvGrpSpPr/>
          <p:nvPr/>
        </p:nvGrpSpPr>
        <p:grpSpPr>
          <a:xfrm>
            <a:off x="270720" y="2009160"/>
            <a:ext cx="1729080" cy="2768400"/>
            <a:chOff x="270720" y="2009160"/>
            <a:chExt cx="1729080" cy="2768400"/>
          </a:xfrm>
        </p:grpSpPr>
        <p:sp>
          <p:nvSpPr>
            <p:cNvPr id="131" name="TextBox 125"/>
            <p:cNvSpPr/>
            <p:nvPr/>
          </p:nvSpPr>
          <p:spPr>
            <a:xfrm>
              <a:off x="785520" y="4500720"/>
              <a:ext cx="857160" cy="276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1200" strike="noStrike" u="none">
                  <a:solidFill>
                    <a:srgbClr val="9bbb59"/>
                  </a:solidFill>
                  <a:effectLst/>
                  <a:uFillTx/>
                  <a:latin typeface="Calibri"/>
                </a:rPr>
                <a:t>RETURN</a:t>
              </a:r>
              <a:endParaRPr b="0" lang="en-US" sz="1200" strike="noStrike" u="none">
                <a:solidFill>
                  <a:srgbClr val="000000"/>
                </a:solidFill>
                <a:effectLst/>
                <a:uFillTx/>
                <a:latin typeface="Calibri"/>
              </a:endParaRPr>
            </a:p>
          </p:txBody>
        </p:sp>
        <p:cxnSp>
          <p:nvCxnSpPr>
            <p:cNvPr id="132" name="Shape 126"/>
            <p:cNvCxnSpPr>
              <a:stCxn id="108" idx="2"/>
              <a:endCxn id="110" idx="1"/>
            </p:cNvCxnSpPr>
            <p:nvPr/>
          </p:nvCxnSpPr>
          <p:spPr>
            <a:xfrm flipV="1" rot="16200000">
              <a:off x="146880" y="2361600"/>
              <a:ext cx="2205720" cy="1500840"/>
            </a:xfrm>
            <a:prstGeom prst="bentConnector4">
              <a:avLst>
                <a:gd name="adj1" fmla="val -10365"/>
                <a:gd name="adj2" fmla="val 115235"/>
              </a:avLst>
            </a:prstGeom>
            <a:ln w="25560">
              <a:solidFill>
                <a:srgbClr val="9bbb59"/>
              </a:solidFill>
              <a:miter/>
              <a:tailEnd len="med" type="arrow" w="med"/>
            </a:ln>
          </p:spPr>
        </p:cxnSp>
      </p:grpSp>
      <p:sp>
        <p:nvSpPr>
          <p:cNvPr id="133" name="Rectangle 15"/>
          <p:cNvSpPr/>
          <p:nvPr/>
        </p:nvSpPr>
        <p:spPr>
          <a:xfrm>
            <a:off x="785880" y="5286240"/>
            <a:ext cx="4357800" cy="357480"/>
          </a:xfrm>
          <a:prstGeom prst="rect">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Let’s see in detail what happens here</a:t>
            </a:r>
            <a:endParaRPr b="0" lang="en-US" sz="1800" strike="noStrike" u="none">
              <a:solidFill>
                <a:srgbClr val="000000"/>
              </a:solidFill>
              <a:effectLst/>
              <a:uFillTx/>
              <a:latin typeface="Calibri"/>
            </a:endParaRPr>
          </a:p>
        </p:txBody>
      </p:sp>
      <p:sp>
        <p:nvSpPr>
          <p:cNvPr id="134" name="Date Placeholder 29"/>
          <p:cNvSpPr/>
          <p:nvPr/>
        </p:nvSpPr>
        <p:spPr>
          <a:xfrm>
            <a:off x="457200" y="6356520"/>
            <a:ext cx="2133720" cy="365040"/>
          </a:xfrm>
          <a:prstGeom prst="rect">
            <a:avLst/>
          </a:prstGeom>
          <a:noFill/>
          <a:ln w="0">
            <a:noFill/>
          </a:ln>
        </p:spPr>
        <p:style>
          <a:lnRef idx="0"/>
          <a:fillRef idx="0"/>
          <a:effectRef idx="0"/>
          <a:fontRef idx="minor"/>
        </p:style>
        <p: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0D88E0E-E034-4B02-9BEB-A4D5389F76CE}" type="datetime">
              <a:rPr b="0" lang="en-US" sz="1200" strike="noStrike" u="none">
                <a:solidFill>
                  <a:srgbClr val="898989"/>
                </a:solidFill>
                <a:effectLst/>
                <a:uFillTx/>
                <a:latin typeface="Calibri"/>
              </a:rPr>
              <a:t>03/20/26</a:t>
            </a:fld>
            <a:endParaRPr b="0" lang="en-US" sz="1200" strike="noStrike" u="none">
              <a:solidFill>
                <a:srgbClr val="000000"/>
              </a:solidFill>
              <a:effectLst/>
              <a:uFillTx/>
              <a:latin typeface="Calibri"/>
            </a:endParaRPr>
          </a:p>
        </p:txBody>
      </p:sp>
      <p:sp>
        <p:nvSpPr>
          <p:cNvPr id="135" name="Slide Number Placeholder 30"/>
          <p:cNvSpPr/>
          <p:nvPr/>
        </p:nvSpPr>
        <p:spPr>
          <a:xfrm>
            <a:off x="6553080" y="6356520"/>
            <a:ext cx="2133720" cy="365040"/>
          </a:xfrm>
          <a:prstGeom prst="rect">
            <a:avLst/>
          </a:prstGeom>
          <a:noFill/>
          <a:ln w="0">
            <a:noFill/>
          </a:ln>
        </p:spPr>
        <p:style>
          <a:lnRef idx="0"/>
          <a:fillRef idx="0"/>
          <a:effectRef idx="0"/>
          <a:fontRef idx="minor"/>
        </p:style>
        <p: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C679A05-540D-4F53-9DAA-D57A31FF013E}" type="slidenum">
              <a:rPr b="0" lang="it-IT" sz="1200" strike="noStrike" u="none">
                <a:solidFill>
                  <a:srgbClr val="898989"/>
                </a:solidFill>
                <a:effectLst/>
                <a:uFillTx/>
                <a:latin typeface="Calibri"/>
              </a:rPr>
              <a:t>&lt;number&gt;</a:t>
            </a:fld>
            <a:endParaRPr b="0" lang="en-US" sz="1200" strike="noStrike" u="none">
              <a:solidFill>
                <a:srgbClr val="000000"/>
              </a:solidFill>
              <a:effectLst/>
              <a:uFillTx/>
              <a:latin typeface="Calibri"/>
            </a:endParaRPr>
          </a:p>
        </p:txBody>
      </p:sp>
      <p:sp>
        <p:nvSpPr>
          <p:cNvPr id="136" name="Footer Placeholder 31"/>
          <p:cNvSpPr/>
          <p:nvPr/>
        </p:nvSpPr>
        <p:spPr>
          <a:xfrm>
            <a:off x="3124080" y="6356520"/>
            <a:ext cx="2895840" cy="36504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898989"/>
                </a:solidFill>
                <a:effectLst/>
                <a:uFillTx/>
                <a:latin typeface="Calibri"/>
              </a:rPr>
              <a:t>Author: Dr. Cancellieri Carlo</a:t>
            </a:r>
            <a:endParaRPr b="0" lang="en-US" sz="12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timing>
    <p:tnLst>
      <p:par>
        <p:cTn id="145" dur="indefinite" restart="never" nodeType="tmRoot">
          <p:childTnLst>
            <p:seq>
              <p:cTn id="146" dur="indefinite" nodeType="mainSeq">
                <p:childTnLst>
                  <p:par>
                    <p:cTn id="147" fill="hold">
                      <p:stCondLst>
                        <p:cond delay="0"/>
                      </p:stCondLst>
                      <p:childTnLst>
                        <p:par>
                          <p:cTn id="148" fill="hold">
                            <p:stCondLst>
                              <p:cond delay="0"/>
                            </p:stCondLst>
                            <p:childTnLst>
                              <p:par>
                                <p:cTn id="149" nodeType="withEffect" fill="hold" presetClass="entr" presetID="10">
                                  <p:stCondLst>
                                    <p:cond delay="0"/>
                                  </p:stCondLst>
                                  <p:childTnLst>
                                    <p:set>
                                      <p:cBhvr>
                                        <p:cTn id="150" dur="1" fill="hold">
                                          <p:stCondLst>
                                            <p:cond delay="0"/>
                                          </p:stCondLst>
                                        </p:cTn>
                                        <p:tgtEl>
                                          <p:spTgt spid="111"/>
                                        </p:tgtEl>
                                        <p:attrNameLst>
                                          <p:attrName>style.visibility</p:attrName>
                                        </p:attrNameLst>
                                      </p:cBhvr>
                                      <p:to>
                                        <p:strVal val="visible"/>
                                      </p:to>
                                    </p:set>
                                    <p:animEffect filter="fade" transition="in">
                                      <p:cBhvr additive="repl">
                                        <p:cTn id="151" dur="2000"/>
                                        <p:tgtEl>
                                          <p:spTgt spid="111"/>
                                        </p:tgtEl>
                                      </p:cBhvr>
                                    </p:animEffect>
                                  </p:childTnLst>
                                </p:cTn>
                              </p:par>
                              <p:par>
                                <p:cTn id="152" nodeType="withEffect" fill="hold" presetClass="entr" presetID="10">
                                  <p:stCondLst>
                                    <p:cond delay="0"/>
                                  </p:stCondLst>
                                  <p:childTnLst>
                                    <p:set>
                                      <p:cBhvr>
                                        <p:cTn id="153" dur="1" fill="hold">
                                          <p:stCondLst>
                                            <p:cond delay="0"/>
                                          </p:stCondLst>
                                        </p:cTn>
                                        <p:tgtEl>
                                          <p:spTgt spid="108"/>
                                        </p:tgtEl>
                                        <p:attrNameLst>
                                          <p:attrName>style.visibility</p:attrName>
                                        </p:attrNameLst>
                                      </p:cBhvr>
                                      <p:to>
                                        <p:strVal val="visible"/>
                                      </p:to>
                                    </p:set>
                                    <p:animEffect filter="fade" transition="in">
                                      <p:cBhvr additive="repl">
                                        <p:cTn id="154" dur="2000"/>
                                        <p:tgtEl>
                                          <p:spTgt spid="108"/>
                                        </p:tgtEl>
                                      </p:cBhvr>
                                    </p:animEffect>
                                  </p:childTnLst>
                                </p:cTn>
                              </p:par>
                              <p:par>
                                <p:cTn id="155" nodeType="withEffect" fill="hold" presetClass="entr" presetID="10">
                                  <p:stCondLst>
                                    <p:cond delay="0"/>
                                  </p:stCondLst>
                                  <p:childTnLst>
                                    <p:set>
                                      <p:cBhvr>
                                        <p:cTn id="156" dur="1" fill="hold">
                                          <p:stCondLst>
                                            <p:cond delay="0"/>
                                          </p:stCondLst>
                                        </p:cTn>
                                        <p:tgtEl>
                                          <p:spTgt spid="115"/>
                                        </p:tgtEl>
                                        <p:attrNameLst>
                                          <p:attrName>style.visibility</p:attrName>
                                        </p:attrNameLst>
                                      </p:cBhvr>
                                      <p:to>
                                        <p:strVal val="visible"/>
                                      </p:to>
                                    </p:set>
                                    <p:animEffect filter="fade" transition="in">
                                      <p:cBhvr additive="repl">
                                        <p:cTn id="157" dur="2000"/>
                                        <p:tgtEl>
                                          <p:spTgt spid="115"/>
                                        </p:tgtEl>
                                      </p:cBhvr>
                                    </p:animEffect>
                                  </p:childTnLst>
                                </p:cTn>
                              </p:par>
                              <p:par>
                                <p:cTn id="158" nodeType="withEffect" fill="hold" presetClass="entr" presetID="10">
                                  <p:stCondLst>
                                    <p:cond delay="0"/>
                                  </p:stCondLst>
                                  <p:childTnLst>
                                    <p:set>
                                      <p:cBhvr>
                                        <p:cTn id="159" dur="1" fill="hold">
                                          <p:stCondLst>
                                            <p:cond delay="0"/>
                                          </p:stCondLst>
                                        </p:cTn>
                                        <p:tgtEl>
                                          <p:spTgt spid="109"/>
                                        </p:tgtEl>
                                        <p:attrNameLst>
                                          <p:attrName>style.visibility</p:attrName>
                                        </p:attrNameLst>
                                      </p:cBhvr>
                                      <p:to>
                                        <p:strVal val="visible"/>
                                      </p:to>
                                    </p:set>
                                    <p:animEffect filter="fade" transition="in">
                                      <p:cBhvr additive="repl">
                                        <p:cTn id="160" dur="2000"/>
                                        <p:tgtEl>
                                          <p:spTgt spid="109"/>
                                        </p:tgtEl>
                                      </p:cBhvr>
                                    </p:animEffect>
                                  </p:childTnLst>
                                </p:cTn>
                              </p:par>
                              <p:par>
                                <p:cTn id="161" nodeType="withEffect" fill="hold" presetClass="entr" presetID="10">
                                  <p:stCondLst>
                                    <p:cond delay="0"/>
                                  </p:stCondLst>
                                  <p:childTnLst>
                                    <p:set>
                                      <p:cBhvr>
                                        <p:cTn id="162" dur="1" fill="hold">
                                          <p:stCondLst>
                                            <p:cond delay="0"/>
                                          </p:stCondLst>
                                        </p:cTn>
                                        <p:tgtEl>
                                          <p:spTgt spid="123"/>
                                        </p:tgtEl>
                                        <p:attrNameLst>
                                          <p:attrName>style.visibility</p:attrName>
                                        </p:attrNameLst>
                                      </p:cBhvr>
                                      <p:to>
                                        <p:strVal val="visible"/>
                                      </p:to>
                                    </p:set>
                                    <p:animEffect filter="fade" transition="in">
                                      <p:cBhvr additive="repl">
                                        <p:cTn id="163" dur="2000"/>
                                        <p:tgtEl>
                                          <p:spTgt spid="123"/>
                                        </p:tgtEl>
                                      </p:cBhvr>
                                    </p:animEffect>
                                  </p:childTnLst>
                                </p:cTn>
                              </p:par>
                              <p:par>
                                <p:cTn id="164" nodeType="withEffect" fill="hold" presetClass="entr" presetID="10">
                                  <p:stCondLst>
                                    <p:cond delay="0"/>
                                  </p:stCondLst>
                                  <p:childTnLst>
                                    <p:set>
                                      <p:cBhvr>
                                        <p:cTn id="165" dur="1" fill="hold">
                                          <p:stCondLst>
                                            <p:cond delay="0"/>
                                          </p:stCondLst>
                                        </p:cTn>
                                        <p:tgtEl>
                                          <p:spTgt spid="114"/>
                                        </p:tgtEl>
                                        <p:attrNameLst>
                                          <p:attrName>style.visibility</p:attrName>
                                        </p:attrNameLst>
                                      </p:cBhvr>
                                      <p:to>
                                        <p:strVal val="visible"/>
                                      </p:to>
                                    </p:set>
                                    <p:animEffect filter="fade" transition="in">
                                      <p:cBhvr additive="repl">
                                        <p:cTn id="166" dur="2000"/>
                                        <p:tgtEl>
                                          <p:spTgt spid="114"/>
                                        </p:tgtEl>
                                      </p:cBhvr>
                                    </p:animEffect>
                                  </p:childTnLst>
                                </p:cTn>
                              </p:par>
                              <p:par>
                                <p:cTn id="167" nodeType="withEffect" fill="hold" presetClass="entr" presetID="10">
                                  <p:stCondLst>
                                    <p:cond delay="0"/>
                                  </p:stCondLst>
                                  <p:childTnLst>
                                    <p:set>
                                      <p:cBhvr>
                                        <p:cTn id="168" dur="1" fill="hold">
                                          <p:stCondLst>
                                            <p:cond delay="0"/>
                                          </p:stCondLst>
                                        </p:cTn>
                                        <p:tgtEl>
                                          <p:spTgt spid="120"/>
                                        </p:tgtEl>
                                        <p:attrNameLst>
                                          <p:attrName>style.visibility</p:attrName>
                                        </p:attrNameLst>
                                      </p:cBhvr>
                                      <p:to>
                                        <p:strVal val="visible"/>
                                      </p:to>
                                    </p:set>
                                    <p:animEffect filter="fade" transition="in">
                                      <p:cBhvr additive="repl">
                                        <p:cTn id="169" dur="2000"/>
                                        <p:tgtEl>
                                          <p:spTgt spid="120"/>
                                        </p:tgtEl>
                                      </p:cBhvr>
                                    </p:animEffect>
                                  </p:childTnLst>
                                </p:cTn>
                              </p:par>
                              <p:par>
                                <p:cTn id="170" nodeType="withEffect" fill="hold" presetClass="entr" presetID="10">
                                  <p:stCondLst>
                                    <p:cond delay="0"/>
                                  </p:stCondLst>
                                  <p:childTnLst>
                                    <p:set>
                                      <p:cBhvr>
                                        <p:cTn id="171" dur="1" fill="hold">
                                          <p:stCondLst>
                                            <p:cond delay="0"/>
                                          </p:stCondLst>
                                        </p:cTn>
                                        <p:tgtEl>
                                          <p:spTgt spid="128"/>
                                        </p:tgtEl>
                                        <p:attrNameLst>
                                          <p:attrName>style.visibility</p:attrName>
                                        </p:attrNameLst>
                                      </p:cBhvr>
                                      <p:to>
                                        <p:strVal val="visible"/>
                                      </p:to>
                                    </p:set>
                                    <p:animEffect filter="fade" transition="in">
                                      <p:cBhvr additive="repl">
                                        <p:cTn id="172" dur="2000"/>
                                        <p:tgtEl>
                                          <p:spTgt spid="128"/>
                                        </p:tgtEl>
                                      </p:cBhvr>
                                    </p:animEffect>
                                  </p:childTnLst>
                                </p:cTn>
                              </p:par>
                              <p:par>
                                <p:cTn id="173" nodeType="withEffect" fill="hold" presetClass="entr" presetID="10">
                                  <p:stCondLst>
                                    <p:cond delay="0"/>
                                  </p:stCondLst>
                                  <p:childTnLst>
                                    <p:set>
                                      <p:cBhvr>
                                        <p:cTn id="174" dur="1" fill="hold">
                                          <p:stCondLst>
                                            <p:cond delay="0"/>
                                          </p:stCondLst>
                                        </p:cTn>
                                        <p:tgtEl>
                                          <p:spTgt spid="129"/>
                                        </p:tgtEl>
                                        <p:attrNameLst>
                                          <p:attrName>style.visibility</p:attrName>
                                        </p:attrNameLst>
                                      </p:cBhvr>
                                      <p:to>
                                        <p:strVal val="visible"/>
                                      </p:to>
                                    </p:set>
                                    <p:animEffect filter="fade" transition="in">
                                      <p:cBhvr additive="repl">
                                        <p:cTn id="175" dur="2000"/>
                                        <p:tgtEl>
                                          <p:spTgt spid="129"/>
                                        </p:tgtEl>
                                      </p:cBhvr>
                                    </p:animEffect>
                                  </p:childTnLst>
                                </p:cTn>
                              </p:par>
                              <p:par>
                                <p:cTn id="176" nodeType="withEffect" fill="hold" presetClass="entr" presetID="10">
                                  <p:stCondLst>
                                    <p:cond delay="0"/>
                                  </p:stCondLst>
                                  <p:childTnLst>
                                    <p:set>
                                      <p:cBhvr>
                                        <p:cTn id="177" dur="1" fill="hold">
                                          <p:stCondLst>
                                            <p:cond delay="0"/>
                                          </p:stCondLst>
                                        </p:cTn>
                                        <p:tgtEl>
                                          <p:spTgt spid="130"/>
                                        </p:tgtEl>
                                        <p:attrNameLst>
                                          <p:attrName>style.visibility</p:attrName>
                                        </p:attrNameLst>
                                      </p:cBhvr>
                                      <p:to>
                                        <p:strVal val="visible"/>
                                      </p:to>
                                    </p:set>
                                    <p:animEffect filter="fade" transition="in">
                                      <p:cBhvr additive="repl">
                                        <p:cTn id="178" dur="2000"/>
                                        <p:tgtEl>
                                          <p:spTgt spid="130"/>
                                        </p:tgtEl>
                                      </p:cBhvr>
                                    </p:animEffect>
                                  </p:childTnLst>
                                </p:cTn>
                              </p:par>
                            </p:childTnLst>
                          </p:cTn>
                        </p:par>
                        <p:par>
                          <p:cTn id="179" fill="hold">
                            <p:stCondLst>
                              <p:cond delay="2000"/>
                            </p:stCondLst>
                            <p:childTnLst>
                              <p:par>
                                <p:cTn id="180" nodeType="afterEffect" fill="hold" presetClass="entr" presetID="10">
                                  <p:stCondLst>
                                    <p:cond delay="0"/>
                                  </p:stCondLst>
                                  <p:childTnLst>
                                    <p:set>
                                      <p:cBhvr>
                                        <p:cTn id="181" dur="1" fill="hold">
                                          <p:stCondLst>
                                            <p:cond delay="0"/>
                                          </p:stCondLst>
                                        </p:cTn>
                                        <p:tgtEl>
                                          <p:spTgt spid="133"/>
                                        </p:tgtEl>
                                        <p:attrNameLst>
                                          <p:attrName>style.visibility</p:attrName>
                                        </p:attrNameLst>
                                      </p:cBhvr>
                                      <p:to>
                                        <p:strVal val="visible"/>
                                      </p:to>
                                    </p:set>
                                    <p:animEffect filter="fade" transition="in">
                                      <p:cBhvr additive="repl">
                                        <p:cTn id="182" dur="2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685800" y="0"/>
            <a:ext cx="7772400" cy="9907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SQLCacheManager 1</a:t>
            </a:r>
            <a:endParaRPr b="0" lang="en-US" sz="4400" strike="noStrike" u="none">
              <a:solidFill>
                <a:srgbClr val="000000"/>
              </a:solidFill>
              <a:effectLst/>
              <a:uFillTx/>
              <a:latin typeface="Calibri"/>
            </a:endParaRPr>
          </a:p>
        </p:txBody>
      </p:sp>
      <p:sp>
        <p:nvSpPr>
          <p:cNvPr id="138" name="Rectangle 23"/>
          <p:cNvSpPr/>
          <p:nvPr/>
        </p:nvSpPr>
        <p:spPr>
          <a:xfrm>
            <a:off x="3762360" y="3505320"/>
            <a:ext cx="4952880" cy="12189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Response HandlerList::TheList()</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data, BESDataResponseHandler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manager, SQLResponseHandler</a:t>
            </a:r>
            <a:endParaRPr b="0" lang="en-US" sz="1800" strike="noStrike" u="none">
              <a:solidFill>
                <a:srgbClr val="000000"/>
              </a:solidFill>
              <a:effectLst/>
              <a:uFillTx/>
              <a:latin typeface="Calibri"/>
            </a:endParaRPr>
          </a:p>
        </p:txBody>
      </p:sp>
      <p:sp>
        <p:nvSpPr>
          <p:cNvPr id="139" name="Rectangle 25"/>
          <p:cNvSpPr/>
          <p:nvPr/>
        </p:nvSpPr>
        <p:spPr>
          <a:xfrm>
            <a:off x="3762360" y="4786200"/>
            <a:ext cx="4952880" cy="17668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Request HandlerList::TheList()</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sql, SQLRequestHandler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data,</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dds, fill_func</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das, </a:t>
            </a:r>
            <a:endParaRPr b="0" lang="en-US" sz="1800" strike="noStrike" u="none">
              <a:solidFill>
                <a:srgbClr val="000000"/>
              </a:solidFill>
              <a:effectLst/>
              <a:uFillTx/>
              <a:latin typeface="Calibri"/>
            </a:endParaRPr>
          </a:p>
        </p:txBody>
      </p:sp>
      <p:sp>
        <p:nvSpPr>
          <p:cNvPr id="140" name="Rectangle 15"/>
          <p:cNvSpPr/>
          <p:nvPr/>
        </p:nvSpPr>
        <p:spPr>
          <a:xfrm>
            <a:off x="500040" y="1571760"/>
            <a:ext cx="2786040" cy="2357280"/>
          </a:xfrm>
          <a:prstGeom prst="rect">
            <a:avLst/>
          </a:prstGeom>
          <a:solidFill>
            <a:srgbClr val="ffffff"/>
          </a:solidFill>
          <a:ln w="25560">
            <a:solidFill>
              <a:srgbClr val="9bbb59"/>
            </a:solidFill>
            <a:miter/>
          </a:ln>
        </p:spPr>
        <p:style>
          <a:lnRef idx="0"/>
          <a:fillRef idx="0"/>
          <a:effectRef idx="0"/>
          <a:fontRef idx="minor"/>
        </p:style>
        <p:txBody>
          <a:bodyPr wrap="none" lIns="90000" rIns="90000" tIns="46800" bIns="46800" anchor="t">
            <a:noAutofit/>
          </a:bodyPr>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Once called, each ‘</a:t>
            </a:r>
            <a:r>
              <a:rPr b="1" lang="en-US" sz="1600" strike="noStrike" u="none">
                <a:solidFill>
                  <a:srgbClr val="000000"/>
                </a:solidFill>
                <a:effectLst/>
                <a:uFillTx/>
                <a:latin typeface="Calibri"/>
              </a:rPr>
              <a:t>fill_xxx_func</a:t>
            </a:r>
            <a:r>
              <a:rPr b="0" lang="en-US" sz="1600" strike="noStrike" u="none">
                <a:solidFill>
                  <a:srgbClr val="000000"/>
                </a:solidFill>
                <a:effectLst/>
                <a:uFillTx/>
                <a:latin typeface="Calibri"/>
              </a:rPr>
              <a:t>’ </a:t>
            </a:r>
            <a:endParaRPr b="0" lang="en-US" sz="16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 of  the </a:t>
            </a:r>
            <a:r>
              <a:rPr b="1" lang="en-US" sz="1600" strike="noStrike" u="none">
                <a:solidFill>
                  <a:srgbClr val="000000"/>
                </a:solidFill>
                <a:effectLst/>
                <a:uFillTx/>
                <a:latin typeface="Calibri"/>
              </a:rPr>
              <a:t>SQLRequestHandler</a:t>
            </a:r>
            <a:endParaRPr b="0" lang="en-US" sz="16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will call the</a:t>
            </a:r>
            <a:endParaRPr b="0" lang="en-US" sz="16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SQLResponseHandler</a:t>
            </a:r>
            <a:endParaRPr b="0" lang="en-US" sz="16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Which will pass the dhi to</a:t>
            </a:r>
            <a:endParaRPr b="0" lang="en-US" sz="16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the </a:t>
            </a:r>
            <a:r>
              <a:rPr b="1" lang="en-US" sz="1600" strike="noStrike" u="none">
                <a:solidFill>
                  <a:srgbClr val="000000"/>
                </a:solidFill>
                <a:effectLst/>
                <a:uFillTx/>
                <a:latin typeface="Calibri"/>
              </a:rPr>
              <a:t>SQLCacheManager</a:t>
            </a:r>
            <a:endParaRPr b="0" lang="en-US" sz="16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The resulting </a:t>
            </a:r>
            <a:endParaRPr b="0" lang="en-US" sz="16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BESResponseObject</a:t>
            </a:r>
            <a:r>
              <a:rPr b="0" lang="en-US" sz="1600" strike="noStrike" u="none">
                <a:solidFill>
                  <a:srgbClr val="000000"/>
                </a:solidFill>
                <a:effectLst/>
                <a:uFillTx/>
                <a:latin typeface="Calibri"/>
              </a:rPr>
              <a:t> will be</a:t>
            </a:r>
            <a:endParaRPr b="0" lang="en-US" sz="1600" strike="noStrike" u="none">
              <a:solidFill>
                <a:srgbClr val="000000"/>
              </a:solidFill>
              <a:effectLst/>
              <a:uFillTx/>
              <a:latin typeface="Calibri"/>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returned to the handler</a:t>
            </a:r>
            <a:endParaRPr b="0" lang="en-US" sz="1600" strike="noStrike" u="none">
              <a:solidFill>
                <a:srgbClr val="000000"/>
              </a:solidFill>
              <a:effectLst/>
              <a:uFillTx/>
              <a:latin typeface="Calibri"/>
            </a:endParaRPr>
          </a:p>
        </p:txBody>
      </p:sp>
      <p:sp>
        <p:nvSpPr>
          <p:cNvPr id="141" name="Rectangle 15"/>
          <p:cNvSpPr/>
          <p:nvPr/>
        </p:nvSpPr>
        <p:spPr>
          <a:xfrm>
            <a:off x="3776760" y="2143080"/>
            <a:ext cx="4929120" cy="13114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SQLCacheManager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Manage data storage (to DB and files) and retrieval from (db and files)</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cache(SQLDefinition* definition)</a:t>
            </a:r>
            <a:endParaRPr b="0" lang="en-US" sz="1200" strike="noStrike" u="none">
              <a:solidFill>
                <a:srgbClr val="000000"/>
              </a:solidFill>
              <a:effectLst/>
              <a:uFillTx/>
              <a:latin typeface="Calibri"/>
            </a:endParaRPr>
          </a:p>
        </p:txBody>
      </p:sp>
      <p:grpSp>
        <p:nvGrpSpPr>
          <p:cNvPr id="142" name="Group 90"/>
          <p:cNvGrpSpPr/>
          <p:nvPr/>
        </p:nvGrpSpPr>
        <p:grpSpPr>
          <a:xfrm>
            <a:off x="3867120" y="4071960"/>
            <a:ext cx="4848120" cy="2071440"/>
            <a:chOff x="3867120" y="4071960"/>
            <a:chExt cx="4848120" cy="2071440"/>
          </a:xfrm>
        </p:grpSpPr>
        <p:grpSp>
          <p:nvGrpSpPr>
            <p:cNvPr id="143" name="Group 60"/>
            <p:cNvGrpSpPr/>
            <p:nvPr/>
          </p:nvGrpSpPr>
          <p:grpSpPr>
            <a:xfrm>
              <a:off x="4223520" y="4375080"/>
              <a:ext cx="4491720" cy="1768320"/>
              <a:chOff x="4223520" y="4375080"/>
              <a:chExt cx="4491720" cy="1768320"/>
            </a:xfrm>
          </p:grpSpPr>
          <p:sp>
            <p:nvSpPr>
              <p:cNvPr id="144" name="Rectangle 24"/>
              <p:cNvSpPr/>
              <p:nvPr/>
            </p:nvSpPr>
            <p:spPr>
              <a:xfrm>
                <a:off x="5429160" y="5435640"/>
                <a:ext cx="3286080" cy="7077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BESResponseObject 0=call(…)</a:t>
                </a:r>
                <a:endParaRPr b="0" lang="en-US" sz="1800" strike="noStrike" u="none">
                  <a:solidFill>
                    <a:srgbClr val="000000"/>
                  </a:solidFill>
                  <a:effectLst/>
                  <a:uFillTx/>
                  <a:latin typeface="Calibri"/>
                </a:endParaRPr>
              </a:p>
            </p:txBody>
          </p:sp>
          <p:cxnSp>
            <p:nvCxnSpPr>
              <p:cNvPr id="145" name="AutoShape 30"/>
              <p:cNvCxnSpPr>
                <a:stCxn id="144" idx="0"/>
                <a:endCxn id="146" idx="2"/>
              </p:cNvCxnSpPr>
              <p:nvPr/>
            </p:nvCxnSpPr>
            <p:spPr>
              <a:xfrm flipV="1" rot="16200000">
                <a:off x="5126040" y="3472560"/>
                <a:ext cx="1043640" cy="2848680"/>
              </a:xfrm>
              <a:prstGeom prst="bentConnector3">
                <a:avLst>
                  <a:gd name="adj1" fmla="val 50000"/>
                </a:avLst>
              </a:prstGeom>
              <a:ln w="25560">
                <a:solidFill>
                  <a:srgbClr val="9bbb59"/>
                </a:solidFill>
                <a:miter/>
                <a:tailEnd len="med" type="triangle" w="med"/>
              </a:ln>
            </p:spPr>
          </p:cxnSp>
        </p:grpSp>
        <p:sp>
          <p:nvSpPr>
            <p:cNvPr id="146" name="Rectangle 24"/>
            <p:cNvSpPr/>
            <p:nvPr/>
          </p:nvSpPr>
          <p:spPr>
            <a:xfrm>
              <a:off x="3867120" y="4071960"/>
              <a:ext cx="71424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cache</a:t>
              </a:r>
              <a:endParaRPr b="0" lang="en-US" sz="1800" strike="noStrike" u="none">
                <a:solidFill>
                  <a:srgbClr val="000000"/>
                </a:solidFill>
                <a:effectLst/>
                <a:uFillTx/>
                <a:latin typeface="Calibri"/>
              </a:endParaRPr>
            </a:p>
          </p:txBody>
        </p:sp>
      </p:grpSp>
      <p:grpSp>
        <p:nvGrpSpPr>
          <p:cNvPr id="147" name="Group 90"/>
          <p:cNvGrpSpPr/>
          <p:nvPr/>
        </p:nvGrpSpPr>
        <p:grpSpPr>
          <a:xfrm>
            <a:off x="3867120" y="2857680"/>
            <a:ext cx="4643280" cy="1519200"/>
            <a:chOff x="3867120" y="2857680"/>
            <a:chExt cx="4643280" cy="1519200"/>
          </a:xfrm>
        </p:grpSpPr>
        <p:grpSp>
          <p:nvGrpSpPr>
            <p:cNvPr id="148" name="Group 60"/>
            <p:cNvGrpSpPr/>
            <p:nvPr/>
          </p:nvGrpSpPr>
          <p:grpSpPr>
            <a:xfrm>
              <a:off x="4581000" y="2857680"/>
              <a:ext cx="3929400" cy="1366560"/>
              <a:chOff x="4581000" y="2857680"/>
              <a:chExt cx="3929400" cy="1366560"/>
            </a:xfrm>
          </p:grpSpPr>
          <p:sp>
            <p:nvSpPr>
              <p:cNvPr id="149" name="Rectangle 24"/>
              <p:cNvSpPr/>
              <p:nvPr/>
            </p:nvSpPr>
            <p:spPr>
              <a:xfrm>
                <a:off x="7939080" y="2857680"/>
                <a:ext cx="57132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call</a:t>
                </a:r>
                <a:endParaRPr b="0" lang="en-US" sz="1800" strike="noStrike" u="none">
                  <a:solidFill>
                    <a:srgbClr val="000000"/>
                  </a:solidFill>
                  <a:effectLst/>
                  <a:uFillTx/>
                  <a:latin typeface="Calibri"/>
                </a:endParaRPr>
              </a:p>
            </p:txBody>
          </p:sp>
          <p:cxnSp>
            <p:nvCxnSpPr>
              <p:cNvPr id="150" name="AutoShape 30"/>
              <p:cNvCxnSpPr>
                <a:stCxn id="151" idx="3"/>
                <a:endCxn id="149" idx="2"/>
              </p:cNvCxnSpPr>
              <p:nvPr/>
            </p:nvCxnSpPr>
            <p:spPr>
              <a:xfrm flipV="1">
                <a:off x="4581000" y="3161520"/>
                <a:ext cx="3644280" cy="1063080"/>
              </a:xfrm>
              <a:prstGeom prst="bentConnector2">
                <a:avLst/>
              </a:prstGeom>
              <a:ln w="25560">
                <a:solidFill>
                  <a:srgbClr val="9bbb59"/>
                </a:solidFill>
                <a:miter/>
                <a:tailEnd len="med" type="triangle" w="med"/>
              </a:ln>
            </p:spPr>
          </p:cxnSp>
        </p:grpSp>
        <p:sp>
          <p:nvSpPr>
            <p:cNvPr id="151" name="Rectangle 24"/>
            <p:cNvSpPr/>
            <p:nvPr/>
          </p:nvSpPr>
          <p:spPr>
            <a:xfrm>
              <a:off x="3867120" y="4072320"/>
              <a:ext cx="71424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call</a:t>
              </a:r>
              <a:endParaRPr b="0" lang="en-US" sz="1800" strike="noStrike" u="none">
                <a:solidFill>
                  <a:srgbClr val="000000"/>
                </a:solidFill>
                <a:effectLst/>
                <a:uFillTx/>
                <a:latin typeface="Calibri"/>
              </a:endParaRPr>
            </a:p>
          </p:txBody>
        </p:sp>
      </p:grpSp>
      <p:sp>
        <p:nvSpPr>
          <p:cNvPr id="152" name="Date Placeholder 16"/>
          <p:cNvSpPr/>
          <p:nvPr/>
        </p:nvSpPr>
        <p:spPr>
          <a:xfrm>
            <a:off x="457200" y="6356520"/>
            <a:ext cx="2133720" cy="365040"/>
          </a:xfrm>
          <a:prstGeom prst="rect">
            <a:avLst/>
          </a:prstGeom>
          <a:noFill/>
          <a:ln w="0">
            <a:noFill/>
          </a:ln>
        </p:spPr>
        <p:style>
          <a:lnRef idx="0"/>
          <a:fillRef idx="0"/>
          <a:effectRef idx="0"/>
          <a:fontRef idx="minor"/>
        </p:style>
        <p: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9EA3F7B-4673-41BA-ACFA-1C0D207C4C88}" type="datetime">
              <a:rPr b="0" lang="en-US" sz="1200" strike="noStrike" u="none">
                <a:solidFill>
                  <a:srgbClr val="898989"/>
                </a:solidFill>
                <a:effectLst/>
                <a:uFillTx/>
                <a:latin typeface="Calibri"/>
              </a:rPr>
              <a:t>03/20/26</a:t>
            </a:fld>
            <a:endParaRPr b="0" lang="en-US" sz="1200" strike="noStrike" u="none">
              <a:solidFill>
                <a:srgbClr val="000000"/>
              </a:solidFill>
              <a:effectLst/>
              <a:uFillTx/>
              <a:latin typeface="Calibri"/>
            </a:endParaRPr>
          </a:p>
        </p:txBody>
      </p:sp>
      <p:sp>
        <p:nvSpPr>
          <p:cNvPr id="153" name="Slide Number Placeholder 17"/>
          <p:cNvSpPr/>
          <p:nvPr/>
        </p:nvSpPr>
        <p:spPr>
          <a:xfrm>
            <a:off x="6553080" y="6356520"/>
            <a:ext cx="2133720" cy="365040"/>
          </a:xfrm>
          <a:prstGeom prst="rect">
            <a:avLst/>
          </a:prstGeom>
          <a:noFill/>
          <a:ln w="0">
            <a:noFill/>
          </a:ln>
        </p:spPr>
        <p:style>
          <a:lnRef idx="0"/>
          <a:fillRef idx="0"/>
          <a:effectRef idx="0"/>
          <a:fontRef idx="minor"/>
        </p:style>
        <p: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A6BF344-4847-460C-A5F4-7E90B3FB3453}" type="slidenum">
              <a:rPr b="0" lang="it-IT" sz="1200" strike="noStrike" u="none">
                <a:solidFill>
                  <a:srgbClr val="898989"/>
                </a:solidFill>
                <a:effectLst/>
                <a:uFillTx/>
                <a:latin typeface="Calibri"/>
              </a:rPr>
              <a:t>&lt;number&gt;</a:t>
            </a:fld>
            <a:endParaRPr b="0" lang="en-US" sz="1200" strike="noStrike" u="none">
              <a:solidFill>
                <a:srgbClr val="000000"/>
              </a:solidFill>
              <a:effectLst/>
              <a:uFillTx/>
              <a:latin typeface="Calibri"/>
            </a:endParaRPr>
          </a:p>
        </p:txBody>
      </p:sp>
      <p:sp>
        <p:nvSpPr>
          <p:cNvPr id="154" name="Footer Placeholder 18"/>
          <p:cNvSpPr/>
          <p:nvPr/>
        </p:nvSpPr>
        <p:spPr>
          <a:xfrm>
            <a:off x="3124080" y="6356520"/>
            <a:ext cx="2895840" cy="36504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898989"/>
                </a:solidFill>
                <a:effectLst/>
                <a:uFillTx/>
                <a:latin typeface="Calibri"/>
              </a:rPr>
              <a:t>Author: Dr. Cancellieri Carlo</a:t>
            </a:r>
            <a:endParaRPr b="0" lang="en-US" sz="12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timing>
    <p:tnLst>
      <p:par>
        <p:cTn id="183" dur="indefinite" restart="never" nodeType="tmRoot">
          <p:childTnLst>
            <p:seq>
              <p:cTn id="184" dur="indefinite" nodeType="mainSeq">
                <p:childTnLst>
                  <p:par>
                    <p:cTn id="185" fill="hold">
                      <p:stCondLst>
                        <p:cond delay="0"/>
                      </p:stCondLst>
                      <p:childTnLst>
                        <p:par>
                          <p:cTn id="186" fill="hold">
                            <p:stCondLst>
                              <p:cond delay="0"/>
                            </p:stCondLst>
                            <p:childTnLst>
                              <p:par>
                                <p:cTn id="187" nodeType="afterEffect" fill="hold" presetClass="entr" presetID="3" presetSubtype="10">
                                  <p:stCondLst>
                                    <p:cond delay="0"/>
                                  </p:stCondLst>
                                  <p:childTnLst>
                                    <p:set>
                                      <p:cBhvr>
                                        <p:cTn id="188" dur="1" fill="hold">
                                          <p:stCondLst>
                                            <p:cond delay="0"/>
                                          </p:stCondLst>
                                        </p:cTn>
                                        <p:tgtEl>
                                          <p:spTgt spid="142"/>
                                        </p:tgtEl>
                                        <p:attrNameLst>
                                          <p:attrName>style.visibility</p:attrName>
                                        </p:attrNameLst>
                                      </p:cBhvr>
                                      <p:to>
                                        <p:strVal val="visible"/>
                                      </p:to>
                                    </p:set>
                                    <p:animEffect filter="blinds(horizontal)" transition="in">
                                      <p:cBhvr additive="repl">
                                        <p:cTn id="189" dur="500"/>
                                        <p:tgtEl>
                                          <p:spTgt spid="142"/>
                                        </p:tgtEl>
                                      </p:cBhvr>
                                    </p:animEffect>
                                  </p:childTnLst>
                                </p:cTn>
                              </p:par>
                            </p:childTnLst>
                          </p:cTn>
                        </p:par>
                      </p:childTnLst>
                    </p:cTn>
                  </p:par>
                  <p:par>
                    <p:cTn id="190" fill="hold">
                      <p:stCondLst>
                        <p:cond delay="indefinite"/>
                      </p:stCondLst>
                      <p:childTnLst>
                        <p:par>
                          <p:cTn id="191" fill="hold">
                            <p:stCondLst>
                              <p:cond delay="0"/>
                            </p:stCondLst>
                            <p:childTnLst>
                              <p:par>
                                <p:cTn id="192" nodeType="clickEffect" fill="hold" presetClass="entr" presetID="3" presetSubtype="10">
                                  <p:stCondLst>
                                    <p:cond delay="0"/>
                                  </p:stCondLst>
                                  <p:childTnLst>
                                    <p:set>
                                      <p:cBhvr>
                                        <p:cTn id="193" dur="1" fill="hold">
                                          <p:stCondLst>
                                            <p:cond delay="0"/>
                                          </p:stCondLst>
                                        </p:cTn>
                                        <p:tgtEl>
                                          <p:spTgt spid="140"/>
                                        </p:tgtEl>
                                        <p:attrNameLst>
                                          <p:attrName>style.visibility</p:attrName>
                                        </p:attrNameLst>
                                      </p:cBhvr>
                                      <p:to>
                                        <p:strVal val="visible"/>
                                      </p:to>
                                    </p:set>
                                    <p:animEffect filter="blinds(horizontal)" transition="in">
                                      <p:cBhvr additive="repl">
                                        <p:cTn id="194" dur="500"/>
                                        <p:tgtEl>
                                          <p:spTgt spid="140"/>
                                        </p:tgtEl>
                                      </p:cBhvr>
                                    </p:animEffect>
                                  </p:childTnLst>
                                </p:cTn>
                              </p:par>
                            </p:childTnLst>
                          </p:cTn>
                        </p:par>
                      </p:childTnLst>
                    </p:cTn>
                  </p:par>
                  <p:par>
                    <p:cTn id="195" fill="hold">
                      <p:stCondLst>
                        <p:cond delay="indefinite"/>
                      </p:stCondLst>
                      <p:childTnLst>
                        <p:par>
                          <p:cTn id="196" fill="hold">
                            <p:stCondLst>
                              <p:cond delay="0"/>
                            </p:stCondLst>
                            <p:childTnLst>
                              <p:par>
                                <p:cTn id="197" nodeType="clickEffect" fill="hold" presetClass="entr" presetID="3" presetSubtype="10">
                                  <p:stCondLst>
                                    <p:cond delay="0"/>
                                  </p:stCondLst>
                                  <p:childTnLst>
                                    <p:set>
                                      <p:cBhvr>
                                        <p:cTn id="198" dur="1" fill="hold">
                                          <p:stCondLst>
                                            <p:cond delay="0"/>
                                          </p:stCondLst>
                                        </p:cTn>
                                        <p:tgtEl>
                                          <p:spTgt spid="147"/>
                                        </p:tgtEl>
                                        <p:attrNameLst>
                                          <p:attrName>style.visibility</p:attrName>
                                        </p:attrNameLst>
                                      </p:cBhvr>
                                      <p:to>
                                        <p:strVal val="visible"/>
                                      </p:to>
                                    </p:set>
                                    <p:animEffect filter="blinds(horizontal)" transition="in">
                                      <p:cBhvr additive="repl">
                                        <p:cTn id="199" dur="5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Rectangle 15"/>
          <p:cNvSpPr/>
          <p:nvPr/>
        </p:nvSpPr>
        <p:spPr>
          <a:xfrm>
            <a:off x="3786120" y="1428840"/>
            <a:ext cx="4929120" cy="7142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SQLDefinitionStorage</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Store definitions  as SQL VIEW into  referred (by each finition) DB</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check( const string &amp; name)</a:t>
            </a:r>
            <a:endParaRPr b="0" lang="en-US" sz="1200" strike="noStrike" u="none">
              <a:solidFill>
                <a:srgbClr val="000000"/>
              </a:solidFill>
              <a:effectLst/>
              <a:uFillTx/>
              <a:latin typeface="Calibri"/>
            </a:endParaRPr>
          </a:p>
        </p:txBody>
      </p:sp>
      <p:sp>
        <p:nvSpPr>
          <p:cNvPr id="156" name="PlaceHolder 1"/>
          <p:cNvSpPr>
            <a:spLocks noGrp="1"/>
          </p:cNvSpPr>
          <p:nvPr>
            <p:ph type="title"/>
          </p:nvPr>
        </p:nvSpPr>
        <p:spPr>
          <a:xfrm>
            <a:off x="685800" y="0"/>
            <a:ext cx="7772400" cy="9907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SQLCacheManager 2</a:t>
            </a:r>
            <a:endParaRPr b="0" lang="en-US" sz="4400" strike="noStrike" u="none">
              <a:solidFill>
                <a:srgbClr val="000000"/>
              </a:solidFill>
              <a:effectLst/>
              <a:uFillTx/>
              <a:latin typeface="Calibri"/>
            </a:endParaRPr>
          </a:p>
        </p:txBody>
      </p:sp>
      <p:sp>
        <p:nvSpPr>
          <p:cNvPr id="157" name="Rectangle 23"/>
          <p:cNvSpPr/>
          <p:nvPr/>
        </p:nvSpPr>
        <p:spPr>
          <a:xfrm>
            <a:off x="3762360" y="3505320"/>
            <a:ext cx="4952880" cy="12189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Response HandlerList::TheList()</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data, BESDataResponseHandler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manager, SQLResponseHandler</a:t>
            </a:r>
            <a:endParaRPr b="0" lang="en-US" sz="1800" strike="noStrike" u="none">
              <a:solidFill>
                <a:srgbClr val="000000"/>
              </a:solidFill>
              <a:effectLst/>
              <a:uFillTx/>
              <a:latin typeface="Calibri"/>
            </a:endParaRPr>
          </a:p>
        </p:txBody>
      </p:sp>
      <p:sp>
        <p:nvSpPr>
          <p:cNvPr id="158" name="Rectangle 25"/>
          <p:cNvSpPr/>
          <p:nvPr/>
        </p:nvSpPr>
        <p:spPr>
          <a:xfrm>
            <a:off x="3762360" y="4786200"/>
            <a:ext cx="4876920" cy="17668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Request HandlerList::TheList()</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sql, SQLRequestHandler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data, fill_data_func               call</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dds, fill_dds_func</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das, fill_das_func      </a:t>
            </a:r>
            <a:endParaRPr b="0" lang="en-US" sz="1800" strike="noStrike" u="none">
              <a:solidFill>
                <a:srgbClr val="000000"/>
              </a:solidFill>
              <a:effectLst/>
              <a:uFillTx/>
              <a:latin typeface="Calibri"/>
            </a:endParaRPr>
          </a:p>
        </p:txBody>
      </p:sp>
      <p:sp>
        <p:nvSpPr>
          <p:cNvPr id="159" name="Rectangle 15"/>
          <p:cNvSpPr/>
          <p:nvPr/>
        </p:nvSpPr>
        <p:spPr>
          <a:xfrm>
            <a:off x="214200" y="785880"/>
            <a:ext cx="3429000" cy="40003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SQLCacheManager</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Actions:</a:t>
            </a:r>
            <a:endParaRPr b="0" lang="en-US" sz="1600" strike="noStrike" u="none">
              <a:solidFill>
                <a:srgbClr val="000000"/>
              </a:solidFill>
              <a:effectLst/>
              <a:uFillTx/>
              <a:latin typeface="Calibri"/>
            </a:endParaRPr>
          </a:p>
          <a:p>
            <a:pPr>
              <a:buClr>
                <a:srgbClr val="0000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Calculate the </a:t>
            </a:r>
            <a:r>
              <a:rPr b="1" lang="en-US" sz="1600" strike="noStrike" u="none">
                <a:solidFill>
                  <a:srgbClr val="000000"/>
                </a:solidFill>
                <a:effectLst/>
                <a:uFillTx/>
                <a:latin typeface="Calibri"/>
              </a:rPr>
              <a:t>unique name</a:t>
            </a:r>
            <a:r>
              <a:rPr b="0" lang="en-US" sz="1600" strike="noStrike" u="none">
                <a:solidFill>
                  <a:srgbClr val="000000"/>
                </a:solidFill>
                <a:effectLst/>
                <a:uFillTx/>
                <a:latin typeface="Calibri"/>
              </a:rPr>
              <a:t> for the</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 dynamic_cast&lt;SQLContainer&gt;</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	</a:t>
            </a:r>
            <a:r>
              <a:rPr b="1" lang="en-US" sz="1600" strike="noStrike" u="none">
                <a:solidFill>
                  <a:srgbClr val="000000"/>
                </a:solidFill>
                <a:effectLst/>
                <a:uFillTx/>
                <a:latin typeface="Calibri"/>
              </a:rPr>
              <a:t>	</a:t>
            </a:r>
            <a:r>
              <a:rPr b="1" lang="en-US" sz="1600" strike="noStrike" u="none">
                <a:solidFill>
                  <a:srgbClr val="000000"/>
                </a:solidFill>
                <a:effectLst/>
                <a:uFillTx/>
                <a:latin typeface="Calibri"/>
              </a:rPr>
              <a:t>(</a:t>
            </a:r>
            <a:r>
              <a:rPr b="0" lang="en-US" sz="1600" strike="noStrike" u="none">
                <a:solidFill>
                  <a:srgbClr val="000000"/>
                </a:solidFill>
                <a:effectLst/>
                <a:uFillTx/>
                <a:latin typeface="Calibri"/>
              </a:rPr>
              <a:t>dhi.current)</a:t>
            </a:r>
            <a:endParaRPr b="0" lang="en-US" sz="1600" strike="noStrike" u="none">
              <a:solidFill>
                <a:srgbClr val="000000"/>
              </a:solidFill>
              <a:effectLst/>
              <a:uFillTx/>
              <a:latin typeface="Calibri"/>
            </a:endParaRPr>
          </a:p>
          <a:p>
            <a:pPr>
              <a:buClr>
                <a:srgbClr val="0000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Is this name present into the</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SQLDefinitionStorage?</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alibri"/>
              </a:rPr>
              <a:t>(Here you can decide if </a:t>
            </a:r>
            <a:endParaRPr b="0" lang="en-US" sz="1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alibri"/>
              </a:rPr>
              <a:t>SQLCacheManager::promote() a </a:t>
            </a:r>
            <a:endParaRPr b="0" lang="en-US" sz="1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alibri"/>
              </a:rPr>
              <a:t>Container. See API documentation).</a:t>
            </a:r>
            <a:endParaRPr b="0" lang="en-US" sz="1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Caching system is activate only if (OR):</a:t>
            </a:r>
            <a:endParaRPr b="0" lang="en-US" sz="1600" strike="noStrike" u="none">
              <a:solidFill>
                <a:srgbClr val="000000"/>
              </a:solidFill>
              <a:effectLst/>
              <a:uFillTx/>
              <a:latin typeface="Calibri"/>
            </a:endParaRPr>
          </a:p>
          <a:p>
            <a:pPr>
              <a:buClr>
                <a:srgbClr val="0000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Calibri"/>
              </a:rPr>
              <a:t> All </a:t>
            </a:r>
            <a:r>
              <a:rPr b="0" lang="en-US" sz="1600" strike="noStrike" u="none">
                <a:solidFill>
                  <a:srgbClr val="000000"/>
                </a:solidFill>
                <a:effectLst/>
                <a:uFillTx/>
                <a:latin typeface="Calibri"/>
              </a:rPr>
              <a:t>containers are </a:t>
            </a:r>
            <a:r>
              <a:rPr b="1" lang="en-US" sz="1600" strike="noStrike" u="none">
                <a:solidFill>
                  <a:srgbClr val="000000"/>
                </a:solidFill>
                <a:effectLst/>
                <a:uFillTx/>
                <a:latin typeface="Calibri"/>
              </a:rPr>
              <a:t>cached</a:t>
            </a:r>
            <a:endParaRPr b="0" lang="en-US" sz="1600" strike="noStrike" u="none">
              <a:solidFill>
                <a:srgbClr val="000000"/>
              </a:solidFill>
              <a:effectLst/>
              <a:uFillTx/>
              <a:latin typeface="Calibri"/>
            </a:endParaRPr>
          </a:p>
          <a:p>
            <a:pPr>
              <a:buClr>
                <a:srgbClr val="0000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 Cumulative </a:t>
            </a:r>
            <a:r>
              <a:rPr b="1" lang="en-US" sz="1600" strike="noStrike" u="none">
                <a:solidFill>
                  <a:srgbClr val="000000"/>
                </a:solidFill>
                <a:effectLst/>
                <a:uFillTx/>
                <a:latin typeface="Calibri"/>
              </a:rPr>
              <a:t>size </a:t>
            </a:r>
            <a:r>
              <a:rPr b="0" lang="en-US" sz="1600" strike="noStrike" u="none">
                <a:solidFill>
                  <a:srgbClr val="000000"/>
                </a:solidFill>
                <a:effectLst/>
                <a:uFillTx/>
                <a:latin typeface="Calibri"/>
              </a:rPr>
              <a:t>of the SQLContainer</a:t>
            </a:r>
            <a:endParaRPr b="0" lang="en-US" sz="16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  oversize the </a:t>
            </a:r>
            <a:r>
              <a:rPr b="1" lang="en-US" sz="1600" strike="noStrike" u="none">
                <a:solidFill>
                  <a:srgbClr val="000000"/>
                </a:solidFill>
                <a:effectLst/>
                <a:uFillTx/>
                <a:latin typeface="Calibri"/>
              </a:rPr>
              <a:t>threshold</a:t>
            </a:r>
            <a:r>
              <a:rPr b="0" lang="en-US" sz="1600" strike="noStrike" u="none">
                <a:solidFill>
                  <a:srgbClr val="000000"/>
                </a:solidFill>
                <a:effectLst/>
                <a:uFillTx/>
                <a:latin typeface="Calibri"/>
              </a:rPr>
              <a:t> (from ‘</a:t>
            </a:r>
            <a:r>
              <a:rPr b="1" lang="en-US" sz="1600" strike="noStrike" u="none">
                <a:solidFill>
                  <a:srgbClr val="000000"/>
                </a:solidFill>
                <a:effectLst/>
                <a:uFillTx/>
                <a:latin typeface="Calibri"/>
              </a:rPr>
              <a:t>sql.conf</a:t>
            </a:r>
            <a:r>
              <a:rPr b="0" lang="en-US" sz="1600" strike="noStrike" u="none">
                <a:solidFill>
                  <a:srgbClr val="000000"/>
                </a:solidFill>
                <a:effectLst/>
                <a:uFillTx/>
                <a:latin typeface="Calibri"/>
              </a:rPr>
              <a:t>’)</a:t>
            </a:r>
            <a:endParaRPr b="0" lang="en-US" sz="1600" strike="noStrike" u="none">
              <a:solidFill>
                <a:srgbClr val="000000"/>
              </a:solidFill>
              <a:effectLst/>
              <a:uFillTx/>
              <a:latin typeface="Calibri"/>
            </a:endParaRPr>
          </a:p>
        </p:txBody>
      </p:sp>
      <p:sp>
        <p:nvSpPr>
          <p:cNvPr id="160" name="Rectangle 15"/>
          <p:cNvSpPr/>
          <p:nvPr/>
        </p:nvSpPr>
        <p:spPr>
          <a:xfrm>
            <a:off x="3776760" y="2214720"/>
            <a:ext cx="4929120" cy="12398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SQLCacheManager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Manage data storage (to DB and files) and retrieval from (db and files)</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cache(SQLDefinition* definition)</a:t>
            </a:r>
            <a:endParaRPr b="0" lang="en-US" sz="1200" strike="noStrike" u="none">
              <a:solidFill>
                <a:srgbClr val="000000"/>
              </a:solidFill>
              <a:effectLst/>
              <a:uFillTx/>
              <a:latin typeface="Calibri"/>
            </a:endParaRPr>
          </a:p>
        </p:txBody>
      </p:sp>
      <p:grpSp>
        <p:nvGrpSpPr>
          <p:cNvPr id="161" name="Group 90"/>
          <p:cNvGrpSpPr/>
          <p:nvPr/>
        </p:nvGrpSpPr>
        <p:grpSpPr>
          <a:xfrm>
            <a:off x="3867120" y="4071960"/>
            <a:ext cx="3357360" cy="1590480"/>
            <a:chOff x="3867120" y="4071960"/>
            <a:chExt cx="3357360" cy="1590480"/>
          </a:xfrm>
        </p:grpSpPr>
        <p:grpSp>
          <p:nvGrpSpPr>
            <p:cNvPr id="162" name="Group 60"/>
            <p:cNvGrpSpPr/>
            <p:nvPr/>
          </p:nvGrpSpPr>
          <p:grpSpPr>
            <a:xfrm>
              <a:off x="4223520" y="4375800"/>
              <a:ext cx="3000960" cy="1286640"/>
              <a:chOff x="4223520" y="4375800"/>
              <a:chExt cx="3000960" cy="1286640"/>
            </a:xfrm>
          </p:grpSpPr>
          <p:sp>
            <p:nvSpPr>
              <p:cNvPr id="163" name="Rectangle 24"/>
              <p:cNvSpPr/>
              <p:nvPr/>
            </p:nvSpPr>
            <p:spPr>
              <a:xfrm>
                <a:off x="6653160" y="5357520"/>
                <a:ext cx="571320" cy="30492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call</a:t>
                </a:r>
                <a:endParaRPr b="0" lang="en-US" sz="1800" strike="noStrike" u="none">
                  <a:solidFill>
                    <a:srgbClr val="000000"/>
                  </a:solidFill>
                  <a:effectLst/>
                  <a:uFillTx/>
                  <a:latin typeface="Calibri"/>
                </a:endParaRPr>
              </a:p>
            </p:txBody>
          </p:sp>
          <p:cxnSp>
            <p:nvCxnSpPr>
              <p:cNvPr id="164" name="AutoShape 30"/>
              <p:cNvCxnSpPr>
                <a:stCxn id="163" idx="0"/>
                <a:endCxn id="165" idx="2"/>
              </p:cNvCxnSpPr>
              <p:nvPr/>
            </p:nvCxnSpPr>
            <p:spPr>
              <a:xfrm flipV="1" rot="16200000">
                <a:off x="5090400" y="3508920"/>
                <a:ext cx="981720" cy="2715480"/>
              </a:xfrm>
              <a:prstGeom prst="bentConnector3">
                <a:avLst>
                  <a:gd name="adj1" fmla="val 73514"/>
                </a:avLst>
              </a:prstGeom>
              <a:ln w="25560">
                <a:solidFill>
                  <a:srgbClr val="9bbb59"/>
                </a:solidFill>
                <a:miter/>
                <a:tailEnd len="med" type="triangle" w="med"/>
              </a:ln>
            </p:spPr>
          </p:cxnSp>
        </p:grpSp>
        <p:sp>
          <p:nvSpPr>
            <p:cNvPr id="165" name="Rectangle 24"/>
            <p:cNvSpPr/>
            <p:nvPr/>
          </p:nvSpPr>
          <p:spPr>
            <a:xfrm>
              <a:off x="3867120" y="4071960"/>
              <a:ext cx="71424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cache</a:t>
              </a:r>
              <a:endParaRPr b="0" lang="en-US" sz="1800" strike="noStrike" u="none">
                <a:solidFill>
                  <a:srgbClr val="000000"/>
                </a:solidFill>
                <a:effectLst/>
                <a:uFillTx/>
                <a:latin typeface="Calibri"/>
              </a:endParaRPr>
            </a:p>
          </p:txBody>
        </p:sp>
      </p:grpSp>
      <p:grpSp>
        <p:nvGrpSpPr>
          <p:cNvPr id="166" name="Group 90"/>
          <p:cNvGrpSpPr/>
          <p:nvPr/>
        </p:nvGrpSpPr>
        <p:grpSpPr>
          <a:xfrm>
            <a:off x="3867120" y="2857680"/>
            <a:ext cx="4776840" cy="1519200"/>
            <a:chOff x="3867120" y="2857680"/>
            <a:chExt cx="4776840" cy="1519200"/>
          </a:xfrm>
        </p:grpSpPr>
        <p:grpSp>
          <p:nvGrpSpPr>
            <p:cNvPr id="167" name="Group 60"/>
            <p:cNvGrpSpPr/>
            <p:nvPr/>
          </p:nvGrpSpPr>
          <p:grpSpPr>
            <a:xfrm>
              <a:off x="4581000" y="2857680"/>
              <a:ext cx="4062960" cy="1366560"/>
              <a:chOff x="4581000" y="2857680"/>
              <a:chExt cx="4062960" cy="1366560"/>
            </a:xfrm>
          </p:grpSpPr>
          <p:sp>
            <p:nvSpPr>
              <p:cNvPr id="168" name="Rectangle 24"/>
              <p:cNvSpPr/>
              <p:nvPr/>
            </p:nvSpPr>
            <p:spPr>
              <a:xfrm>
                <a:off x="8072280" y="2857680"/>
                <a:ext cx="57168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call</a:t>
                </a:r>
                <a:endParaRPr b="0" lang="en-US" sz="1800" strike="noStrike" u="none">
                  <a:solidFill>
                    <a:srgbClr val="000000"/>
                  </a:solidFill>
                  <a:effectLst/>
                  <a:uFillTx/>
                  <a:latin typeface="Calibri"/>
                </a:endParaRPr>
              </a:p>
            </p:txBody>
          </p:sp>
          <p:cxnSp>
            <p:nvCxnSpPr>
              <p:cNvPr id="169" name="AutoShape 30"/>
              <p:cNvCxnSpPr>
                <a:stCxn id="170" idx="3"/>
                <a:endCxn id="168" idx="2"/>
              </p:cNvCxnSpPr>
              <p:nvPr/>
            </p:nvCxnSpPr>
            <p:spPr>
              <a:xfrm flipV="1">
                <a:off x="4581000" y="3161520"/>
                <a:ext cx="3777480" cy="1063080"/>
              </a:xfrm>
              <a:prstGeom prst="bentConnector2">
                <a:avLst/>
              </a:prstGeom>
              <a:ln w="25560">
                <a:solidFill>
                  <a:srgbClr val="9bbb59"/>
                </a:solidFill>
                <a:miter/>
                <a:tailEnd len="med" type="triangle" w="med"/>
              </a:ln>
            </p:spPr>
          </p:cxnSp>
        </p:grpSp>
        <p:sp>
          <p:nvSpPr>
            <p:cNvPr id="170" name="Rectangle 24"/>
            <p:cNvSpPr/>
            <p:nvPr/>
          </p:nvSpPr>
          <p:spPr>
            <a:xfrm>
              <a:off x="3867120" y="4072320"/>
              <a:ext cx="71424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call</a:t>
              </a:r>
              <a:endParaRPr b="0" lang="en-US" sz="1800" strike="noStrike" u="none">
                <a:solidFill>
                  <a:srgbClr val="000000"/>
                </a:solidFill>
                <a:effectLst/>
                <a:uFillTx/>
                <a:latin typeface="Calibri"/>
              </a:endParaRPr>
            </a:p>
          </p:txBody>
        </p:sp>
      </p:grpSp>
      <p:cxnSp>
        <p:nvCxnSpPr>
          <p:cNvPr id="171" name="AutoShape 30"/>
          <p:cNvCxnSpPr>
            <a:stCxn id="160" idx="1"/>
          </p:cNvCxnSpPr>
          <p:nvPr/>
        </p:nvCxnSpPr>
        <p:spPr>
          <a:xfrm flipV="1" rot="10800000">
            <a:off x="1928160" y="2833560"/>
            <a:ext cx="1848600" cy="1953000"/>
          </a:xfrm>
          <a:prstGeom prst="bentConnector4">
            <a:avLst>
              <a:gd name="adj1" fmla="val 3603"/>
              <a:gd name="adj2" fmla="val 111725"/>
            </a:avLst>
          </a:prstGeom>
          <a:ln w="38160">
            <a:solidFill>
              <a:srgbClr val="9bbb59"/>
            </a:solidFill>
            <a:miter/>
            <a:tailEnd len="med" type="triangle" w="med"/>
          </a:ln>
        </p:spPr>
      </p:cxnSp>
      <p:grpSp>
        <p:nvGrpSpPr>
          <p:cNvPr id="172" name="Group 108"/>
          <p:cNvGrpSpPr/>
          <p:nvPr/>
        </p:nvGrpSpPr>
        <p:grpSpPr>
          <a:xfrm>
            <a:off x="2027160" y="1571760"/>
            <a:ext cx="6044760" cy="1437840"/>
            <a:chOff x="2027160" y="1571760"/>
            <a:chExt cx="6044760" cy="1437840"/>
          </a:xfrm>
        </p:grpSpPr>
        <p:grpSp>
          <p:nvGrpSpPr>
            <p:cNvPr id="173" name="Group 90"/>
            <p:cNvGrpSpPr/>
            <p:nvPr/>
          </p:nvGrpSpPr>
          <p:grpSpPr>
            <a:xfrm>
              <a:off x="2027160" y="1571760"/>
              <a:ext cx="4544640" cy="1009800"/>
              <a:chOff x="2027160" y="1571760"/>
              <a:chExt cx="4544640" cy="1009800"/>
            </a:xfrm>
          </p:grpSpPr>
          <p:grpSp>
            <p:nvGrpSpPr>
              <p:cNvPr id="174" name="Group 60"/>
              <p:cNvGrpSpPr/>
              <p:nvPr/>
            </p:nvGrpSpPr>
            <p:grpSpPr>
              <a:xfrm>
                <a:off x="2312280" y="1571760"/>
                <a:ext cx="4259520" cy="856800"/>
                <a:chOff x="2312280" y="1571760"/>
                <a:chExt cx="4259520" cy="856800"/>
              </a:xfrm>
            </p:grpSpPr>
            <p:sp>
              <p:nvSpPr>
                <p:cNvPr id="175" name="Rectangle 24"/>
                <p:cNvSpPr/>
                <p:nvPr/>
              </p:nvSpPr>
              <p:spPr>
                <a:xfrm>
                  <a:off x="6000120" y="1571760"/>
                  <a:ext cx="57168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call</a:t>
                  </a:r>
                  <a:endParaRPr b="0" lang="en-US" sz="1800" strike="noStrike" u="none">
                    <a:solidFill>
                      <a:srgbClr val="000000"/>
                    </a:solidFill>
                    <a:effectLst/>
                    <a:uFillTx/>
                    <a:latin typeface="Calibri"/>
                  </a:endParaRPr>
                </a:p>
              </p:txBody>
            </p:sp>
            <p:cxnSp>
              <p:nvCxnSpPr>
                <p:cNvPr id="176" name="AutoShape 30"/>
                <p:cNvCxnSpPr>
                  <a:stCxn id="177" idx="3"/>
                  <a:endCxn id="175" idx="2"/>
                </p:cNvCxnSpPr>
                <p:nvPr/>
              </p:nvCxnSpPr>
              <p:spPr>
                <a:xfrm flipV="1">
                  <a:off x="2312280" y="1875600"/>
                  <a:ext cx="3974400" cy="553320"/>
                </a:xfrm>
                <a:prstGeom prst="bentConnector2">
                  <a:avLst/>
                </a:prstGeom>
                <a:ln w="25560">
                  <a:solidFill>
                    <a:srgbClr val="9bbb59"/>
                  </a:solidFill>
                  <a:miter/>
                  <a:tailEnd len="med" type="triangle" w="med"/>
                </a:ln>
              </p:spPr>
            </p:cxnSp>
          </p:grpSp>
          <p:sp>
            <p:nvSpPr>
              <p:cNvPr id="177" name="Rectangle 24"/>
              <p:cNvSpPr/>
              <p:nvPr/>
            </p:nvSpPr>
            <p:spPr>
              <a:xfrm>
                <a:off x="2027160" y="2277000"/>
                <a:ext cx="28548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a:t>
                </a:r>
                <a:endParaRPr b="0" lang="en-US" sz="1800" strike="noStrike" u="none">
                  <a:solidFill>
                    <a:srgbClr val="000000"/>
                  </a:solidFill>
                  <a:effectLst/>
                  <a:uFillTx/>
                  <a:latin typeface="Calibri"/>
                </a:endParaRPr>
              </a:p>
            </p:txBody>
          </p:sp>
        </p:grpSp>
        <p:cxnSp>
          <p:nvCxnSpPr>
            <p:cNvPr id="178" name="AutoShape 30"/>
            <p:cNvCxnSpPr>
              <a:stCxn id="168" idx="1"/>
              <a:endCxn id="175" idx="2"/>
            </p:cNvCxnSpPr>
            <p:nvPr/>
          </p:nvCxnSpPr>
          <p:spPr>
            <a:xfrm rot="10800000">
              <a:off x="6285600" y="1875600"/>
              <a:ext cx="1786680" cy="1134360"/>
            </a:xfrm>
            <a:prstGeom prst="bentConnector2">
              <a:avLst/>
            </a:prstGeom>
            <a:ln w="25560">
              <a:solidFill>
                <a:srgbClr val="9bbb59"/>
              </a:solidFill>
              <a:miter/>
              <a:tailEnd len="med" type="triangle" w="med"/>
            </a:ln>
          </p:spPr>
        </p:cxnSp>
      </p:grpSp>
      <p:sp>
        <p:nvSpPr>
          <p:cNvPr id="179" name="Date Placeholder 25"/>
          <p:cNvSpPr/>
          <p:nvPr/>
        </p:nvSpPr>
        <p:spPr>
          <a:xfrm>
            <a:off x="457200" y="6356520"/>
            <a:ext cx="2133720" cy="365040"/>
          </a:xfrm>
          <a:prstGeom prst="rect">
            <a:avLst/>
          </a:prstGeom>
          <a:noFill/>
          <a:ln w="0">
            <a:noFill/>
          </a:ln>
        </p:spPr>
        <p:style>
          <a:lnRef idx="0"/>
          <a:fillRef idx="0"/>
          <a:effectRef idx="0"/>
          <a:fontRef idx="minor"/>
        </p:style>
        <p: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6D552D2-13A5-4A91-B762-F95E6277D9DF}" type="datetime">
              <a:rPr b="0" lang="en-US" sz="1200" strike="noStrike" u="none">
                <a:solidFill>
                  <a:srgbClr val="898989"/>
                </a:solidFill>
                <a:effectLst/>
                <a:uFillTx/>
                <a:latin typeface="Calibri"/>
              </a:rPr>
              <a:t>03/20/26</a:t>
            </a:fld>
            <a:endParaRPr b="0" lang="en-US" sz="1200" strike="noStrike" u="none">
              <a:solidFill>
                <a:srgbClr val="000000"/>
              </a:solidFill>
              <a:effectLst/>
              <a:uFillTx/>
              <a:latin typeface="Calibri"/>
            </a:endParaRPr>
          </a:p>
        </p:txBody>
      </p:sp>
      <p:sp>
        <p:nvSpPr>
          <p:cNvPr id="180" name="Slide Number Placeholder 26"/>
          <p:cNvSpPr/>
          <p:nvPr/>
        </p:nvSpPr>
        <p:spPr>
          <a:xfrm>
            <a:off x="6553080" y="6356520"/>
            <a:ext cx="2133720" cy="365040"/>
          </a:xfrm>
          <a:prstGeom prst="rect">
            <a:avLst/>
          </a:prstGeom>
          <a:noFill/>
          <a:ln w="0">
            <a:noFill/>
          </a:ln>
        </p:spPr>
        <p:style>
          <a:lnRef idx="0"/>
          <a:fillRef idx="0"/>
          <a:effectRef idx="0"/>
          <a:fontRef idx="minor"/>
        </p:style>
        <p: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52D2D17-6E12-450C-90A2-AE0242C3164A}" type="slidenum">
              <a:rPr b="0" lang="it-IT" sz="1200" strike="noStrike" u="none">
                <a:solidFill>
                  <a:srgbClr val="898989"/>
                </a:solidFill>
                <a:effectLst/>
                <a:uFillTx/>
                <a:latin typeface="Calibri"/>
              </a:rPr>
              <a:t>&lt;number&gt;</a:t>
            </a:fld>
            <a:endParaRPr b="0" lang="en-US" sz="1200" strike="noStrike" u="none">
              <a:solidFill>
                <a:srgbClr val="000000"/>
              </a:solidFill>
              <a:effectLst/>
              <a:uFillTx/>
              <a:latin typeface="Calibri"/>
            </a:endParaRPr>
          </a:p>
        </p:txBody>
      </p:sp>
      <p:sp>
        <p:nvSpPr>
          <p:cNvPr id="181" name="Footer Placeholder 28"/>
          <p:cNvSpPr/>
          <p:nvPr/>
        </p:nvSpPr>
        <p:spPr>
          <a:xfrm>
            <a:off x="3124080" y="6356520"/>
            <a:ext cx="2895840" cy="36504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898989"/>
                </a:solidFill>
                <a:effectLst/>
                <a:uFillTx/>
                <a:latin typeface="Calibri"/>
              </a:rPr>
              <a:t>Author: Dr. Cancellieri Carlo</a:t>
            </a:r>
            <a:endParaRPr b="0" lang="en-US" sz="12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timing>
    <p:tnLst>
      <p:par>
        <p:cTn id="200" dur="indefinite" restart="never" nodeType="tmRoot">
          <p:childTnLst>
            <p:seq>
              <p:cTn id="201" dur="indefinite" nodeType="mainSeq">
                <p:childTnLst>
                  <p:par>
                    <p:cTn id="202" fill="hold">
                      <p:stCondLst>
                        <p:cond delay="indefinite"/>
                      </p:stCondLst>
                      <p:childTnLst>
                        <p:par>
                          <p:cTn id="203" fill="hold">
                            <p:stCondLst>
                              <p:cond delay="0"/>
                            </p:stCondLst>
                            <p:childTnLst>
                              <p:par>
                                <p:cTn id="204" nodeType="clickEffect" fill="hold" presetClass="entr" presetID="3" presetSubtype="10">
                                  <p:stCondLst>
                                    <p:cond delay="0"/>
                                  </p:stCondLst>
                                  <p:childTnLst>
                                    <p:set>
                                      <p:cBhvr>
                                        <p:cTn id="205" dur="1" fill="hold">
                                          <p:stCondLst>
                                            <p:cond delay="0"/>
                                          </p:stCondLst>
                                        </p:cTn>
                                        <p:tgtEl>
                                          <p:spTgt spid="161"/>
                                        </p:tgtEl>
                                        <p:attrNameLst>
                                          <p:attrName>style.visibility</p:attrName>
                                        </p:attrNameLst>
                                      </p:cBhvr>
                                      <p:to>
                                        <p:strVal val="visible"/>
                                      </p:to>
                                    </p:set>
                                    <p:animEffect filter="blinds(horizontal)" transition="in">
                                      <p:cBhvr additive="repl">
                                        <p:cTn id="206" dur="500"/>
                                        <p:tgtEl>
                                          <p:spTgt spid="161"/>
                                        </p:tgtEl>
                                      </p:cBhvr>
                                    </p:animEffect>
                                  </p:childTnLst>
                                </p:cTn>
                              </p:par>
                            </p:childTnLst>
                          </p:cTn>
                        </p:par>
                      </p:childTnLst>
                    </p:cTn>
                  </p:par>
                  <p:par>
                    <p:cTn id="207" fill="hold">
                      <p:stCondLst>
                        <p:cond delay="indefinite"/>
                      </p:stCondLst>
                      <p:childTnLst>
                        <p:par>
                          <p:cTn id="208" fill="hold">
                            <p:stCondLst>
                              <p:cond delay="0"/>
                            </p:stCondLst>
                            <p:childTnLst>
                              <p:par>
                                <p:cTn id="209" nodeType="clickEffect" fill="hold" presetClass="entr" presetID="3" presetSubtype="10">
                                  <p:stCondLst>
                                    <p:cond delay="0"/>
                                  </p:stCondLst>
                                  <p:childTnLst>
                                    <p:set>
                                      <p:cBhvr>
                                        <p:cTn id="210" dur="1" fill="hold">
                                          <p:stCondLst>
                                            <p:cond delay="0"/>
                                          </p:stCondLst>
                                        </p:cTn>
                                        <p:tgtEl>
                                          <p:spTgt spid="166"/>
                                        </p:tgtEl>
                                        <p:attrNameLst>
                                          <p:attrName>style.visibility</p:attrName>
                                        </p:attrNameLst>
                                      </p:cBhvr>
                                      <p:to>
                                        <p:strVal val="visible"/>
                                      </p:to>
                                    </p:set>
                                    <p:animEffect filter="blinds(horizontal)" transition="in">
                                      <p:cBhvr additive="repl">
                                        <p:cTn id="211" dur="500"/>
                                        <p:tgtEl>
                                          <p:spTgt spid="166"/>
                                        </p:tgtEl>
                                      </p:cBhvr>
                                    </p:animEffect>
                                  </p:childTnLst>
                                </p:cTn>
                              </p:par>
                            </p:childTnLst>
                          </p:cTn>
                        </p:par>
                      </p:childTnLst>
                    </p:cTn>
                  </p:par>
                  <p:par>
                    <p:cTn id="212" fill="hold">
                      <p:stCondLst>
                        <p:cond delay="indefinite"/>
                      </p:stCondLst>
                      <p:childTnLst>
                        <p:par>
                          <p:cTn id="213" fill="hold">
                            <p:stCondLst>
                              <p:cond delay="0"/>
                            </p:stCondLst>
                            <p:childTnLst>
                              <p:par>
                                <p:cTn id="214" nodeType="clickEffect" fill="hold" presetClass="entr" presetID="3" presetSubtype="10">
                                  <p:stCondLst>
                                    <p:cond delay="0"/>
                                  </p:stCondLst>
                                  <p:childTnLst>
                                    <p:set>
                                      <p:cBhvr>
                                        <p:cTn id="215" dur="1" fill="hold">
                                          <p:stCondLst>
                                            <p:cond delay="0"/>
                                          </p:stCondLst>
                                        </p:cTn>
                                        <p:tgtEl>
                                          <p:spTgt spid="171"/>
                                        </p:tgtEl>
                                        <p:attrNameLst>
                                          <p:attrName>style.visibility</p:attrName>
                                        </p:attrNameLst>
                                      </p:cBhvr>
                                      <p:to>
                                        <p:strVal val="visible"/>
                                      </p:to>
                                    </p:set>
                                    <p:animEffect filter="blinds(horizontal)" transition="in">
                                      <p:cBhvr additive="repl">
                                        <p:cTn id="216" dur="500"/>
                                        <p:tgtEl>
                                          <p:spTgt spid="171"/>
                                        </p:tgtEl>
                                      </p:cBhvr>
                                    </p:animEffect>
                                  </p:childTnLst>
                                </p:cTn>
                              </p:par>
                            </p:childTnLst>
                          </p:cTn>
                        </p:par>
                        <p:par>
                          <p:cTn id="217" fill="hold">
                            <p:stCondLst>
                              <p:cond delay="500"/>
                            </p:stCondLst>
                            <p:childTnLst>
                              <p:par>
                                <p:cTn id="218" nodeType="afterEffect" fill="hold" presetClass="entr" presetID="3" presetSubtype="10">
                                  <p:stCondLst>
                                    <p:cond delay="0"/>
                                  </p:stCondLst>
                                  <p:childTnLst>
                                    <p:set>
                                      <p:cBhvr>
                                        <p:cTn id="219" dur="1" fill="hold">
                                          <p:stCondLst>
                                            <p:cond delay="0"/>
                                          </p:stCondLst>
                                        </p:cTn>
                                        <p:tgtEl>
                                          <p:spTgt spid="159"/>
                                        </p:tgtEl>
                                        <p:attrNameLst>
                                          <p:attrName>style.visibility</p:attrName>
                                        </p:attrNameLst>
                                      </p:cBhvr>
                                      <p:to>
                                        <p:strVal val="visible"/>
                                      </p:to>
                                    </p:set>
                                    <p:animEffect filter="blinds(horizontal)" transition="in">
                                      <p:cBhvr additive="repl">
                                        <p:cTn id="220" dur="500"/>
                                        <p:tgtEl>
                                          <p:spTgt spid="159"/>
                                        </p:tgtEl>
                                      </p:cBhvr>
                                    </p:animEffect>
                                  </p:childTnLst>
                                </p:cTn>
                              </p:par>
                            </p:childTnLst>
                          </p:cTn>
                        </p:par>
                      </p:childTnLst>
                    </p:cTn>
                  </p:par>
                  <p:par>
                    <p:cTn id="221" fill="hold">
                      <p:stCondLst>
                        <p:cond delay="indefinite"/>
                      </p:stCondLst>
                      <p:childTnLst>
                        <p:par>
                          <p:cTn id="222" fill="hold">
                            <p:stCondLst>
                              <p:cond delay="0"/>
                            </p:stCondLst>
                            <p:childTnLst>
                              <p:par>
                                <p:cTn id="223" nodeType="clickEffect" fill="hold" presetClass="entr" presetID="3" presetSubtype="10">
                                  <p:stCondLst>
                                    <p:cond delay="0"/>
                                  </p:stCondLst>
                                  <p:childTnLst>
                                    <p:set>
                                      <p:cBhvr>
                                        <p:cTn id="224" dur="1" fill="hold">
                                          <p:stCondLst>
                                            <p:cond delay="0"/>
                                          </p:stCondLst>
                                        </p:cTn>
                                        <p:tgtEl>
                                          <p:spTgt spid="172"/>
                                        </p:tgtEl>
                                        <p:attrNameLst>
                                          <p:attrName>style.visibility</p:attrName>
                                        </p:attrNameLst>
                                      </p:cBhvr>
                                      <p:to>
                                        <p:strVal val="visible"/>
                                      </p:to>
                                    </p:set>
                                    <p:animEffect filter="blinds(horizontal)" transition="in">
                                      <p:cBhvr additive="repl">
                                        <p:cTn id="225" dur="5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TextBox 41"/>
          <p:cNvSpPr/>
          <p:nvPr/>
        </p:nvSpPr>
        <p:spPr>
          <a:xfrm>
            <a:off x="142920" y="2000160"/>
            <a:ext cx="3500280" cy="35096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alibri"/>
              </a:rPr>
              <a:t>From the dataset file -&gt; SQLContainer we could get a complete SQLDefinition splitting the request using tables (FROM) or deeply columns.</a:t>
            </a:r>
            <a:endParaRPr b="0" lang="en-US" sz="14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alibri"/>
              </a:rPr>
              <a:t>To each SQLDefinition is associated a unique name that is build from the Definition characteristics so Definition with same</a:t>
            </a:r>
            <a:endParaRPr b="0" lang="en-US" sz="14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alibri"/>
              </a:rPr>
              <a:t>characteristics share the same name.</a:t>
            </a:r>
            <a:endParaRPr b="0" lang="en-US" sz="14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alibri"/>
              </a:rPr>
              <a:t>Looking into the SQLDefinitionStorage we can see if the required SQLDefinition is already stored (and probably cached).</a:t>
            </a:r>
            <a:endParaRPr b="0" lang="en-US" sz="14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alibri"/>
              </a:rPr>
              <a:t>If so we could use that definition since the 'SQLCacheManager::simplify()' (that could be expensive) is already calculated.</a:t>
            </a:r>
            <a:endParaRPr b="0" lang="en-US" sz="14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000000"/>
              </a:solidFill>
              <a:effectLst/>
              <a:uFillTx/>
              <a:latin typeface="Calibri"/>
            </a:endParaRPr>
          </a:p>
        </p:txBody>
      </p:sp>
      <p:sp>
        <p:nvSpPr>
          <p:cNvPr id="183" name="Rectangle 15"/>
          <p:cNvSpPr/>
          <p:nvPr/>
        </p:nvSpPr>
        <p:spPr>
          <a:xfrm>
            <a:off x="3786120" y="1428840"/>
            <a:ext cx="4929120" cy="7142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SQLDefinitionStorage</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Store definitions  as SQL VIEW into  referred (by each finition) DB</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check( const string &amp; name)</a:t>
            </a:r>
            <a:endParaRPr b="0" lang="en-US" sz="1200" strike="noStrike" u="none">
              <a:solidFill>
                <a:srgbClr val="000000"/>
              </a:solidFill>
              <a:effectLst/>
              <a:uFillTx/>
              <a:latin typeface="Calibri"/>
            </a:endParaRPr>
          </a:p>
        </p:txBody>
      </p:sp>
      <p:sp>
        <p:nvSpPr>
          <p:cNvPr id="184" name="PlaceHolder 1"/>
          <p:cNvSpPr>
            <a:spLocks noGrp="1"/>
          </p:cNvSpPr>
          <p:nvPr>
            <p:ph type="title"/>
          </p:nvPr>
        </p:nvSpPr>
        <p:spPr>
          <a:xfrm>
            <a:off x="685800" y="0"/>
            <a:ext cx="7772400" cy="9907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SQLCacheManager 3</a:t>
            </a:r>
            <a:endParaRPr b="0" lang="en-US" sz="4400" strike="noStrike" u="none">
              <a:solidFill>
                <a:srgbClr val="000000"/>
              </a:solidFill>
              <a:effectLst/>
              <a:uFillTx/>
              <a:latin typeface="Calibri"/>
            </a:endParaRPr>
          </a:p>
        </p:txBody>
      </p:sp>
      <p:sp>
        <p:nvSpPr>
          <p:cNvPr id="185" name="Rectangle 23"/>
          <p:cNvSpPr/>
          <p:nvPr/>
        </p:nvSpPr>
        <p:spPr>
          <a:xfrm>
            <a:off x="3762360" y="3505320"/>
            <a:ext cx="4952880" cy="12189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Response HandlerList::TheList()</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data, BESDataResponseHandler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manager, SQLResponseHandler</a:t>
            </a:r>
            <a:endParaRPr b="0" lang="en-US" sz="1800" strike="noStrike" u="none">
              <a:solidFill>
                <a:srgbClr val="000000"/>
              </a:solidFill>
              <a:effectLst/>
              <a:uFillTx/>
              <a:latin typeface="Calibri"/>
            </a:endParaRPr>
          </a:p>
        </p:txBody>
      </p:sp>
      <p:sp>
        <p:nvSpPr>
          <p:cNvPr id="186" name="Rectangle 25"/>
          <p:cNvSpPr/>
          <p:nvPr/>
        </p:nvSpPr>
        <p:spPr>
          <a:xfrm>
            <a:off x="3762360" y="4786200"/>
            <a:ext cx="4876920" cy="17668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Request HandlerList::TheList()</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sql, SQLRequestHandler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data, fill_data_func</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dds, fill_dds_func</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das, fill_das_func      </a:t>
            </a:r>
            <a:endParaRPr b="0" lang="en-US" sz="1800" strike="noStrike" u="none">
              <a:solidFill>
                <a:srgbClr val="000000"/>
              </a:solidFill>
              <a:effectLst/>
              <a:uFillTx/>
              <a:latin typeface="Calibri"/>
            </a:endParaRPr>
          </a:p>
        </p:txBody>
      </p:sp>
      <p:sp>
        <p:nvSpPr>
          <p:cNvPr id="187" name="Rectangle 15"/>
          <p:cNvSpPr/>
          <p:nvPr/>
        </p:nvSpPr>
        <p:spPr>
          <a:xfrm>
            <a:off x="3776760" y="2214720"/>
            <a:ext cx="4929120" cy="12398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SQLCacheManager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Manage data storage (to DB and files) and retrieval from (db and files)</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cache(SQLDefinition* definition)</a:t>
            </a:r>
            <a:endParaRPr b="0" lang="en-US" sz="1200" strike="noStrike" u="none">
              <a:solidFill>
                <a:srgbClr val="000000"/>
              </a:solidFill>
              <a:effectLst/>
              <a:uFillTx/>
              <a:latin typeface="Calibri"/>
            </a:endParaRPr>
          </a:p>
        </p:txBody>
      </p:sp>
      <p:grpSp>
        <p:nvGrpSpPr>
          <p:cNvPr id="188" name="Group 90"/>
          <p:cNvGrpSpPr/>
          <p:nvPr/>
        </p:nvGrpSpPr>
        <p:grpSpPr>
          <a:xfrm>
            <a:off x="6143760" y="1571760"/>
            <a:ext cx="1071360" cy="1590480"/>
            <a:chOff x="6143760" y="1571760"/>
            <a:chExt cx="1071360" cy="1590480"/>
          </a:xfrm>
        </p:grpSpPr>
        <p:grpSp>
          <p:nvGrpSpPr>
            <p:cNvPr id="189" name="Group 60"/>
            <p:cNvGrpSpPr/>
            <p:nvPr/>
          </p:nvGrpSpPr>
          <p:grpSpPr>
            <a:xfrm>
              <a:off x="6143760" y="1875960"/>
              <a:ext cx="784440" cy="1286280"/>
              <a:chOff x="6143760" y="1875960"/>
              <a:chExt cx="784440" cy="1286280"/>
            </a:xfrm>
          </p:grpSpPr>
          <p:sp>
            <p:nvSpPr>
              <p:cNvPr id="190" name="Rectangle 24"/>
              <p:cNvSpPr/>
              <p:nvPr/>
            </p:nvSpPr>
            <p:spPr>
              <a:xfrm>
                <a:off x="6143760" y="2857320"/>
                <a:ext cx="713880" cy="30492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return</a:t>
                </a:r>
                <a:endParaRPr b="0" lang="en-US" sz="1800" strike="noStrike" u="none">
                  <a:solidFill>
                    <a:srgbClr val="000000"/>
                  </a:solidFill>
                  <a:effectLst/>
                  <a:uFillTx/>
                  <a:latin typeface="Calibri"/>
                </a:endParaRPr>
              </a:p>
            </p:txBody>
          </p:sp>
          <p:cxnSp>
            <p:nvCxnSpPr>
              <p:cNvPr id="191" name="AutoShape 30"/>
              <p:cNvCxnSpPr>
                <a:stCxn id="192" idx="2"/>
                <a:endCxn id="190" idx="0"/>
              </p:cNvCxnSpPr>
              <p:nvPr/>
            </p:nvCxnSpPr>
            <p:spPr>
              <a:xfrm rot="5400000">
                <a:off x="6223320" y="2152440"/>
                <a:ext cx="981720" cy="428760"/>
              </a:xfrm>
              <a:prstGeom prst="bentConnector3">
                <a:avLst>
                  <a:gd name="adj1" fmla="val 50000"/>
                </a:avLst>
              </a:prstGeom>
              <a:ln w="25560">
                <a:solidFill>
                  <a:srgbClr val="9bbb59"/>
                </a:solidFill>
                <a:miter/>
                <a:tailEnd len="med" type="triangle" w="med"/>
              </a:ln>
            </p:spPr>
          </p:cxnSp>
        </p:grpSp>
        <p:sp>
          <p:nvSpPr>
            <p:cNvPr id="192" name="Rectangle 24"/>
            <p:cNvSpPr/>
            <p:nvPr/>
          </p:nvSpPr>
          <p:spPr>
            <a:xfrm>
              <a:off x="6644160" y="1571760"/>
              <a:ext cx="57096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False</a:t>
              </a:r>
              <a:endParaRPr b="0" lang="en-US" sz="1800" strike="noStrike" u="none">
                <a:solidFill>
                  <a:srgbClr val="000000"/>
                </a:solidFill>
                <a:effectLst/>
                <a:uFillTx/>
                <a:latin typeface="Calibri"/>
              </a:endParaRPr>
            </a:p>
          </p:txBody>
        </p:sp>
      </p:grpSp>
      <p:grpSp>
        <p:nvGrpSpPr>
          <p:cNvPr id="193" name="Group 82"/>
          <p:cNvGrpSpPr/>
          <p:nvPr/>
        </p:nvGrpSpPr>
        <p:grpSpPr>
          <a:xfrm>
            <a:off x="5000760" y="2857680"/>
            <a:ext cx="1500120" cy="55168560"/>
            <a:chOff x="5000760" y="2857680"/>
            <a:chExt cx="1500120" cy="55168560"/>
          </a:xfrm>
        </p:grpSpPr>
        <p:cxnSp>
          <p:nvCxnSpPr>
            <p:cNvPr id="194" name="AutoShape 30"/>
            <p:cNvCxnSpPr>
              <a:stCxn id="190" idx="2"/>
              <a:endCxn id="195" idx="2"/>
            </p:cNvCxnSpPr>
            <p:nvPr/>
          </p:nvCxnSpPr>
          <p:spPr>
            <a:xfrm rot="5400000">
              <a:off x="5946840" y="2608920"/>
              <a:ext cx="1080" cy="1107360"/>
            </a:xfrm>
            <a:prstGeom prst="bentConnector3">
              <a:avLst>
                <a:gd name="adj1" fmla="val -969884592"/>
              </a:avLst>
            </a:prstGeom>
            <a:ln w="25560">
              <a:solidFill>
                <a:srgbClr val="9bbb59"/>
              </a:solidFill>
              <a:miter/>
              <a:tailEnd len="med" type="triangle" w="med"/>
            </a:ln>
          </p:spPr>
        </p:cxnSp>
        <p:sp>
          <p:nvSpPr>
            <p:cNvPr id="195" name="Rectangle 24"/>
            <p:cNvSpPr/>
            <p:nvPr/>
          </p:nvSpPr>
          <p:spPr>
            <a:xfrm>
              <a:off x="5000760" y="2857680"/>
              <a:ext cx="78588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Define</a:t>
              </a:r>
              <a:endParaRPr b="0" lang="en-US" sz="1800" strike="noStrike" u="none">
                <a:solidFill>
                  <a:srgbClr val="000000"/>
                </a:solidFill>
                <a:effectLst/>
                <a:uFillTx/>
                <a:latin typeface="Calibri"/>
              </a:endParaRPr>
            </a:p>
          </p:txBody>
        </p:sp>
      </p:grpSp>
      <p:grpSp>
        <p:nvGrpSpPr>
          <p:cNvPr id="196" name="Group 87"/>
          <p:cNvGrpSpPr/>
          <p:nvPr/>
        </p:nvGrpSpPr>
        <p:grpSpPr>
          <a:xfrm>
            <a:off x="5000760" y="1571760"/>
            <a:ext cx="642960" cy="1285920"/>
            <a:chOff x="5000760" y="1571760"/>
            <a:chExt cx="642960" cy="1285920"/>
          </a:xfrm>
        </p:grpSpPr>
        <p:cxnSp>
          <p:nvCxnSpPr>
            <p:cNvPr id="197" name="AutoShape 30"/>
            <p:cNvCxnSpPr>
              <a:stCxn id="195" idx="0"/>
              <a:endCxn id="198" idx="2"/>
            </p:cNvCxnSpPr>
            <p:nvPr/>
          </p:nvCxnSpPr>
          <p:spPr>
            <a:xfrm flipV="1" rot="16200000">
              <a:off x="4867560" y="2330640"/>
              <a:ext cx="982080" cy="72000"/>
            </a:xfrm>
            <a:prstGeom prst="bentConnector3">
              <a:avLst>
                <a:gd name="adj1" fmla="val 49981"/>
              </a:avLst>
            </a:prstGeom>
            <a:ln w="25560">
              <a:solidFill>
                <a:srgbClr val="c0504d"/>
              </a:solidFill>
              <a:miter/>
              <a:tailEnd len="med" type="triangle" w="med"/>
            </a:ln>
          </p:spPr>
        </p:cxnSp>
        <p:sp>
          <p:nvSpPr>
            <p:cNvPr id="198" name="Rectangle 24"/>
            <p:cNvSpPr/>
            <p:nvPr/>
          </p:nvSpPr>
          <p:spPr>
            <a:xfrm>
              <a:off x="5000760" y="1571760"/>
              <a:ext cx="64296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Store</a:t>
              </a:r>
              <a:endParaRPr b="0" lang="en-US" sz="1800" strike="noStrike" u="none">
                <a:solidFill>
                  <a:srgbClr val="000000"/>
                </a:solidFill>
                <a:effectLst/>
                <a:uFillTx/>
                <a:latin typeface="Calibri"/>
              </a:endParaRPr>
            </a:p>
          </p:txBody>
        </p:sp>
      </p:grpSp>
      <p:sp>
        <p:nvSpPr>
          <p:cNvPr id="199" name="Rectangle 15"/>
          <p:cNvSpPr/>
          <p:nvPr/>
        </p:nvSpPr>
        <p:spPr>
          <a:xfrm>
            <a:off x="642960" y="2000160"/>
            <a:ext cx="2428920" cy="12146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SQLDefinition</a:t>
            </a:r>
            <a:endParaRPr b="0" lang="en-US" sz="18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Add to BESDefinition methods</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to popolate BESDefinition</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(constraints, containers, aggregation)</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starting  from a SQLContainer</a:t>
            </a:r>
            <a:endParaRPr b="0" lang="en-US" sz="1200" strike="noStrike" u="none">
              <a:solidFill>
                <a:srgbClr val="000000"/>
              </a:solidFill>
              <a:effectLst/>
              <a:uFillTx/>
              <a:latin typeface="Calibri"/>
            </a:endParaRPr>
          </a:p>
        </p:txBody>
      </p:sp>
      <p:cxnSp>
        <p:nvCxnSpPr>
          <p:cNvPr id="200" name="AutoShape 30"/>
          <p:cNvCxnSpPr>
            <a:stCxn id="201" idx="0"/>
            <a:endCxn id="199" idx="2"/>
          </p:cNvCxnSpPr>
          <p:nvPr/>
        </p:nvCxnSpPr>
        <p:spPr>
          <a:xfrm flipH="1" flipV="1" rot="5400000">
            <a:off x="1427040" y="3642840"/>
            <a:ext cx="859320" cy="2160"/>
          </a:xfrm>
          <a:prstGeom prst="bentConnector3">
            <a:avLst>
              <a:gd name="adj1" fmla="val 50000"/>
            </a:avLst>
          </a:prstGeom>
          <a:ln w="25560">
            <a:solidFill>
              <a:srgbClr val="9bbb59"/>
            </a:solidFill>
            <a:miter/>
            <a:tailEnd len="med" type="triangle" w="med"/>
          </a:ln>
        </p:spPr>
      </p:cxnSp>
      <p:sp>
        <p:nvSpPr>
          <p:cNvPr id="201" name="Rectangle 15"/>
          <p:cNvSpPr/>
          <p:nvPr/>
        </p:nvSpPr>
        <p:spPr>
          <a:xfrm>
            <a:off x="642960" y="4071960"/>
            <a:ext cx="2428920" cy="12142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SQLContainer</a:t>
            </a:r>
            <a:endParaRPr b="0" lang="en-US" sz="18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Add to BESContainer methods</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to read DSN,API,</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constraints,from,where,…</a:t>
            </a:r>
            <a:endParaRPr b="0" lang="en-US" sz="1200" strike="noStrike" u="none">
              <a:solidFill>
                <a:srgbClr val="000000"/>
              </a:solidFill>
              <a:effectLst/>
              <a:uFillTx/>
              <a:latin typeface="Calibri"/>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from a Draft 2 SQL dataset file.</a:t>
            </a:r>
            <a:endParaRPr b="0" lang="en-US" sz="1200" strike="noStrike" u="none">
              <a:solidFill>
                <a:srgbClr val="000000"/>
              </a:solidFill>
              <a:effectLst/>
              <a:uFillTx/>
              <a:latin typeface="Calibri"/>
            </a:endParaRPr>
          </a:p>
        </p:txBody>
      </p:sp>
      <p:grpSp>
        <p:nvGrpSpPr>
          <p:cNvPr id="202" name="Group 90"/>
          <p:cNvGrpSpPr/>
          <p:nvPr/>
        </p:nvGrpSpPr>
        <p:grpSpPr>
          <a:xfrm>
            <a:off x="3867120" y="2857680"/>
            <a:ext cx="4776840" cy="1519200"/>
            <a:chOff x="3867120" y="2857680"/>
            <a:chExt cx="4776840" cy="1519200"/>
          </a:xfrm>
        </p:grpSpPr>
        <p:grpSp>
          <p:nvGrpSpPr>
            <p:cNvPr id="203" name="Group 60"/>
            <p:cNvGrpSpPr/>
            <p:nvPr/>
          </p:nvGrpSpPr>
          <p:grpSpPr>
            <a:xfrm>
              <a:off x="4581000" y="2857680"/>
              <a:ext cx="4062960" cy="1366560"/>
              <a:chOff x="4581000" y="2857680"/>
              <a:chExt cx="4062960" cy="1366560"/>
            </a:xfrm>
          </p:grpSpPr>
          <p:sp>
            <p:nvSpPr>
              <p:cNvPr id="204" name="Rectangle 24"/>
              <p:cNvSpPr/>
              <p:nvPr/>
            </p:nvSpPr>
            <p:spPr>
              <a:xfrm>
                <a:off x="8072280" y="2857680"/>
                <a:ext cx="57168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call</a:t>
                </a:r>
                <a:endParaRPr b="0" lang="en-US" sz="1800" strike="noStrike" u="none">
                  <a:solidFill>
                    <a:srgbClr val="000000"/>
                  </a:solidFill>
                  <a:effectLst/>
                  <a:uFillTx/>
                  <a:latin typeface="Calibri"/>
                </a:endParaRPr>
              </a:p>
            </p:txBody>
          </p:sp>
          <p:cxnSp>
            <p:nvCxnSpPr>
              <p:cNvPr id="205" name="AutoShape 30"/>
              <p:cNvCxnSpPr>
                <a:stCxn id="206" idx="3"/>
                <a:endCxn id="204" idx="2"/>
              </p:cNvCxnSpPr>
              <p:nvPr/>
            </p:nvCxnSpPr>
            <p:spPr>
              <a:xfrm flipV="1">
                <a:off x="4581000" y="3161520"/>
                <a:ext cx="3777480" cy="1063080"/>
              </a:xfrm>
              <a:prstGeom prst="bentConnector2">
                <a:avLst/>
              </a:prstGeom>
              <a:ln w="25560">
                <a:solidFill>
                  <a:srgbClr val="9bbb59"/>
                </a:solidFill>
                <a:miter/>
                <a:tailEnd len="med" type="triangle" w="med"/>
              </a:ln>
            </p:spPr>
          </p:cxnSp>
        </p:grpSp>
        <p:sp>
          <p:nvSpPr>
            <p:cNvPr id="206" name="Rectangle 24"/>
            <p:cNvSpPr/>
            <p:nvPr/>
          </p:nvSpPr>
          <p:spPr>
            <a:xfrm>
              <a:off x="3867120" y="4072320"/>
              <a:ext cx="71424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call</a:t>
              </a:r>
              <a:endParaRPr b="0" lang="en-US" sz="1800" strike="noStrike" u="none">
                <a:solidFill>
                  <a:srgbClr val="000000"/>
                </a:solidFill>
                <a:effectLst/>
                <a:uFillTx/>
                <a:latin typeface="Calibri"/>
              </a:endParaRPr>
            </a:p>
          </p:txBody>
        </p:sp>
      </p:grpSp>
      <p:sp>
        <p:nvSpPr>
          <p:cNvPr id="207" name="TextBox 57"/>
          <p:cNvSpPr/>
          <p:nvPr/>
        </p:nvSpPr>
        <p:spPr>
          <a:xfrm>
            <a:off x="500040" y="1428840"/>
            <a:ext cx="2714760" cy="734400"/>
          </a:xfrm>
          <a:prstGeom prst="rect">
            <a:avLst/>
          </a:prstGeom>
          <a:solidFill>
            <a:srgbClr val="ffffff"/>
          </a:solidFill>
          <a:ln w="25560">
            <a:solidFill>
              <a:srgbClr val="c0504d"/>
            </a:solidFill>
            <a:miter/>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alibri"/>
              </a:rPr>
              <a:t>Is the SQLContainer.name present into the the SQLDefinitionStorage ?</a:t>
            </a:r>
            <a:endParaRPr b="0" lang="en-US" sz="1400" strike="noStrike" u="none">
              <a:solidFill>
                <a:srgbClr val="000000"/>
              </a:solidFill>
              <a:effectLst/>
              <a:uFillTx/>
              <a:latin typeface="Calibri"/>
            </a:endParaRPr>
          </a:p>
        </p:txBody>
      </p:sp>
      <p:grpSp>
        <p:nvGrpSpPr>
          <p:cNvPr id="208" name="Group 81"/>
          <p:cNvGrpSpPr/>
          <p:nvPr/>
        </p:nvGrpSpPr>
        <p:grpSpPr>
          <a:xfrm>
            <a:off x="5785920" y="3009960"/>
            <a:ext cx="2929320" cy="1366920"/>
            <a:chOff x="5785920" y="3009960"/>
            <a:chExt cx="2929320" cy="1366920"/>
          </a:xfrm>
        </p:grpSpPr>
        <p:sp>
          <p:nvSpPr>
            <p:cNvPr id="209" name="Rectangle 24"/>
            <p:cNvSpPr/>
            <p:nvPr/>
          </p:nvSpPr>
          <p:spPr>
            <a:xfrm>
              <a:off x="7286400" y="4072320"/>
              <a:ext cx="142884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Return SQLDef</a:t>
              </a:r>
              <a:endParaRPr b="0" lang="en-US" sz="1800" strike="noStrike" u="none">
                <a:solidFill>
                  <a:srgbClr val="000000"/>
                </a:solidFill>
                <a:effectLst/>
                <a:uFillTx/>
                <a:latin typeface="Calibri"/>
              </a:endParaRPr>
            </a:p>
          </p:txBody>
        </p:sp>
        <p:cxnSp>
          <p:nvCxnSpPr>
            <p:cNvPr id="210" name="AutoShape 30"/>
            <p:cNvCxnSpPr>
              <a:stCxn id="195" idx="3"/>
              <a:endCxn id="209" idx="1"/>
            </p:cNvCxnSpPr>
            <p:nvPr/>
          </p:nvCxnSpPr>
          <p:spPr>
            <a:xfrm>
              <a:off x="5785920" y="3009960"/>
              <a:ext cx="1500840" cy="1215360"/>
            </a:xfrm>
            <a:prstGeom prst="bentConnector3">
              <a:avLst>
                <a:gd name="adj1" fmla="val 50000"/>
              </a:avLst>
            </a:prstGeom>
            <a:ln w="25560">
              <a:solidFill>
                <a:srgbClr val="c0504d"/>
              </a:solidFill>
              <a:miter/>
              <a:tailEnd len="med" type="triangle" w="med"/>
            </a:ln>
          </p:spPr>
        </p:cxnSp>
      </p:grpSp>
      <p:grpSp>
        <p:nvGrpSpPr>
          <p:cNvPr id="211" name="Group 63"/>
          <p:cNvGrpSpPr/>
          <p:nvPr/>
        </p:nvGrpSpPr>
        <p:grpSpPr>
          <a:xfrm>
            <a:off x="7047360" y="1571760"/>
            <a:ext cx="1667880" cy="2805120"/>
            <a:chOff x="7047360" y="1571760"/>
            <a:chExt cx="1667880" cy="2805120"/>
          </a:xfrm>
        </p:grpSpPr>
        <p:grpSp>
          <p:nvGrpSpPr>
            <p:cNvPr id="212" name="Group 90"/>
            <p:cNvGrpSpPr/>
            <p:nvPr/>
          </p:nvGrpSpPr>
          <p:grpSpPr>
            <a:xfrm>
              <a:off x="7286760" y="1571760"/>
              <a:ext cx="1071720" cy="1590480"/>
              <a:chOff x="7286760" y="1571760"/>
              <a:chExt cx="1071720" cy="1590480"/>
            </a:xfrm>
          </p:grpSpPr>
          <p:grpSp>
            <p:nvGrpSpPr>
              <p:cNvPr id="213" name="Group 60"/>
              <p:cNvGrpSpPr/>
              <p:nvPr/>
            </p:nvGrpSpPr>
            <p:grpSpPr>
              <a:xfrm>
                <a:off x="7286760" y="1875960"/>
                <a:ext cx="785520" cy="1286280"/>
                <a:chOff x="7286760" y="1875960"/>
                <a:chExt cx="785520" cy="1286280"/>
              </a:xfrm>
            </p:grpSpPr>
            <p:sp>
              <p:nvSpPr>
                <p:cNvPr id="214" name="Rectangle 24"/>
                <p:cNvSpPr/>
                <p:nvPr/>
              </p:nvSpPr>
              <p:spPr>
                <a:xfrm>
                  <a:off x="7286760" y="2857320"/>
                  <a:ext cx="714240" cy="30492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return</a:t>
                  </a:r>
                  <a:endParaRPr b="0" lang="en-US" sz="1800" strike="noStrike" u="none">
                    <a:solidFill>
                      <a:srgbClr val="000000"/>
                    </a:solidFill>
                    <a:effectLst/>
                    <a:uFillTx/>
                    <a:latin typeface="Calibri"/>
                  </a:endParaRPr>
                </a:p>
              </p:txBody>
            </p:sp>
            <p:cxnSp>
              <p:nvCxnSpPr>
                <p:cNvPr id="215" name="AutoShape 30"/>
                <p:cNvCxnSpPr>
                  <a:stCxn id="216" idx="2"/>
                  <a:endCxn id="214" idx="0"/>
                </p:cNvCxnSpPr>
                <p:nvPr/>
              </p:nvCxnSpPr>
              <p:spPr>
                <a:xfrm rot="5400000">
                  <a:off x="7367040" y="2152440"/>
                  <a:ext cx="981720" cy="429120"/>
                </a:xfrm>
                <a:prstGeom prst="bentConnector3">
                  <a:avLst>
                    <a:gd name="adj1" fmla="val 50000"/>
                  </a:avLst>
                </a:prstGeom>
                <a:ln w="25560">
                  <a:solidFill>
                    <a:srgbClr val="9bbb59"/>
                  </a:solidFill>
                  <a:miter/>
                  <a:tailEnd len="med" type="triangle" w="med"/>
                </a:ln>
              </p:spPr>
            </p:cxnSp>
          </p:grpSp>
          <p:sp>
            <p:nvSpPr>
              <p:cNvPr id="216" name="Rectangle 24"/>
              <p:cNvSpPr/>
              <p:nvPr/>
            </p:nvSpPr>
            <p:spPr>
              <a:xfrm>
                <a:off x="7787160" y="1571760"/>
                <a:ext cx="57132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True</a:t>
                </a:r>
                <a:endParaRPr b="0" lang="en-US" sz="1800" strike="noStrike" u="none">
                  <a:solidFill>
                    <a:srgbClr val="000000"/>
                  </a:solidFill>
                  <a:effectLst/>
                  <a:uFillTx/>
                  <a:latin typeface="Calibri"/>
                </a:endParaRPr>
              </a:p>
            </p:txBody>
          </p:sp>
        </p:grpSp>
        <p:cxnSp>
          <p:nvCxnSpPr>
            <p:cNvPr id="217" name="AutoShape 30"/>
            <p:cNvCxnSpPr>
              <a:stCxn id="214" idx="1"/>
              <a:endCxn id="218" idx="1"/>
            </p:cNvCxnSpPr>
            <p:nvPr/>
          </p:nvCxnSpPr>
          <p:spPr>
            <a:xfrm flipH="1" flipV="1" rot="10800000">
              <a:off x="7285680" y="3008880"/>
              <a:ext cx="1080" cy="1215000"/>
            </a:xfrm>
            <a:prstGeom prst="bentConnector3">
              <a:avLst>
                <a:gd name="adj1" fmla="val -33100000"/>
              </a:avLst>
            </a:prstGeom>
            <a:ln w="25560">
              <a:solidFill>
                <a:srgbClr val="c0504d"/>
              </a:solidFill>
              <a:miter/>
              <a:tailEnd len="med" type="triangle" w="med"/>
            </a:ln>
          </p:spPr>
        </p:cxnSp>
        <p:sp>
          <p:nvSpPr>
            <p:cNvPr id="218" name="Rectangle 24"/>
            <p:cNvSpPr/>
            <p:nvPr/>
          </p:nvSpPr>
          <p:spPr>
            <a:xfrm>
              <a:off x="7287120" y="4072320"/>
              <a:ext cx="142812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Return SQLDef</a:t>
              </a:r>
              <a:endParaRPr b="0" lang="en-US" sz="1800" strike="noStrike" u="none">
                <a:solidFill>
                  <a:srgbClr val="000000"/>
                </a:solidFill>
                <a:effectLst/>
                <a:uFillTx/>
                <a:latin typeface="Calibri"/>
              </a:endParaRPr>
            </a:p>
          </p:txBody>
        </p:sp>
      </p:grpSp>
      <p:sp>
        <p:nvSpPr>
          <p:cNvPr id="219" name="Date Placeholder 38"/>
          <p:cNvSpPr/>
          <p:nvPr/>
        </p:nvSpPr>
        <p:spPr>
          <a:xfrm>
            <a:off x="457200" y="6356520"/>
            <a:ext cx="2133720" cy="365040"/>
          </a:xfrm>
          <a:prstGeom prst="rect">
            <a:avLst/>
          </a:prstGeom>
          <a:noFill/>
          <a:ln w="0">
            <a:noFill/>
          </a:ln>
        </p:spPr>
        <p:style>
          <a:lnRef idx="0"/>
          <a:fillRef idx="0"/>
          <a:effectRef idx="0"/>
          <a:fontRef idx="minor"/>
        </p:style>
        <p: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033112C-1177-45CD-AD70-F2E2FDA5AE20}" type="datetime">
              <a:rPr b="0" lang="en-US" sz="1200" strike="noStrike" u="none">
                <a:solidFill>
                  <a:srgbClr val="898989"/>
                </a:solidFill>
                <a:effectLst/>
                <a:uFillTx/>
                <a:latin typeface="Calibri"/>
              </a:rPr>
              <a:t>03/20/26</a:t>
            </a:fld>
            <a:endParaRPr b="0" lang="en-US" sz="1200" strike="noStrike" u="none">
              <a:solidFill>
                <a:srgbClr val="000000"/>
              </a:solidFill>
              <a:effectLst/>
              <a:uFillTx/>
              <a:latin typeface="Calibri"/>
            </a:endParaRPr>
          </a:p>
        </p:txBody>
      </p:sp>
      <p:sp>
        <p:nvSpPr>
          <p:cNvPr id="220" name="Slide Number Placeholder 39"/>
          <p:cNvSpPr/>
          <p:nvPr/>
        </p:nvSpPr>
        <p:spPr>
          <a:xfrm>
            <a:off x="6553080" y="6356520"/>
            <a:ext cx="2133720" cy="365040"/>
          </a:xfrm>
          <a:prstGeom prst="rect">
            <a:avLst/>
          </a:prstGeom>
          <a:noFill/>
          <a:ln w="0">
            <a:noFill/>
          </a:ln>
        </p:spPr>
        <p:style>
          <a:lnRef idx="0"/>
          <a:fillRef idx="0"/>
          <a:effectRef idx="0"/>
          <a:fontRef idx="minor"/>
        </p:style>
        <p: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BBED5D1-00A6-4AFB-8DC1-57E95184B69D}" type="slidenum">
              <a:rPr b="0" lang="it-IT" sz="1200" strike="noStrike" u="none">
                <a:solidFill>
                  <a:srgbClr val="898989"/>
                </a:solidFill>
                <a:effectLst/>
                <a:uFillTx/>
                <a:latin typeface="Calibri"/>
              </a:rPr>
              <a:t>&lt;number&gt;</a:t>
            </a:fld>
            <a:endParaRPr b="0" lang="en-US" sz="1200" strike="noStrike" u="none">
              <a:solidFill>
                <a:srgbClr val="000000"/>
              </a:solidFill>
              <a:effectLst/>
              <a:uFillTx/>
              <a:latin typeface="Calibri"/>
            </a:endParaRPr>
          </a:p>
        </p:txBody>
      </p:sp>
      <p:sp>
        <p:nvSpPr>
          <p:cNvPr id="221" name="Footer Placeholder 40"/>
          <p:cNvSpPr/>
          <p:nvPr/>
        </p:nvSpPr>
        <p:spPr>
          <a:xfrm>
            <a:off x="3124080" y="6356520"/>
            <a:ext cx="2895840" cy="36504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898989"/>
                </a:solidFill>
                <a:effectLst/>
                <a:uFillTx/>
                <a:latin typeface="Calibri"/>
              </a:rPr>
              <a:t>Author: Dr. Cancellieri Carlo</a:t>
            </a:r>
            <a:endParaRPr b="0" lang="en-US" sz="12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timing>
    <p:tnLst>
      <p:par>
        <p:cTn id="226" dur="indefinite" restart="never" nodeType="tmRoot">
          <p:childTnLst>
            <p:seq>
              <p:cTn id="227" dur="indefinite" nodeType="mainSeq">
                <p:childTnLst>
                  <p:par>
                    <p:cTn id="228" fill="hold">
                      <p:stCondLst>
                        <p:cond delay="0"/>
                      </p:stCondLst>
                      <p:childTnLst>
                        <p:par>
                          <p:cTn id="229" fill="hold">
                            <p:stCondLst>
                              <p:cond delay="0"/>
                            </p:stCondLst>
                            <p:childTnLst>
                              <p:par>
                                <p:cTn id="230" nodeType="afterEffect" fill="hold" presetClass="entr" presetID="3" presetSubtype="10">
                                  <p:stCondLst>
                                    <p:cond delay="0"/>
                                  </p:stCondLst>
                                  <p:childTnLst>
                                    <p:set>
                                      <p:cBhvr>
                                        <p:cTn id="231" dur="1" fill="hold">
                                          <p:stCondLst>
                                            <p:cond delay="0"/>
                                          </p:stCondLst>
                                        </p:cTn>
                                        <p:tgtEl>
                                          <p:spTgt spid="202"/>
                                        </p:tgtEl>
                                        <p:attrNameLst>
                                          <p:attrName>style.visibility</p:attrName>
                                        </p:attrNameLst>
                                      </p:cBhvr>
                                      <p:to>
                                        <p:strVal val="visible"/>
                                      </p:to>
                                    </p:set>
                                    <p:animEffect filter="blinds(horizontal)" transition="in">
                                      <p:cBhvr additive="repl">
                                        <p:cTn id="232" dur="500"/>
                                        <p:tgtEl>
                                          <p:spTgt spid="202"/>
                                        </p:tgtEl>
                                      </p:cBhvr>
                                    </p:animEffect>
                                  </p:childTnLst>
                                </p:cTn>
                              </p:par>
                            </p:childTnLst>
                          </p:cTn>
                        </p:par>
                        <p:par>
                          <p:cTn id="233" fill="hold">
                            <p:stCondLst>
                              <p:cond delay="500"/>
                            </p:stCondLst>
                            <p:childTnLst>
                              <p:par>
                                <p:cTn id="234" nodeType="afterEffect" fill="hold" presetClass="entr" presetID="3" presetSubtype="10">
                                  <p:stCondLst>
                                    <p:cond delay="0"/>
                                  </p:stCondLst>
                                  <p:childTnLst>
                                    <p:set>
                                      <p:cBhvr>
                                        <p:cTn id="235" dur="1" fill="hold">
                                          <p:stCondLst>
                                            <p:cond delay="0"/>
                                          </p:stCondLst>
                                        </p:cTn>
                                        <p:tgtEl>
                                          <p:spTgt spid="207"/>
                                        </p:tgtEl>
                                        <p:attrNameLst>
                                          <p:attrName>style.visibility</p:attrName>
                                        </p:attrNameLst>
                                      </p:cBhvr>
                                      <p:to>
                                        <p:strVal val="visible"/>
                                      </p:to>
                                    </p:set>
                                    <p:animEffect filter="blinds(horizontal)" transition="in">
                                      <p:cBhvr additive="repl">
                                        <p:cTn id="236" dur="500"/>
                                        <p:tgtEl>
                                          <p:spTgt spid="207"/>
                                        </p:tgtEl>
                                      </p:cBhvr>
                                    </p:animEffect>
                                  </p:childTnLst>
                                </p:cTn>
                              </p:par>
                            </p:childTnLst>
                          </p:cTn>
                        </p:par>
                      </p:childTnLst>
                    </p:cTn>
                  </p:par>
                  <p:par>
                    <p:cTn id="237" fill="hold">
                      <p:stCondLst>
                        <p:cond delay="indefinite"/>
                      </p:stCondLst>
                      <p:childTnLst>
                        <p:par>
                          <p:cTn id="238" fill="hold">
                            <p:stCondLst>
                              <p:cond delay="0"/>
                            </p:stCondLst>
                            <p:childTnLst>
                              <p:par>
                                <p:cTn id="239" nodeType="clickEffect" fill="hold" presetClass="entr" presetID="3" presetSubtype="10">
                                  <p:stCondLst>
                                    <p:cond delay="0"/>
                                  </p:stCondLst>
                                  <p:childTnLst>
                                    <p:set>
                                      <p:cBhvr>
                                        <p:cTn id="240" dur="1" fill="hold">
                                          <p:stCondLst>
                                            <p:cond delay="0"/>
                                          </p:stCondLst>
                                        </p:cTn>
                                        <p:tgtEl>
                                          <p:spTgt spid="182"/>
                                        </p:tgtEl>
                                        <p:attrNameLst>
                                          <p:attrName>style.visibility</p:attrName>
                                        </p:attrNameLst>
                                      </p:cBhvr>
                                      <p:to>
                                        <p:strVal val="visible"/>
                                      </p:to>
                                    </p:set>
                                    <p:animEffect filter="blinds(horizontal)" transition="in">
                                      <p:cBhvr additive="repl">
                                        <p:cTn id="241" dur="500"/>
                                        <p:tgtEl>
                                          <p:spTgt spid="182"/>
                                        </p:tgtEl>
                                      </p:cBhvr>
                                    </p:animEffect>
                                  </p:childTnLst>
                                </p:cTn>
                              </p:par>
                            </p:childTnLst>
                          </p:cTn>
                        </p:par>
                        <p:par>
                          <p:cTn id="242" fill="hold">
                            <p:stCondLst>
                              <p:cond delay="500"/>
                            </p:stCondLst>
                            <p:childTnLst>
                              <p:par>
                                <p:cTn id="243" nodeType="afterEffect" fill="hold" presetClass="entr" presetID="3" presetSubtype="10">
                                  <p:stCondLst>
                                    <p:cond delay="0"/>
                                  </p:stCondLst>
                                  <p:childTnLst>
                                    <p:set>
                                      <p:cBhvr>
                                        <p:cTn id="244" dur="1" fill="hold">
                                          <p:stCondLst>
                                            <p:cond delay="0"/>
                                          </p:stCondLst>
                                        </p:cTn>
                                        <p:tgtEl>
                                          <p:spTgt spid="211"/>
                                        </p:tgtEl>
                                        <p:attrNameLst>
                                          <p:attrName>style.visibility</p:attrName>
                                        </p:attrNameLst>
                                      </p:cBhvr>
                                      <p:to>
                                        <p:strVal val="visible"/>
                                      </p:to>
                                    </p:set>
                                    <p:animEffect filter="blinds(horizontal)" transition="in">
                                      <p:cBhvr additive="repl">
                                        <p:cTn id="245" dur="500"/>
                                        <p:tgtEl>
                                          <p:spTgt spid="211"/>
                                        </p:tgtEl>
                                      </p:cBhvr>
                                    </p:animEffect>
                                  </p:childTnLst>
                                </p:cTn>
                              </p:par>
                            </p:childTnLst>
                          </p:cTn>
                        </p:par>
                      </p:childTnLst>
                    </p:cTn>
                  </p:par>
                  <p:par>
                    <p:cTn id="246" fill="hold">
                      <p:stCondLst>
                        <p:cond delay="indefinite"/>
                      </p:stCondLst>
                      <p:childTnLst>
                        <p:par>
                          <p:cTn id="247" fill="hold">
                            <p:stCondLst>
                              <p:cond delay="0"/>
                            </p:stCondLst>
                            <p:childTnLst>
                              <p:par>
                                <p:cTn id="248" nodeType="clickEffect" fill="hold" presetClass="exit" presetID="3" presetSubtype="10">
                                  <p:stCondLst>
                                    <p:cond delay="0"/>
                                  </p:stCondLst>
                                  <p:childTnLst>
                                    <p:animEffect filter="blinds(horizontal)" transition="out">
                                      <p:cBhvr additive="repl">
                                        <p:cTn id="249" dur="500"/>
                                        <p:tgtEl>
                                          <p:spTgt spid="211"/>
                                        </p:tgtEl>
                                      </p:cBhvr>
                                    </p:animEffect>
                                    <p:set>
                                      <p:cBhvr>
                                        <p:cTn id="250" dur="1" fill="hold">
                                          <p:stCondLst>
                                            <p:cond delay="499"/>
                                          </p:stCondLst>
                                        </p:cTn>
                                        <p:tgtEl>
                                          <p:spTgt spid="211"/>
                                        </p:tgtEl>
                                        <p:attrNameLst>
                                          <p:attrName>style.visibility</p:attrName>
                                        </p:attrNameLst>
                                      </p:cBhvr>
                                      <p:to>
                                        <p:strVal val="hidden"/>
                                      </p:to>
                                    </p:set>
                                  </p:childTnLst>
                                </p:cTn>
                              </p:par>
                            </p:childTnLst>
                          </p:cTn>
                        </p:par>
                        <p:par>
                          <p:cTn id="251" fill="hold">
                            <p:stCondLst>
                              <p:cond delay="500"/>
                            </p:stCondLst>
                            <p:childTnLst>
                              <p:par>
                                <p:cTn id="252" nodeType="afterEffect" fill="hold" presetClass="entr" presetID="3" presetSubtype="10">
                                  <p:stCondLst>
                                    <p:cond delay="0"/>
                                  </p:stCondLst>
                                  <p:childTnLst>
                                    <p:set>
                                      <p:cBhvr>
                                        <p:cTn id="253" dur="1" fill="hold">
                                          <p:stCondLst>
                                            <p:cond delay="0"/>
                                          </p:stCondLst>
                                        </p:cTn>
                                        <p:tgtEl>
                                          <p:spTgt spid="188"/>
                                        </p:tgtEl>
                                        <p:attrNameLst>
                                          <p:attrName>style.visibility</p:attrName>
                                        </p:attrNameLst>
                                      </p:cBhvr>
                                      <p:to>
                                        <p:strVal val="visible"/>
                                      </p:to>
                                    </p:set>
                                    <p:animEffect filter="blinds(horizontal)" transition="in">
                                      <p:cBhvr additive="repl">
                                        <p:cTn id="254" dur="500"/>
                                        <p:tgtEl>
                                          <p:spTgt spid="188"/>
                                        </p:tgtEl>
                                      </p:cBhvr>
                                    </p:animEffect>
                                  </p:childTnLst>
                                </p:cTn>
                              </p:par>
                            </p:childTnLst>
                          </p:cTn>
                        </p:par>
                        <p:par>
                          <p:cTn id="255" fill="hold">
                            <p:stCondLst>
                              <p:cond delay="1000"/>
                            </p:stCondLst>
                            <p:childTnLst>
                              <p:par>
                                <p:cTn id="256" nodeType="afterEffect" fill="hold" presetClass="exit" presetID="3" presetSubtype="10">
                                  <p:stCondLst>
                                    <p:cond delay="0"/>
                                  </p:stCondLst>
                                  <p:childTnLst>
                                    <p:animEffect filter="blinds(horizontal)" transition="out">
                                      <p:cBhvr additive="repl">
                                        <p:cTn id="257" dur="500"/>
                                        <p:tgtEl>
                                          <p:spTgt spid="182"/>
                                        </p:tgtEl>
                                      </p:cBhvr>
                                    </p:animEffect>
                                    <p:set>
                                      <p:cBhvr>
                                        <p:cTn id="258" dur="1" fill="hold">
                                          <p:stCondLst>
                                            <p:cond delay="499"/>
                                          </p:stCondLst>
                                        </p:cTn>
                                        <p:tgtEl>
                                          <p:spTgt spid="182"/>
                                        </p:tgtEl>
                                        <p:attrNameLst>
                                          <p:attrName>style.visibility</p:attrName>
                                        </p:attrNameLst>
                                      </p:cBhvr>
                                      <p:to>
                                        <p:strVal val="hidden"/>
                                      </p:to>
                                    </p:set>
                                  </p:childTnLst>
                                </p:cTn>
                              </p:par>
                            </p:childTnLst>
                          </p:cTn>
                        </p:par>
                      </p:childTnLst>
                    </p:cTn>
                  </p:par>
                  <p:par>
                    <p:cTn id="259" fill="hold">
                      <p:stCondLst>
                        <p:cond delay="indefinite"/>
                      </p:stCondLst>
                      <p:childTnLst>
                        <p:par>
                          <p:cTn id="260" fill="hold">
                            <p:stCondLst>
                              <p:cond delay="0"/>
                            </p:stCondLst>
                            <p:childTnLst>
                              <p:par>
                                <p:cTn id="261" nodeType="clickEffect" fill="hold" presetClass="entr" presetID="3" presetSubtype="10">
                                  <p:stCondLst>
                                    <p:cond delay="0"/>
                                  </p:stCondLst>
                                  <p:childTnLst>
                                    <p:set>
                                      <p:cBhvr>
                                        <p:cTn id="262" dur="1" fill="hold">
                                          <p:stCondLst>
                                            <p:cond delay="0"/>
                                          </p:stCondLst>
                                        </p:cTn>
                                        <p:tgtEl>
                                          <p:spTgt spid="193"/>
                                        </p:tgtEl>
                                        <p:attrNameLst>
                                          <p:attrName>style.visibility</p:attrName>
                                        </p:attrNameLst>
                                      </p:cBhvr>
                                      <p:to>
                                        <p:strVal val="visible"/>
                                      </p:to>
                                    </p:set>
                                    <p:animEffect filter="blinds(horizontal)" transition="in">
                                      <p:cBhvr additive="repl">
                                        <p:cTn id="263" dur="500"/>
                                        <p:tgtEl>
                                          <p:spTgt spid="193"/>
                                        </p:tgtEl>
                                      </p:cBhvr>
                                    </p:animEffect>
                                  </p:childTnLst>
                                </p:cTn>
                              </p:par>
                            </p:childTnLst>
                          </p:cTn>
                        </p:par>
                        <p:par>
                          <p:cTn id="264" fill="hold">
                            <p:stCondLst>
                              <p:cond delay="500"/>
                            </p:stCondLst>
                            <p:childTnLst>
                              <p:par>
                                <p:cTn id="265" nodeType="afterEffect" fill="hold" presetClass="entr" presetID="3" presetSubtype="10">
                                  <p:stCondLst>
                                    <p:cond delay="0"/>
                                  </p:stCondLst>
                                  <p:childTnLst>
                                    <p:set>
                                      <p:cBhvr>
                                        <p:cTn id="266" dur="1" fill="hold">
                                          <p:stCondLst>
                                            <p:cond delay="0"/>
                                          </p:stCondLst>
                                        </p:cTn>
                                        <p:tgtEl>
                                          <p:spTgt spid="201"/>
                                        </p:tgtEl>
                                        <p:attrNameLst>
                                          <p:attrName>style.visibility</p:attrName>
                                        </p:attrNameLst>
                                      </p:cBhvr>
                                      <p:to>
                                        <p:strVal val="visible"/>
                                      </p:to>
                                    </p:set>
                                    <p:animEffect filter="blinds(horizontal)" transition="in">
                                      <p:cBhvr additive="repl">
                                        <p:cTn id="267" dur="500"/>
                                        <p:tgtEl>
                                          <p:spTgt spid="201"/>
                                        </p:tgtEl>
                                      </p:cBhvr>
                                    </p:animEffect>
                                  </p:childTnLst>
                                </p:cTn>
                              </p:par>
                            </p:childTnLst>
                          </p:cTn>
                        </p:par>
                        <p:par>
                          <p:cTn id="268" fill="hold">
                            <p:stCondLst>
                              <p:cond delay="1000"/>
                            </p:stCondLst>
                            <p:childTnLst>
                              <p:par>
                                <p:cTn id="269" nodeType="afterEffect" fill="hold" presetClass="entr" presetID="3" presetSubtype="10">
                                  <p:stCondLst>
                                    <p:cond delay="0"/>
                                  </p:stCondLst>
                                  <p:childTnLst>
                                    <p:set>
                                      <p:cBhvr>
                                        <p:cTn id="270" dur="1" fill="hold">
                                          <p:stCondLst>
                                            <p:cond delay="0"/>
                                          </p:stCondLst>
                                        </p:cTn>
                                        <p:tgtEl>
                                          <p:spTgt spid="200"/>
                                        </p:tgtEl>
                                        <p:attrNameLst>
                                          <p:attrName>style.visibility</p:attrName>
                                        </p:attrNameLst>
                                      </p:cBhvr>
                                      <p:to>
                                        <p:strVal val="visible"/>
                                      </p:to>
                                    </p:set>
                                    <p:animEffect filter="blinds(horizontal)" transition="in">
                                      <p:cBhvr additive="repl">
                                        <p:cTn id="271" dur="500"/>
                                        <p:tgtEl>
                                          <p:spTgt spid="200"/>
                                        </p:tgtEl>
                                      </p:cBhvr>
                                    </p:animEffect>
                                  </p:childTnLst>
                                </p:cTn>
                              </p:par>
                            </p:childTnLst>
                          </p:cTn>
                        </p:par>
                        <p:par>
                          <p:cTn id="272" fill="hold">
                            <p:stCondLst>
                              <p:cond delay="1500"/>
                            </p:stCondLst>
                            <p:childTnLst>
                              <p:par>
                                <p:cTn id="273" nodeType="afterEffect" fill="hold" presetClass="entr" presetID="3" presetSubtype="10">
                                  <p:stCondLst>
                                    <p:cond delay="0"/>
                                  </p:stCondLst>
                                  <p:childTnLst>
                                    <p:set>
                                      <p:cBhvr>
                                        <p:cTn id="274" dur="1" fill="hold">
                                          <p:stCondLst>
                                            <p:cond delay="0"/>
                                          </p:stCondLst>
                                        </p:cTn>
                                        <p:tgtEl>
                                          <p:spTgt spid="199"/>
                                        </p:tgtEl>
                                        <p:attrNameLst>
                                          <p:attrName>style.visibility</p:attrName>
                                        </p:attrNameLst>
                                      </p:cBhvr>
                                      <p:to>
                                        <p:strVal val="visible"/>
                                      </p:to>
                                    </p:set>
                                    <p:animEffect filter="blinds(horizontal)" transition="in">
                                      <p:cBhvr additive="repl">
                                        <p:cTn id="275" dur="500"/>
                                        <p:tgtEl>
                                          <p:spTgt spid="199"/>
                                        </p:tgtEl>
                                      </p:cBhvr>
                                    </p:animEffect>
                                  </p:childTnLst>
                                </p:cTn>
                              </p:par>
                            </p:childTnLst>
                          </p:cTn>
                        </p:par>
                      </p:childTnLst>
                    </p:cTn>
                  </p:par>
                  <p:par>
                    <p:cTn id="276" fill="hold">
                      <p:stCondLst>
                        <p:cond delay="indefinite"/>
                      </p:stCondLst>
                      <p:childTnLst>
                        <p:par>
                          <p:cTn id="277" fill="hold">
                            <p:stCondLst>
                              <p:cond delay="0"/>
                            </p:stCondLst>
                            <p:childTnLst>
                              <p:par>
                                <p:cTn id="278" nodeType="clickEffect" fill="hold" presetClass="entr" presetID="3" presetSubtype="10">
                                  <p:stCondLst>
                                    <p:cond delay="0"/>
                                  </p:stCondLst>
                                  <p:childTnLst>
                                    <p:set>
                                      <p:cBhvr>
                                        <p:cTn id="279" dur="1" fill="hold">
                                          <p:stCondLst>
                                            <p:cond delay="0"/>
                                          </p:stCondLst>
                                        </p:cTn>
                                        <p:tgtEl>
                                          <p:spTgt spid="196"/>
                                        </p:tgtEl>
                                        <p:attrNameLst>
                                          <p:attrName>style.visibility</p:attrName>
                                        </p:attrNameLst>
                                      </p:cBhvr>
                                      <p:to>
                                        <p:strVal val="visible"/>
                                      </p:to>
                                    </p:set>
                                    <p:animEffect filter="blinds(horizontal)" transition="in">
                                      <p:cBhvr additive="repl">
                                        <p:cTn id="280" dur="500"/>
                                        <p:tgtEl>
                                          <p:spTgt spid="196"/>
                                        </p:tgtEl>
                                      </p:cBhvr>
                                    </p:animEffect>
                                  </p:childTnLst>
                                </p:cTn>
                              </p:par>
                            </p:childTnLst>
                          </p:cTn>
                        </p:par>
                        <p:par>
                          <p:cTn id="281" fill="hold">
                            <p:stCondLst>
                              <p:cond delay="500"/>
                            </p:stCondLst>
                            <p:childTnLst>
                              <p:par>
                                <p:cTn id="282" nodeType="afterEffect" fill="hold" presetClass="entr" presetID="3" presetSubtype="10">
                                  <p:stCondLst>
                                    <p:cond delay="0"/>
                                  </p:stCondLst>
                                  <p:childTnLst>
                                    <p:set>
                                      <p:cBhvr>
                                        <p:cTn id="283" dur="1" fill="hold">
                                          <p:stCondLst>
                                            <p:cond delay="0"/>
                                          </p:stCondLst>
                                        </p:cTn>
                                        <p:tgtEl>
                                          <p:spTgt spid="208"/>
                                        </p:tgtEl>
                                        <p:attrNameLst>
                                          <p:attrName>style.visibility</p:attrName>
                                        </p:attrNameLst>
                                      </p:cBhvr>
                                      <p:to>
                                        <p:strVal val="visible"/>
                                      </p:to>
                                    </p:set>
                                    <p:animEffect filter="blinds(horizontal)" transition="in">
                                      <p:cBhvr additive="repl">
                                        <p:cTn id="284" dur="5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Rectangle 15"/>
          <p:cNvSpPr/>
          <p:nvPr/>
        </p:nvSpPr>
        <p:spPr>
          <a:xfrm>
            <a:off x="3786120" y="1428840"/>
            <a:ext cx="4929120" cy="7142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SQLDefinitionStorage</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Store definitions  as SQL VIEW into  referred (by each finition) DB</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check( const string &amp; name)</a:t>
            </a:r>
            <a:endParaRPr b="0" lang="en-US" sz="1200" strike="noStrike" u="none">
              <a:solidFill>
                <a:srgbClr val="000000"/>
              </a:solidFill>
              <a:effectLst/>
              <a:uFillTx/>
              <a:latin typeface="Calibri"/>
            </a:endParaRPr>
          </a:p>
        </p:txBody>
      </p:sp>
      <p:sp>
        <p:nvSpPr>
          <p:cNvPr id="223" name="PlaceHolder 1"/>
          <p:cNvSpPr>
            <a:spLocks noGrp="1"/>
          </p:cNvSpPr>
          <p:nvPr>
            <p:ph type="title"/>
          </p:nvPr>
        </p:nvSpPr>
        <p:spPr>
          <a:xfrm>
            <a:off x="685800" y="0"/>
            <a:ext cx="7772400" cy="9907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SQLCacheManager 4</a:t>
            </a:r>
            <a:endParaRPr b="0" lang="en-US" sz="4400" strike="noStrike" u="none">
              <a:solidFill>
                <a:srgbClr val="000000"/>
              </a:solidFill>
              <a:effectLst/>
              <a:uFillTx/>
              <a:latin typeface="Calibri"/>
            </a:endParaRPr>
          </a:p>
        </p:txBody>
      </p:sp>
      <p:sp>
        <p:nvSpPr>
          <p:cNvPr id="224" name="Rectangle 23"/>
          <p:cNvSpPr/>
          <p:nvPr/>
        </p:nvSpPr>
        <p:spPr>
          <a:xfrm>
            <a:off x="3762360" y="3505320"/>
            <a:ext cx="4952880" cy="12189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Response HandlerList::TheList()</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data, BESDataResponseHandler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manager, SQLResponseHandler</a:t>
            </a:r>
            <a:endParaRPr b="0" lang="en-US" sz="1800" strike="noStrike" u="none">
              <a:solidFill>
                <a:srgbClr val="000000"/>
              </a:solidFill>
              <a:effectLst/>
              <a:uFillTx/>
              <a:latin typeface="Calibri"/>
            </a:endParaRPr>
          </a:p>
        </p:txBody>
      </p:sp>
      <p:sp>
        <p:nvSpPr>
          <p:cNvPr id="225" name="Rectangle 25"/>
          <p:cNvSpPr/>
          <p:nvPr/>
        </p:nvSpPr>
        <p:spPr>
          <a:xfrm>
            <a:off x="3762360" y="4786200"/>
            <a:ext cx="4952880" cy="17668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Request HandlerList::TheList()</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sql, SQLRequestHandler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data, fill_data_func</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dds, fill_dds_func</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das, fill_das_func </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 netCDF, NCRequestHandler</a:t>
            </a:r>
            <a:endParaRPr b="0" lang="en-US" sz="1800" strike="noStrike" u="none">
              <a:solidFill>
                <a:srgbClr val="000000"/>
              </a:solidFill>
              <a:effectLst/>
              <a:uFillTx/>
              <a:latin typeface="Calibri"/>
            </a:endParaRPr>
          </a:p>
        </p:txBody>
      </p:sp>
      <p:sp>
        <p:nvSpPr>
          <p:cNvPr id="226" name="Rectangle 15"/>
          <p:cNvSpPr/>
          <p:nvPr/>
        </p:nvSpPr>
        <p:spPr>
          <a:xfrm>
            <a:off x="3776760" y="2214720"/>
            <a:ext cx="4929120" cy="12398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SQLCacheManager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Manage data storage (to DB and files) and retrieval from (db and files)</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cache(SQLDefinition* definition)</a:t>
            </a:r>
            <a:endParaRPr b="0" lang="en-US" sz="1200" strike="noStrike" u="none">
              <a:solidFill>
                <a:srgbClr val="000000"/>
              </a:solidFill>
              <a:effectLst/>
              <a:uFillTx/>
              <a:latin typeface="Calibri"/>
            </a:endParaRPr>
          </a:p>
        </p:txBody>
      </p:sp>
      <p:sp>
        <p:nvSpPr>
          <p:cNvPr id="227" name="Rectangle 15"/>
          <p:cNvSpPr/>
          <p:nvPr/>
        </p:nvSpPr>
        <p:spPr>
          <a:xfrm>
            <a:off x="3786120" y="785880"/>
            <a:ext cx="4929120" cy="5713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SQLAggregationServer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aggregate( BESDataHandlerInterface &amp;dhi )</a:t>
            </a:r>
            <a:endParaRPr b="0" lang="en-US" sz="1200" strike="noStrike" u="none">
              <a:solidFill>
                <a:srgbClr val="000000"/>
              </a:solidFill>
              <a:effectLst/>
              <a:uFillTx/>
              <a:latin typeface="Calibri"/>
            </a:endParaRPr>
          </a:p>
        </p:txBody>
      </p:sp>
      <p:sp>
        <p:nvSpPr>
          <p:cNvPr id="228" name="Rectangle 15"/>
          <p:cNvSpPr/>
          <p:nvPr/>
        </p:nvSpPr>
        <p:spPr>
          <a:xfrm>
            <a:off x="142920" y="785880"/>
            <a:ext cx="3500280" cy="57862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SQLContainerCatalogStorage</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Is used to store as dataset cached file via </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Calibri"/>
              </a:rPr>
              <a:t>SQLCacheManager::promote(SQLContainer *c)</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Calibri"/>
              </a:rPr>
              <a:t>SQLCacheManager::remove(SQLContainer *c)</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methods</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SQLAggregationServer</a:t>
            </a:r>
            <a:endParaRPr b="0" lang="en-US" sz="18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May be registered with the SQLHandler to define </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the basic join (table) operation.</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Other type of aggregation can be added as usual with</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Modules. </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The place where to decide which of them we have </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to use should be the  SQLCacheManager when a</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SQLDefinition is build from a SQLContainer.</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F.E.: if ‘simplify()’ split by column we should use</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sqlColumnAggregator else we can use</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sqlTableAggregator (Join)</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0000"/>
                </a:solidFill>
                <a:effectLst/>
                <a:uFillTx/>
                <a:latin typeface="Calibri"/>
              </a:rPr>
              <a:t>Note that all the cached file should contain</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0000"/>
                </a:solidFill>
                <a:effectLst/>
                <a:uFillTx/>
                <a:latin typeface="Calibri"/>
              </a:rPr>
              <a:t>The PrimaryKey to be joinable!!! </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0000"/>
                </a:solidFill>
                <a:effectLst/>
                <a:uFillTx/>
                <a:latin typeface="Calibri"/>
              </a:rPr>
              <a:t>This could be a serious problem…</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200" strike="noStrike" u="none">
                <a:solidFill>
                  <a:srgbClr val="000000"/>
                </a:solidFill>
                <a:effectLst/>
                <a:uFillTx/>
                <a:latin typeface="Calibri"/>
              </a:rPr>
              <a:t>One quick solution is to query ALL the table attributes</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200" strike="noStrike" u="none">
                <a:solidFill>
                  <a:srgbClr val="000000"/>
                </a:solidFill>
                <a:effectLst/>
                <a:uFillTx/>
                <a:latin typeface="Calibri"/>
              </a:rPr>
              <a:t>Using the * key but this may result in a very expensive</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200" strike="noStrike" u="none">
                <a:solidFill>
                  <a:srgbClr val="000000"/>
                </a:solidFill>
                <a:effectLst/>
                <a:uFillTx/>
                <a:latin typeface="Calibri"/>
              </a:rPr>
              <a:t>Query. This is done only the first time since the </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200" strike="noStrike" u="none">
                <a:solidFill>
                  <a:srgbClr val="000000"/>
                </a:solidFill>
                <a:effectLst/>
                <a:uFillTx/>
                <a:latin typeface="Calibri"/>
              </a:rPr>
              <a:t>resulting  file will be cached in a suitable format.</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200" strike="noStrike" u="none">
                <a:solidFill>
                  <a:srgbClr val="000000"/>
                </a:solidFill>
                <a:effectLst/>
                <a:uFillTx/>
                <a:latin typeface="Calibri"/>
              </a:rPr>
              <a:t>(NetCDF?)</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Due to hypothetic DB data modification, ageing </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is needed.</a:t>
            </a:r>
            <a:endParaRPr b="0" lang="en-US" sz="12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Calibri"/>
            </a:endParaRPr>
          </a:p>
        </p:txBody>
      </p:sp>
      <p:grpSp>
        <p:nvGrpSpPr>
          <p:cNvPr id="229" name="Group 90"/>
          <p:cNvGrpSpPr/>
          <p:nvPr/>
        </p:nvGrpSpPr>
        <p:grpSpPr>
          <a:xfrm>
            <a:off x="6858000" y="4071960"/>
            <a:ext cx="1785960" cy="2428920"/>
            <a:chOff x="6858000" y="4071960"/>
            <a:chExt cx="1785960" cy="2428920"/>
          </a:xfrm>
        </p:grpSpPr>
        <p:cxnSp>
          <p:nvCxnSpPr>
            <p:cNvPr id="230" name="AutoShape 30"/>
            <p:cNvCxnSpPr>
              <a:stCxn id="231" idx="2"/>
              <a:endCxn id="232" idx="0"/>
            </p:cNvCxnSpPr>
            <p:nvPr/>
          </p:nvCxnSpPr>
          <p:spPr>
            <a:xfrm rot="5400000">
              <a:off x="7349040" y="4563720"/>
              <a:ext cx="767520" cy="392760"/>
            </a:xfrm>
            <a:prstGeom prst="bentConnector3">
              <a:avLst>
                <a:gd name="adj1" fmla="val 49976"/>
              </a:avLst>
            </a:prstGeom>
            <a:ln w="25560">
              <a:solidFill>
                <a:srgbClr val="c0504d"/>
              </a:solidFill>
              <a:miter/>
              <a:tailEnd len="med" type="triangle" w="med"/>
            </a:ln>
          </p:spPr>
        </p:cxnSp>
        <p:sp>
          <p:nvSpPr>
            <p:cNvPr id="232" name="Rectangle 24"/>
            <p:cNvSpPr/>
            <p:nvPr/>
          </p:nvSpPr>
          <p:spPr>
            <a:xfrm>
              <a:off x="6858000" y="5143680"/>
              <a:ext cx="1357560" cy="135720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Execute_all()</a:t>
              </a:r>
              <a:endParaRPr b="0" lang="en-US" sz="1800" strike="noStrike" u="none">
                <a:solidFill>
                  <a:srgbClr val="000000"/>
                </a:solidFill>
                <a:effectLst/>
                <a:uFillTx/>
                <a:latin typeface="Calibri"/>
              </a:endParaRPr>
            </a:p>
          </p:txBody>
        </p:sp>
        <p:sp>
          <p:nvSpPr>
            <p:cNvPr id="231" name="Rectangle 24"/>
            <p:cNvSpPr/>
            <p:nvPr/>
          </p:nvSpPr>
          <p:spPr>
            <a:xfrm>
              <a:off x="7215120" y="4071960"/>
              <a:ext cx="142884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Return SQLDef</a:t>
              </a:r>
              <a:endParaRPr b="0" lang="en-US" sz="1800" strike="noStrike" u="none">
                <a:solidFill>
                  <a:srgbClr val="000000"/>
                </a:solidFill>
                <a:effectLst/>
                <a:uFillTx/>
                <a:latin typeface="Calibri"/>
              </a:endParaRPr>
            </a:p>
          </p:txBody>
        </p:sp>
      </p:grpSp>
      <p:grpSp>
        <p:nvGrpSpPr>
          <p:cNvPr id="233" name="Group 94"/>
          <p:cNvGrpSpPr/>
          <p:nvPr/>
        </p:nvGrpSpPr>
        <p:grpSpPr>
          <a:xfrm>
            <a:off x="3656160" y="857160"/>
            <a:ext cx="4559040" cy="4965480"/>
            <a:chOff x="3656160" y="857160"/>
            <a:chExt cx="4559040" cy="4965480"/>
          </a:xfrm>
        </p:grpSpPr>
        <p:grpSp>
          <p:nvGrpSpPr>
            <p:cNvPr id="234" name="Group 89"/>
            <p:cNvGrpSpPr/>
            <p:nvPr/>
          </p:nvGrpSpPr>
          <p:grpSpPr>
            <a:xfrm>
              <a:off x="3656160" y="857160"/>
              <a:ext cx="4559040" cy="3520080"/>
              <a:chOff x="3656160" y="857160"/>
              <a:chExt cx="4559040" cy="3520080"/>
            </a:xfrm>
          </p:grpSpPr>
          <p:sp>
            <p:nvSpPr>
              <p:cNvPr id="235" name="Rectangle 24"/>
              <p:cNvSpPr/>
              <p:nvPr/>
            </p:nvSpPr>
            <p:spPr>
              <a:xfrm>
                <a:off x="7643880" y="857160"/>
                <a:ext cx="57132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call</a:t>
                </a:r>
                <a:endParaRPr b="0" lang="en-US" sz="1800" strike="noStrike" u="none">
                  <a:solidFill>
                    <a:srgbClr val="000000"/>
                  </a:solidFill>
                  <a:effectLst/>
                  <a:uFillTx/>
                  <a:latin typeface="Calibri"/>
                </a:endParaRPr>
              </a:p>
            </p:txBody>
          </p:sp>
          <p:cxnSp>
            <p:nvCxnSpPr>
              <p:cNvPr id="236" name="AutoShape 30"/>
              <p:cNvCxnSpPr>
                <a:stCxn id="237" idx="1"/>
                <a:endCxn id="235" idx="2"/>
              </p:cNvCxnSpPr>
              <p:nvPr/>
            </p:nvCxnSpPr>
            <p:spPr>
              <a:xfrm flipH="1" rot="10800000">
                <a:off x="3884400" y="1161000"/>
                <a:ext cx="4045680" cy="3063240"/>
              </a:xfrm>
              <a:prstGeom prst="bentConnector4">
                <a:avLst>
                  <a:gd name="adj1" fmla="val -5650"/>
                  <a:gd name="adj2" fmla="val 52480"/>
                </a:avLst>
              </a:prstGeom>
              <a:ln w="25560">
                <a:solidFill>
                  <a:srgbClr val="c0504d"/>
                </a:solidFill>
                <a:miter/>
                <a:tailEnd len="med" type="triangle" w="med"/>
              </a:ln>
            </p:spPr>
          </p:cxnSp>
          <p:sp>
            <p:nvSpPr>
              <p:cNvPr id="237" name="Rectangle 24"/>
              <p:cNvSpPr/>
              <p:nvPr/>
            </p:nvSpPr>
            <p:spPr>
              <a:xfrm>
                <a:off x="3884760" y="4072680"/>
                <a:ext cx="714240" cy="304560"/>
              </a:xfrm>
              <a:prstGeom prst="rect">
                <a:avLst/>
              </a:prstGeom>
              <a:solidFill>
                <a:srgbClr val="00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Calibri"/>
                  </a:rPr>
                  <a:t>call</a:t>
                </a:r>
                <a:endParaRPr b="0" lang="en-US" sz="1800" strike="noStrike" u="none">
                  <a:solidFill>
                    <a:srgbClr val="000000"/>
                  </a:solidFill>
                  <a:effectLst/>
                  <a:uFillTx/>
                  <a:latin typeface="Calibri"/>
                </a:endParaRPr>
              </a:p>
            </p:txBody>
          </p:sp>
        </p:grpSp>
        <p:cxnSp>
          <p:nvCxnSpPr>
            <p:cNvPr id="238" name="AutoShape 30"/>
            <p:cNvCxnSpPr>
              <a:stCxn id="232" idx="1"/>
              <a:endCxn id="237" idx="2"/>
            </p:cNvCxnSpPr>
            <p:nvPr/>
          </p:nvCxnSpPr>
          <p:spPr>
            <a:xfrm rot="10800000">
              <a:off x="4241160" y="4376160"/>
              <a:ext cx="2616840" cy="1446840"/>
            </a:xfrm>
            <a:prstGeom prst="bentConnector2">
              <a:avLst/>
            </a:prstGeom>
            <a:ln w="25560">
              <a:solidFill>
                <a:srgbClr val="c0504d"/>
              </a:solidFill>
              <a:miter/>
              <a:tailEnd len="med" type="triangle" w="med"/>
            </a:ln>
          </p:spPr>
        </p:cxnSp>
      </p:grpSp>
      <p:sp>
        <p:nvSpPr>
          <p:cNvPr id="239" name="Date Placeholder 18"/>
          <p:cNvSpPr/>
          <p:nvPr/>
        </p:nvSpPr>
        <p:spPr>
          <a:xfrm>
            <a:off x="457200" y="6356520"/>
            <a:ext cx="2133720" cy="365040"/>
          </a:xfrm>
          <a:prstGeom prst="rect">
            <a:avLst/>
          </a:prstGeom>
          <a:noFill/>
          <a:ln w="0">
            <a:noFill/>
          </a:ln>
        </p:spPr>
        <p:style>
          <a:lnRef idx="0"/>
          <a:fillRef idx="0"/>
          <a:effectRef idx="0"/>
          <a:fontRef idx="minor"/>
        </p:style>
        <p: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FED3BE2-75F2-4B3A-A234-66AAD26CC701}" type="datetime">
              <a:rPr b="0" lang="en-US" sz="1200" strike="noStrike" u="none">
                <a:solidFill>
                  <a:srgbClr val="898989"/>
                </a:solidFill>
                <a:effectLst/>
                <a:uFillTx/>
                <a:latin typeface="Calibri"/>
              </a:rPr>
              <a:t>03/20/26</a:t>
            </a:fld>
            <a:endParaRPr b="0" lang="en-US" sz="1200" strike="noStrike" u="none">
              <a:solidFill>
                <a:srgbClr val="000000"/>
              </a:solidFill>
              <a:effectLst/>
              <a:uFillTx/>
              <a:latin typeface="Calibri"/>
            </a:endParaRPr>
          </a:p>
        </p:txBody>
      </p:sp>
      <p:sp>
        <p:nvSpPr>
          <p:cNvPr id="240" name="Slide Number Placeholder 19"/>
          <p:cNvSpPr/>
          <p:nvPr/>
        </p:nvSpPr>
        <p:spPr>
          <a:xfrm>
            <a:off x="6553080" y="6356520"/>
            <a:ext cx="2133720" cy="365040"/>
          </a:xfrm>
          <a:prstGeom prst="rect">
            <a:avLst/>
          </a:prstGeom>
          <a:noFill/>
          <a:ln w="0">
            <a:noFill/>
          </a:ln>
        </p:spPr>
        <p:style>
          <a:lnRef idx="0"/>
          <a:fillRef idx="0"/>
          <a:effectRef idx="0"/>
          <a:fontRef idx="minor"/>
        </p:style>
        <p:txBody>
          <a:bodyPr lIns="90000" rIns="90000" tIns="46800" bIns="46800" anchor="ctr">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A858C7B-9A29-4A6E-B63A-760E0FDDCBDA}" type="slidenum">
              <a:rPr b="0" lang="it-IT" sz="1200" strike="noStrike" u="none">
                <a:solidFill>
                  <a:srgbClr val="898989"/>
                </a:solidFill>
                <a:effectLst/>
                <a:uFillTx/>
                <a:latin typeface="Calibri"/>
              </a:rPr>
              <a:t>&lt;number&gt;</a:t>
            </a:fld>
            <a:endParaRPr b="0" lang="en-US" sz="1200" strike="noStrike" u="none">
              <a:solidFill>
                <a:srgbClr val="000000"/>
              </a:solidFill>
              <a:effectLst/>
              <a:uFillTx/>
              <a:latin typeface="Calibri"/>
            </a:endParaRPr>
          </a:p>
        </p:txBody>
      </p:sp>
      <p:sp>
        <p:nvSpPr>
          <p:cNvPr id="241" name="Footer Placeholder 20"/>
          <p:cNvSpPr/>
          <p:nvPr/>
        </p:nvSpPr>
        <p:spPr>
          <a:xfrm>
            <a:off x="3124080" y="6356520"/>
            <a:ext cx="2895840" cy="36504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it-IT" sz="1200" strike="noStrike" u="none">
                <a:solidFill>
                  <a:srgbClr val="898989"/>
                </a:solidFill>
                <a:effectLst/>
                <a:uFillTx/>
                <a:latin typeface="Calibri"/>
              </a:rPr>
              <a:t>Author: Dr. Cancellieri Carlo</a:t>
            </a:r>
            <a:endParaRPr b="0" lang="en-US" sz="12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timing>
    <p:tnLst>
      <p:par>
        <p:cTn id="285" dur="indefinite" restart="never" nodeType="tmRoot">
          <p:childTnLst>
            <p:seq>
              <p:cTn id="286" dur="indefinite" nodeType="mainSeq">
                <p:childTnLst>
                  <p:par>
                    <p:cTn id="287" fill="hold">
                      <p:stCondLst>
                        <p:cond delay="indefinite"/>
                      </p:stCondLst>
                      <p:childTnLst>
                        <p:par>
                          <p:cTn id="288" fill="hold">
                            <p:stCondLst>
                              <p:cond delay="0"/>
                            </p:stCondLst>
                            <p:childTnLst>
                              <p:par>
                                <p:cTn id="289" nodeType="clickEffect" fill="hold" presetClass="entr" presetID="3" presetSubtype="10">
                                  <p:stCondLst>
                                    <p:cond delay="0"/>
                                  </p:stCondLst>
                                  <p:childTnLst>
                                    <p:set>
                                      <p:cBhvr>
                                        <p:cTn id="290" dur="1" fill="hold">
                                          <p:stCondLst>
                                            <p:cond delay="0"/>
                                          </p:stCondLst>
                                        </p:cTn>
                                        <p:tgtEl>
                                          <p:spTgt spid="229"/>
                                        </p:tgtEl>
                                        <p:attrNameLst>
                                          <p:attrName>style.visibility</p:attrName>
                                        </p:attrNameLst>
                                      </p:cBhvr>
                                      <p:to>
                                        <p:strVal val="visible"/>
                                      </p:to>
                                    </p:set>
                                    <p:animEffect filter="blinds(horizontal)" transition="in">
                                      <p:cBhvr additive="repl">
                                        <p:cTn id="291" dur="500"/>
                                        <p:tgtEl>
                                          <p:spTgt spid="229"/>
                                        </p:tgtEl>
                                      </p:cBhvr>
                                    </p:animEffect>
                                  </p:childTnLst>
                                </p:cTn>
                              </p:par>
                            </p:childTnLst>
                          </p:cTn>
                        </p:par>
                      </p:childTnLst>
                    </p:cTn>
                  </p:par>
                  <p:par>
                    <p:cTn id="292" fill="hold">
                      <p:stCondLst>
                        <p:cond delay="indefinite"/>
                      </p:stCondLst>
                      <p:childTnLst>
                        <p:par>
                          <p:cTn id="293" fill="hold">
                            <p:stCondLst>
                              <p:cond delay="0"/>
                            </p:stCondLst>
                            <p:childTnLst>
                              <p:par>
                                <p:cTn id="294" nodeType="clickEffect" fill="hold" presetClass="entr" presetID="3" presetSubtype="10">
                                  <p:stCondLst>
                                    <p:cond delay="0"/>
                                  </p:stCondLst>
                                  <p:childTnLst>
                                    <p:set>
                                      <p:cBhvr>
                                        <p:cTn id="295" dur="1" fill="hold">
                                          <p:stCondLst>
                                            <p:cond delay="0"/>
                                          </p:stCondLst>
                                        </p:cTn>
                                        <p:tgtEl>
                                          <p:spTgt spid="233"/>
                                        </p:tgtEl>
                                        <p:attrNameLst>
                                          <p:attrName>style.visibility</p:attrName>
                                        </p:attrNameLst>
                                      </p:cBhvr>
                                      <p:to>
                                        <p:strVal val="visible"/>
                                      </p:to>
                                    </p:set>
                                    <p:animEffect filter="blinds(horizontal)" transition="in">
                                      <p:cBhvr additive="repl">
                                        <p:cTn id="296" dur="5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LibreOffice/25.8.3.2$MacOSX_AARCH64 LibreOffice_project/8ca8d55c161d602844f5428fa4b58097424e324e</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2006-08-16T01:00:00Z</dcterms:created>
  <dc:creator/>
  <dc:description/>
  <dc:language>en-US</dc:language>
  <cp:lastModifiedBy>carlo</cp:lastModifiedBy>
  <dcterms:modified xsi:type="dcterms:W3CDTF">2010-08-15T22:47:49Z</dcterms:modified>
  <cp:revision>1</cp:revision>
  <dc:subject/>
  <dc:title>SQLHandler future plans</dc:title>
</cp:coreProperties>
</file>