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3ff5bd20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53ff5bd20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53ff5bd20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53ff5bd20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3ff5bd20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3ff5bd20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3ff5bd20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53ff5bd20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3ff5bd20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53ff5bd20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3ff5bd2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3ff5bd2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3ff5bd20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3ff5bd20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8b7631f9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8b7631f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53ff5bd2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53ff5bd2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b136c71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b136c71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3ff5bd2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3ff5bd2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8b7631f9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8b7631f9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3ff5bd20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3ff5bd20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3ff5bd20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3ff5bd20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53ff5bd20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53ff5bd20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53ff5bd20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53ff5bd20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53ff5bd20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53ff5bd20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3ff5bd20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3ff5bd20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docs.aviatrix.com/HowTos/gcp_inter_region_latency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25000" y="0"/>
            <a:ext cx="84711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Set of </a:t>
            </a:r>
            <a:r>
              <a:rPr b="1" lang="en" sz="2100"/>
              <a:t>techniques and technologies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                      </a:t>
            </a:r>
            <a:r>
              <a:rPr lang="en" sz="3200"/>
              <a:t>a</a:t>
            </a:r>
            <a:r>
              <a:rPr lang="en" sz="3200"/>
              <a:t>pplied in a 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F9000"/>
                </a:solidFill>
              </a:rPr>
              <a:t>G</a:t>
            </a:r>
            <a:r>
              <a:rPr b="1" lang="en"/>
              <a:t>oogle </a:t>
            </a:r>
            <a:r>
              <a:rPr b="1" lang="en">
                <a:solidFill>
                  <a:srgbClr val="38761D"/>
                </a:solidFill>
              </a:rPr>
              <a:t>C</a:t>
            </a:r>
            <a:r>
              <a:rPr b="1" lang="en"/>
              <a:t>loud </a:t>
            </a:r>
            <a:r>
              <a:rPr b="1" lang="en">
                <a:solidFill>
                  <a:srgbClr val="CC0000"/>
                </a:solidFill>
              </a:rPr>
              <a:t>P</a:t>
            </a:r>
            <a:r>
              <a:rPr b="1" lang="en"/>
              <a:t>latform</a:t>
            </a:r>
            <a:r>
              <a:rPr lang="en"/>
              <a:t> </a:t>
            </a:r>
            <a:r>
              <a:rPr lang="en" sz="3600"/>
              <a:t>environment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to maintain </a:t>
            </a:r>
            <a:r>
              <a:rPr b="1" lang="en" sz="1850"/>
              <a:t>multiple </a:t>
            </a:r>
            <a:r>
              <a:rPr lang="en" sz="1850"/>
              <a:t>geospatial oriented </a:t>
            </a:r>
            <a:r>
              <a:rPr b="1" lang="en" sz="1850"/>
              <a:t>projects</a:t>
            </a:r>
            <a:r>
              <a:rPr lang="en" sz="1850"/>
              <a:t> keeping an</a:t>
            </a:r>
            <a:r>
              <a:rPr lang="en" sz="1850"/>
              <a:t> eye on</a:t>
            </a:r>
            <a:endParaRPr sz="1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sustainability, maintainability, reliability, limitations and ... “best practices” :)</a:t>
            </a:r>
            <a:endParaRPr sz="18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/>
          </a:p>
        </p:txBody>
      </p:sp>
      <p:sp>
        <p:nvSpPr>
          <p:cNvPr id="55" name="Google Shape;55;p13"/>
          <p:cNvSpPr txBox="1"/>
          <p:nvPr/>
        </p:nvSpPr>
        <p:spPr>
          <a:xfrm>
            <a:off x="2313850" y="4352125"/>
            <a:ext cx="68079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Carlo Cancellieri</a:t>
            </a:r>
            <a:endParaRPr b="1"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geo.ccancellieri@gmail.org</a:t>
            </a:r>
            <a:endParaRPr b="1" sz="1800"/>
          </a:p>
        </p:txBody>
      </p:sp>
      <p:sp>
        <p:nvSpPr>
          <p:cNvPr id="56" name="Google Shape;56;p13"/>
          <p:cNvSpPr/>
          <p:nvPr/>
        </p:nvSpPr>
        <p:spPr>
          <a:xfrm>
            <a:off x="3745150" y="4716018"/>
            <a:ext cx="5300400" cy="234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000" y="152400"/>
            <a:ext cx="6908600" cy="47385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4"/>
          <p:cNvGrpSpPr/>
          <p:nvPr/>
        </p:nvGrpSpPr>
        <p:grpSpPr>
          <a:xfrm>
            <a:off x="7782329" y="3809263"/>
            <a:ext cx="762142" cy="620268"/>
            <a:chOff x="1812686" y="606868"/>
            <a:chExt cx="1182900" cy="962701"/>
          </a:xfrm>
        </p:grpSpPr>
        <p:sp>
          <p:nvSpPr>
            <p:cNvPr id="63" name="Google Shape;63;p14"/>
            <p:cNvSpPr/>
            <p:nvPr/>
          </p:nvSpPr>
          <p:spPr>
            <a:xfrm>
              <a:off x="2047900" y="606868"/>
              <a:ext cx="712500" cy="717300"/>
            </a:xfrm>
            <a:prstGeom prst="smileyFace">
              <a:avLst>
                <a:gd fmla="val 4653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1812686" y="1238069"/>
              <a:ext cx="11829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Testers</a:t>
              </a:r>
              <a:endParaRPr sz="1000"/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-10100" y="0"/>
            <a:ext cx="2235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Environment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Actors</a:t>
            </a:r>
            <a:r>
              <a:rPr lang="en"/>
              <a:t> (in order)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Persons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Data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Platform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Integrations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Integration is the key to success. </a:t>
            </a:r>
            <a:r>
              <a:rPr lang="en"/>
              <a:t>Well defined, </a:t>
            </a:r>
            <a:r>
              <a:rPr b="1" lang="en"/>
              <a:t>standard layers</a:t>
            </a:r>
            <a:r>
              <a:rPr lang="en"/>
              <a:t>, </a:t>
            </a:r>
            <a:r>
              <a:rPr b="1" lang="en"/>
              <a:t>interfaces</a:t>
            </a:r>
            <a:r>
              <a:rPr lang="en"/>
              <a:t> and </a:t>
            </a:r>
            <a:r>
              <a:rPr b="1" lang="en"/>
              <a:t>FEW</a:t>
            </a:r>
            <a:r>
              <a:rPr b="1" lang="en"/>
              <a:t> CLEAR conventions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Tracking changes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might be </a:t>
            </a:r>
            <a:r>
              <a:rPr b="1" lang="en"/>
              <a:t>documented</a:t>
            </a:r>
            <a:r>
              <a:rPr lang="en"/>
              <a:t> to share the knowledge of the status of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8471272" y="85862"/>
            <a:ext cx="597846" cy="618734"/>
            <a:chOff x="1665894" y="-700447"/>
            <a:chExt cx="927900" cy="960320"/>
          </a:xfrm>
        </p:grpSpPr>
        <p:sp>
          <p:nvSpPr>
            <p:cNvPr id="71" name="Google Shape;71;p15"/>
            <p:cNvSpPr/>
            <p:nvPr/>
          </p:nvSpPr>
          <p:spPr>
            <a:xfrm>
              <a:off x="1850249" y="-303227"/>
              <a:ext cx="559200" cy="563100"/>
            </a:xfrm>
            <a:prstGeom prst="smileyFace">
              <a:avLst>
                <a:gd fmla="val 4653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665894" y="-700447"/>
              <a:ext cx="9279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Users</a:t>
              </a:r>
              <a:endParaRPr sz="1000"/>
            </a:p>
          </p:txBody>
        </p:sp>
      </p:grpSp>
      <p:sp>
        <p:nvSpPr>
          <p:cNvPr id="73" name="Google Shape;73;p15"/>
          <p:cNvSpPr txBox="1"/>
          <p:nvPr/>
        </p:nvSpPr>
        <p:spPr>
          <a:xfrm>
            <a:off x="579350" y="0"/>
            <a:ext cx="7891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Users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AA84F"/>
                </a:solidFill>
              </a:rPr>
              <a:t>Open</a:t>
            </a:r>
            <a:endParaRPr sz="23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Most of the services are </a:t>
            </a:r>
            <a:r>
              <a:rPr b="1" lang="en" sz="1300">
                <a:solidFill>
                  <a:schemeClr val="dk1"/>
                </a:solidFill>
              </a:rPr>
              <a:t>open to read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write</a:t>
            </a:r>
            <a:r>
              <a:rPr lang="en" sz="1300">
                <a:solidFill>
                  <a:schemeClr val="dk1"/>
                </a:solidFill>
              </a:rPr>
              <a:t> (for authenticated users)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We’re </a:t>
            </a:r>
            <a:r>
              <a:rPr b="1" lang="en" sz="1300">
                <a:solidFill>
                  <a:schemeClr val="dk1"/>
                </a:solidFill>
              </a:rPr>
              <a:t>providing accounts automatically/on demand*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Changes </a:t>
            </a:r>
            <a:r>
              <a:rPr lang="en" sz="1300">
                <a:solidFill>
                  <a:schemeClr val="dk1"/>
                </a:solidFill>
              </a:rPr>
              <a:t>are </a:t>
            </a:r>
            <a:r>
              <a:rPr b="1" lang="en" sz="1300">
                <a:solidFill>
                  <a:schemeClr val="dk1"/>
                </a:solidFill>
              </a:rPr>
              <a:t>usable </a:t>
            </a:r>
            <a:r>
              <a:rPr lang="en" sz="1300">
                <a:solidFill>
                  <a:schemeClr val="dk1"/>
                </a:solidFill>
              </a:rPr>
              <a:t>in stories </a:t>
            </a:r>
            <a:r>
              <a:rPr b="1" lang="en" sz="1300">
                <a:solidFill>
                  <a:schemeClr val="dk1"/>
                </a:solidFill>
              </a:rPr>
              <a:t>in few minutes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9900"/>
                </a:solidFill>
              </a:rPr>
              <a:t>Easy</a:t>
            </a:r>
            <a:endParaRPr sz="23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All the services are </a:t>
            </a:r>
            <a:r>
              <a:rPr b="1" lang="en" sz="1300">
                <a:solidFill>
                  <a:schemeClr val="dk1"/>
                </a:solidFill>
              </a:rPr>
              <a:t>standard </a:t>
            </a:r>
            <a:r>
              <a:rPr lang="en" sz="1300">
                <a:solidFill>
                  <a:schemeClr val="dk1"/>
                </a:solidFill>
              </a:rPr>
              <a:t>and </a:t>
            </a:r>
            <a:r>
              <a:rPr b="1" lang="en" sz="1300">
                <a:solidFill>
                  <a:schemeClr val="dk1"/>
                </a:solidFill>
              </a:rPr>
              <a:t>documented by the community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It’s easy to use well known tools like </a:t>
            </a:r>
            <a:r>
              <a:rPr b="1" lang="en" sz="1300">
                <a:solidFill>
                  <a:schemeClr val="dk1"/>
                </a:solidFill>
              </a:rPr>
              <a:t>Qgis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b="1" lang="en" sz="1300">
                <a:solidFill>
                  <a:schemeClr val="dk1"/>
                </a:solidFill>
              </a:rPr>
              <a:t>ArcGis </a:t>
            </a:r>
            <a:r>
              <a:rPr lang="en" sz="1300">
                <a:solidFill>
                  <a:schemeClr val="dk1"/>
                </a:solidFill>
              </a:rPr>
              <a:t>or </a:t>
            </a:r>
            <a:r>
              <a:rPr b="1" lang="en" sz="1300">
                <a:solidFill>
                  <a:schemeClr val="dk1"/>
                </a:solidFill>
              </a:rPr>
              <a:t>GEE*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D9EEB"/>
                </a:solidFill>
              </a:rPr>
              <a:t>Integrated</a:t>
            </a:r>
            <a:endParaRPr sz="2300">
              <a:solidFill>
                <a:srgbClr val="6D9E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are </a:t>
            </a:r>
            <a:r>
              <a:rPr b="1" lang="en" sz="1300">
                <a:solidFill>
                  <a:schemeClr val="dk1"/>
                </a:solidFill>
              </a:rPr>
              <a:t>not forcing users</a:t>
            </a:r>
            <a:r>
              <a:rPr lang="en" sz="1300">
                <a:solidFill>
                  <a:schemeClr val="dk1"/>
                </a:solidFill>
              </a:rPr>
              <a:t> to work with specific tools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are *working to </a:t>
            </a:r>
            <a:r>
              <a:rPr b="1" lang="en" sz="1300">
                <a:solidFill>
                  <a:schemeClr val="dk1"/>
                </a:solidFill>
              </a:rPr>
              <a:t>integrate</a:t>
            </a:r>
            <a:r>
              <a:rPr lang="en" sz="1300">
                <a:solidFill>
                  <a:schemeClr val="dk1"/>
                </a:solidFill>
              </a:rPr>
              <a:t> more </a:t>
            </a:r>
            <a:r>
              <a:rPr b="1" lang="en" sz="1300">
                <a:solidFill>
                  <a:schemeClr val="dk1"/>
                </a:solidFill>
              </a:rPr>
              <a:t>Open Source tools</a:t>
            </a:r>
            <a:r>
              <a:rPr lang="en" sz="1300">
                <a:solidFill>
                  <a:schemeClr val="dk1"/>
                </a:solidFill>
              </a:rPr>
              <a:t> and protocols (f.e. WPS)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but also to provide integrations with </a:t>
            </a:r>
            <a:r>
              <a:rPr b="1" lang="en" sz="1300">
                <a:solidFill>
                  <a:schemeClr val="dk1"/>
                </a:solidFill>
              </a:rPr>
              <a:t>GEE</a:t>
            </a:r>
            <a:r>
              <a:rPr lang="en" sz="1300">
                <a:solidFill>
                  <a:schemeClr val="dk1"/>
                </a:solidFill>
              </a:rPr>
              <a:t> and much more*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Accessible, stable and Integrated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Team / DevOps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Development might not affect the DevOps team activities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for this reason </a:t>
            </a:r>
            <a:r>
              <a:rPr lang="en" sz="1700">
                <a:solidFill>
                  <a:schemeClr val="dk1"/>
                </a:solidFill>
              </a:rPr>
              <a:t>(and many more)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dk1"/>
                </a:solidFill>
              </a:rPr>
              <a:t>environments</a:t>
            </a:r>
            <a:r>
              <a:rPr lang="en" sz="1700">
                <a:solidFill>
                  <a:schemeClr val="dk1"/>
                </a:solidFill>
              </a:rPr>
              <a:t> (gcp projects) </a:t>
            </a:r>
            <a:r>
              <a:rPr b="1" lang="en" sz="1700">
                <a:solidFill>
                  <a:schemeClr val="dk1"/>
                </a:solidFill>
              </a:rPr>
              <a:t>are </a:t>
            </a:r>
            <a:r>
              <a:rPr b="1" lang="en" sz="1700" u="sng">
                <a:solidFill>
                  <a:schemeClr val="dk1"/>
                </a:solidFill>
              </a:rPr>
              <a:t>well separated</a:t>
            </a:r>
            <a:endParaRPr b="1" sz="1700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Pair sessions, knowledge sharing</a:t>
            </a:r>
            <a:endParaRPr b="1" sz="700"/>
          </a:p>
        </p:txBody>
      </p:sp>
      <p:grpSp>
        <p:nvGrpSpPr>
          <p:cNvPr id="79" name="Google Shape;79;p16"/>
          <p:cNvGrpSpPr/>
          <p:nvPr/>
        </p:nvGrpSpPr>
        <p:grpSpPr>
          <a:xfrm>
            <a:off x="7796125" y="210765"/>
            <a:ext cx="762142" cy="620268"/>
            <a:chOff x="7059525" y="1493390"/>
            <a:chExt cx="762142" cy="620268"/>
          </a:xfrm>
        </p:grpSpPr>
        <p:grpSp>
          <p:nvGrpSpPr>
            <p:cNvPr id="80" name="Google Shape;80;p16"/>
            <p:cNvGrpSpPr/>
            <p:nvPr/>
          </p:nvGrpSpPr>
          <p:grpSpPr>
            <a:xfrm>
              <a:off x="7059525" y="1493390"/>
              <a:ext cx="762142" cy="620268"/>
              <a:chOff x="1812686" y="606868"/>
              <a:chExt cx="1182900" cy="962701"/>
            </a:xfrm>
          </p:grpSpPr>
          <p:sp>
            <p:nvSpPr>
              <p:cNvPr id="81" name="Google Shape;81;p16"/>
              <p:cNvSpPr/>
              <p:nvPr/>
            </p:nvSpPr>
            <p:spPr>
              <a:xfrm>
                <a:off x="2047900" y="606868"/>
                <a:ext cx="712500" cy="717300"/>
              </a:xfrm>
              <a:prstGeom prst="smileyFace">
                <a:avLst>
                  <a:gd fmla="val 4653" name="adj"/>
                </a:avLst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6"/>
              <p:cNvSpPr txBox="1"/>
              <p:nvPr/>
            </p:nvSpPr>
            <p:spPr>
              <a:xfrm>
                <a:off x="1812686" y="1238069"/>
                <a:ext cx="1182900" cy="33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DevOps</a:t>
                </a:r>
                <a:endParaRPr sz="1000"/>
              </a:p>
            </p:txBody>
          </p:sp>
        </p:grpSp>
        <p:grpSp>
          <p:nvGrpSpPr>
            <p:cNvPr id="83" name="Google Shape;83;p16"/>
            <p:cNvGrpSpPr/>
            <p:nvPr/>
          </p:nvGrpSpPr>
          <p:grpSpPr>
            <a:xfrm>
              <a:off x="7152920" y="1568991"/>
              <a:ext cx="575352" cy="218100"/>
              <a:chOff x="7411345" y="4963259"/>
              <a:chExt cx="575352" cy="218100"/>
            </a:xfrm>
          </p:grpSpPr>
          <p:sp>
            <p:nvSpPr>
              <p:cNvPr id="84" name="Google Shape;84;p16"/>
              <p:cNvSpPr/>
              <p:nvPr/>
            </p:nvSpPr>
            <p:spPr>
              <a:xfrm>
                <a:off x="7411345" y="4963259"/>
                <a:ext cx="245400" cy="218100"/>
              </a:xfrm>
              <a:prstGeom prst="flowChartConnector">
                <a:avLst/>
              </a:prstGeom>
              <a:gradFill>
                <a:gsLst>
                  <a:gs pos="0">
                    <a:srgbClr val="DFE9FB"/>
                  </a:gs>
                  <a:gs pos="100000">
                    <a:srgbClr val="6E9BE7"/>
                  </a:gs>
                </a:gsLst>
                <a:lin ang="5400012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7741297" y="4963259"/>
                <a:ext cx="245400" cy="218100"/>
              </a:xfrm>
              <a:prstGeom prst="flowChartConnector">
                <a:avLst/>
              </a:prstGeom>
              <a:gradFill>
                <a:gsLst>
                  <a:gs pos="0">
                    <a:srgbClr val="DFE9FB"/>
                  </a:gs>
                  <a:gs pos="100000">
                    <a:srgbClr val="6E9BE7"/>
                  </a:gs>
                </a:gsLst>
                <a:lin ang="5400012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6" name="Google Shape;86;p16"/>
              <p:cNvCxnSpPr>
                <a:endCxn id="84" idx="6"/>
              </p:cNvCxnSpPr>
              <p:nvPr/>
            </p:nvCxnSpPr>
            <p:spPr>
              <a:xfrm rot="10800000">
                <a:off x="7656745" y="5072309"/>
                <a:ext cx="900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7" name="Google Shape;87;p16"/>
          <p:cNvSpPr txBox="1"/>
          <p:nvPr/>
        </p:nvSpPr>
        <p:spPr>
          <a:xfrm>
            <a:off x="4521750" y="1757200"/>
            <a:ext cx="4380600" cy="3009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Activities over </a:t>
            </a:r>
            <a:r>
              <a:rPr b="1" lang="en" sz="1500">
                <a:solidFill>
                  <a:schemeClr val="dk1"/>
                </a:solidFill>
              </a:rPr>
              <a:t>Production</a:t>
            </a:r>
            <a:r>
              <a:rPr lang="en" sz="1500">
                <a:solidFill>
                  <a:schemeClr val="dk1"/>
                </a:solidFill>
              </a:rPr>
              <a:t> must be </a:t>
            </a:r>
            <a:r>
              <a:rPr b="1" lang="en" sz="1500">
                <a:solidFill>
                  <a:schemeClr val="dk1"/>
                </a:solidFill>
              </a:rPr>
              <a:t>supervised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Dedicated projects</a:t>
            </a:r>
            <a:r>
              <a:rPr lang="en" sz="1500">
                <a:solidFill>
                  <a:schemeClr val="dk1"/>
                </a:solidFill>
              </a:rPr>
              <a:t> (or branches)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MUST</a:t>
            </a:r>
            <a:r>
              <a:rPr lang="en" sz="1500">
                <a:solidFill>
                  <a:schemeClr val="dk1"/>
                </a:solidFill>
              </a:rPr>
              <a:t> be </a:t>
            </a:r>
            <a:r>
              <a:rPr b="1" lang="en" sz="1500">
                <a:solidFill>
                  <a:schemeClr val="dk1"/>
                </a:solidFill>
              </a:rPr>
              <a:t>authorized </a:t>
            </a:r>
            <a:r>
              <a:rPr lang="en" sz="1500">
                <a:solidFill>
                  <a:schemeClr val="dk1"/>
                </a:solidFill>
              </a:rPr>
              <a:t>and </a:t>
            </a:r>
            <a:r>
              <a:rPr b="1" lang="en" sz="1500">
                <a:solidFill>
                  <a:schemeClr val="dk1"/>
                </a:solidFill>
              </a:rPr>
              <a:t>performed</a:t>
            </a:r>
            <a:r>
              <a:rPr lang="en" sz="1500">
                <a:solidFill>
                  <a:schemeClr val="dk1"/>
                </a:solidFill>
              </a:rPr>
              <a:t> in a </a:t>
            </a:r>
            <a:r>
              <a:rPr b="1" lang="en" sz="1500">
                <a:solidFill>
                  <a:schemeClr val="dk1"/>
                </a:solidFill>
              </a:rPr>
              <a:t>PAIR SESSION</a:t>
            </a:r>
            <a:r>
              <a:rPr lang="en" sz="1500">
                <a:solidFill>
                  <a:schemeClr val="dk1"/>
                </a:solidFill>
              </a:rPr>
              <a:t> with a </a:t>
            </a:r>
            <a:r>
              <a:rPr b="1" lang="en" sz="1500">
                <a:solidFill>
                  <a:schemeClr val="dk1"/>
                </a:solidFill>
              </a:rPr>
              <a:t>DevOps responsible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[to </a:t>
            </a:r>
            <a:r>
              <a:rPr b="1" lang="en" sz="1500">
                <a:solidFill>
                  <a:schemeClr val="dk1"/>
                </a:solidFill>
              </a:rPr>
              <a:t>share</a:t>
            </a:r>
            <a:r>
              <a:rPr lang="en" sz="1500">
                <a:solidFill>
                  <a:schemeClr val="dk1"/>
                </a:solidFill>
              </a:rPr>
              <a:t> the </a:t>
            </a:r>
            <a:r>
              <a:rPr b="1" lang="en" sz="1500">
                <a:solidFill>
                  <a:schemeClr val="dk1"/>
                </a:solidFill>
              </a:rPr>
              <a:t>knowledge</a:t>
            </a:r>
            <a:r>
              <a:rPr lang="en" sz="1500">
                <a:solidFill>
                  <a:schemeClr val="dk1"/>
                </a:solidFill>
              </a:rPr>
              <a:t> and avoid mistakes]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19025" y="1757200"/>
            <a:ext cx="4104900" cy="30099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Activities over </a:t>
            </a:r>
            <a:r>
              <a:rPr b="1" lang="en" sz="1500">
                <a:solidFill>
                  <a:schemeClr val="dk1"/>
                </a:solidFill>
              </a:rPr>
              <a:t>Review</a:t>
            </a:r>
            <a:r>
              <a:rPr lang="en" sz="1500">
                <a:solidFill>
                  <a:schemeClr val="dk1"/>
                </a:solidFill>
              </a:rPr>
              <a:t> are </a:t>
            </a:r>
            <a:r>
              <a:rPr b="1" lang="en" sz="1500">
                <a:solidFill>
                  <a:schemeClr val="dk1"/>
                </a:solidFill>
              </a:rPr>
              <a:t>safe </a:t>
            </a:r>
            <a:r>
              <a:rPr lang="en" sz="1500">
                <a:solidFill>
                  <a:schemeClr val="dk1"/>
                </a:solidFill>
              </a:rPr>
              <a:t>(by design)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No need to ask for delivery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[but let’s </a:t>
            </a:r>
            <a:r>
              <a:rPr b="1" lang="en" sz="1500">
                <a:solidFill>
                  <a:schemeClr val="dk1"/>
                </a:solidFill>
              </a:rPr>
              <a:t>keep</a:t>
            </a:r>
            <a:r>
              <a:rPr lang="en" sz="1500">
                <a:solidFill>
                  <a:schemeClr val="dk1"/>
                </a:solidFill>
              </a:rPr>
              <a:t> DevOps </a:t>
            </a:r>
            <a:r>
              <a:rPr b="1" lang="en" sz="1500">
                <a:solidFill>
                  <a:schemeClr val="dk1"/>
                </a:solidFill>
              </a:rPr>
              <a:t>informed</a:t>
            </a:r>
            <a:r>
              <a:rPr lang="en" sz="1500">
                <a:solidFill>
                  <a:schemeClr val="dk1"/>
                </a:solidFill>
              </a:rPr>
              <a:t>]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It’s easy to </a:t>
            </a:r>
            <a:r>
              <a:rPr b="1" lang="en" sz="1500">
                <a:solidFill>
                  <a:schemeClr val="dk1"/>
                </a:solidFill>
              </a:rPr>
              <a:t>deploy </a:t>
            </a:r>
            <a:r>
              <a:rPr lang="en" sz="1500">
                <a:solidFill>
                  <a:schemeClr val="dk1"/>
                </a:solidFill>
              </a:rPr>
              <a:t>and </a:t>
            </a:r>
            <a:r>
              <a:rPr b="1" lang="en" sz="1500">
                <a:solidFill>
                  <a:schemeClr val="dk1"/>
                </a:solidFill>
              </a:rPr>
              <a:t>test autonomously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[</a:t>
            </a:r>
            <a:r>
              <a:rPr b="1" lang="en" sz="1500">
                <a:solidFill>
                  <a:schemeClr val="dk1"/>
                </a:solidFill>
              </a:rPr>
              <a:t>deploy from scratch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destroy all to save resources</a:t>
            </a:r>
            <a:r>
              <a:rPr lang="en" sz="1500">
                <a:solidFill>
                  <a:schemeClr val="dk1"/>
                </a:solidFill>
              </a:rPr>
              <a:t>]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9" name="Google Shape;89;p16"/>
          <p:cNvSpPr/>
          <p:nvPr/>
        </p:nvSpPr>
        <p:spPr>
          <a:xfrm>
            <a:off x="642075" y="3475950"/>
            <a:ext cx="597900" cy="4905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3655625" y="4240000"/>
            <a:ext cx="453900" cy="4905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178300" y="3766300"/>
            <a:ext cx="367500" cy="367500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405750" y="0"/>
            <a:ext cx="8351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Team / Testers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Unidirectional</a:t>
            </a:r>
            <a:endParaRPr b="1" sz="21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New </a:t>
            </a:r>
            <a:r>
              <a:rPr b="1" lang="en" sz="1700"/>
              <a:t>features </a:t>
            </a:r>
            <a:r>
              <a:rPr lang="en" sz="1700"/>
              <a:t>are </a:t>
            </a:r>
            <a:r>
              <a:rPr b="1" lang="en" sz="1700"/>
              <a:t>delivered in Review</a:t>
            </a:r>
            <a:r>
              <a:rPr lang="en" sz="1700"/>
              <a:t>, </a:t>
            </a:r>
            <a:r>
              <a:rPr b="1" lang="en" sz="1700"/>
              <a:t>tested</a:t>
            </a:r>
            <a:r>
              <a:rPr lang="en" sz="1700"/>
              <a:t> then, </a:t>
            </a:r>
            <a:r>
              <a:rPr b="1" lang="en" sz="1700"/>
              <a:t>ported* to Production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Test driven</a:t>
            </a:r>
            <a:endParaRPr sz="21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Every* time a </a:t>
            </a:r>
            <a:r>
              <a:rPr lang="en" sz="1700">
                <a:solidFill>
                  <a:schemeClr val="dk1"/>
                </a:solidFill>
              </a:rPr>
              <a:t>migration from </a:t>
            </a:r>
            <a:r>
              <a:rPr lang="en" sz="1700"/>
              <a:t>Review to Production is performed a </a:t>
            </a:r>
            <a:r>
              <a:rPr b="1" lang="en" sz="1700"/>
              <a:t>full coverage set of tests is performed over the services</a:t>
            </a:r>
            <a:r>
              <a:rPr lang="en" sz="1700"/>
              <a:t> (Jmeter, other, ...)</a:t>
            </a:r>
            <a:endParaRPr b="1"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Continuous Testing</a:t>
            </a:r>
            <a:endParaRPr b="1" sz="21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Pipelines* for </a:t>
            </a:r>
            <a:r>
              <a:rPr b="1" lang="en" sz="1700"/>
              <a:t>continuous testing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92929"/>
                </a:solidFill>
                <a:highlight>
                  <a:srgbClr val="FFFFFF"/>
                </a:highlight>
              </a:rPr>
              <a:t>Fail fast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</a:rPr>
              <a:t>, </a:t>
            </a:r>
            <a:r>
              <a:rPr b="1" lang="en" sz="1500">
                <a:solidFill>
                  <a:srgbClr val="292929"/>
                </a:solidFill>
                <a:highlight>
                  <a:srgbClr val="FFFFFF"/>
                </a:highlight>
              </a:rPr>
              <a:t>F.i.r.s.t.</a:t>
            </a:r>
            <a:r>
              <a:rPr lang="en" sz="1500">
                <a:solidFill>
                  <a:srgbClr val="292929"/>
                </a:solidFill>
                <a:highlight>
                  <a:srgbClr val="FFFFFF"/>
                </a:highlight>
              </a:rPr>
              <a:t> principles: Fast, Isolated/Independent, Repeatable, Self-validating, Timely</a:t>
            </a:r>
            <a:endParaRPr sz="2100"/>
          </a:p>
        </p:txBody>
      </p:sp>
      <p:sp>
        <p:nvSpPr>
          <p:cNvPr id="97" name="Google Shape;97;p17"/>
          <p:cNvSpPr/>
          <p:nvPr/>
        </p:nvSpPr>
        <p:spPr>
          <a:xfrm>
            <a:off x="3472625" y="3069375"/>
            <a:ext cx="467586" cy="367902"/>
          </a:xfrm>
          <a:prstGeom prst="irregularSeal2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 flipH="1" rot="10800000">
            <a:off x="4373400" y="1729425"/>
            <a:ext cx="3829200" cy="497700"/>
          </a:xfrm>
          <a:prstGeom prst="curvedDownArrow">
            <a:avLst>
              <a:gd fmla="val 50000" name="adj1"/>
              <a:gd fmla="val 162933" name="adj2"/>
              <a:gd fmla="val 34277" name="adj3"/>
            </a:avLst>
          </a:prstGeom>
          <a:gradFill>
            <a:gsLst>
              <a:gs pos="0">
                <a:srgbClr val="93C47D"/>
              </a:gs>
              <a:gs pos="100000">
                <a:srgbClr val="EA9999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7"/>
          <p:cNvGrpSpPr/>
          <p:nvPr/>
        </p:nvGrpSpPr>
        <p:grpSpPr>
          <a:xfrm>
            <a:off x="8274972" y="176187"/>
            <a:ext cx="597846" cy="618734"/>
            <a:chOff x="1665894" y="-700447"/>
            <a:chExt cx="927900" cy="960320"/>
          </a:xfrm>
        </p:grpSpPr>
        <p:sp>
          <p:nvSpPr>
            <p:cNvPr id="100" name="Google Shape;100;p17"/>
            <p:cNvSpPr/>
            <p:nvPr/>
          </p:nvSpPr>
          <p:spPr>
            <a:xfrm>
              <a:off x="1850249" y="-303227"/>
              <a:ext cx="559200" cy="563100"/>
            </a:xfrm>
            <a:prstGeom prst="smileyFace">
              <a:avLst>
                <a:gd fmla="val 4653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1665894" y="-700447"/>
              <a:ext cx="9279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Testers</a:t>
              </a:r>
              <a:endParaRPr sz="10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8"/>
          <p:cNvGrpSpPr/>
          <p:nvPr/>
        </p:nvGrpSpPr>
        <p:grpSpPr>
          <a:xfrm>
            <a:off x="7802300" y="309265"/>
            <a:ext cx="828248" cy="605870"/>
            <a:chOff x="1761390" y="606868"/>
            <a:chExt cx="1285500" cy="940354"/>
          </a:xfrm>
        </p:grpSpPr>
        <p:sp>
          <p:nvSpPr>
            <p:cNvPr id="107" name="Google Shape;107;p18"/>
            <p:cNvSpPr/>
            <p:nvPr/>
          </p:nvSpPr>
          <p:spPr>
            <a:xfrm>
              <a:off x="2047900" y="606868"/>
              <a:ext cx="712500" cy="717300"/>
            </a:xfrm>
            <a:prstGeom prst="smileyFace">
              <a:avLst>
                <a:gd fmla="val 4653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 txBox="1"/>
            <p:nvPr/>
          </p:nvSpPr>
          <p:spPr>
            <a:xfrm>
              <a:off x="1761390" y="1215722"/>
              <a:ext cx="12855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Developers</a:t>
              </a:r>
              <a:endParaRPr sz="1000"/>
            </a:p>
          </p:txBody>
        </p:sp>
      </p:grpSp>
      <p:sp>
        <p:nvSpPr>
          <p:cNvPr id="109" name="Google Shape;109;p18"/>
          <p:cNvSpPr txBox="1"/>
          <p:nvPr/>
        </p:nvSpPr>
        <p:spPr>
          <a:xfrm>
            <a:off x="12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Team / Developers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I</a:t>
            </a:r>
            <a:r>
              <a:rPr b="1" lang="en" sz="2200"/>
              <a:t>ndependent release </a:t>
            </a:r>
            <a:r>
              <a:rPr b="1" lang="en" sz="2200">
                <a:solidFill>
                  <a:schemeClr val="dk1"/>
                </a:solidFill>
              </a:rPr>
              <a:t>cycles </a:t>
            </a:r>
            <a:r>
              <a:rPr b="1" lang="en" sz="2200"/>
              <a:t>for 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the Solution(s) 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and</a:t>
            </a:r>
            <a:r>
              <a:rPr b="1" lang="en" sz="2200"/>
              <a:t> 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the Product</a:t>
            </a:r>
            <a:r>
              <a:rPr b="1" lang="en" sz="2200">
                <a:solidFill>
                  <a:schemeClr val="dk1"/>
                </a:solidFill>
              </a:rPr>
              <a:t>(s)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Well* defined and extensible* </a:t>
            </a:r>
            <a:r>
              <a:rPr b="1" lang="en" sz="2200">
                <a:solidFill>
                  <a:schemeClr val="dk1"/>
                </a:solidFill>
              </a:rPr>
              <a:t>interface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 </a:t>
            </a:r>
            <a:r>
              <a:rPr lang="en" sz="2200">
                <a:solidFill>
                  <a:schemeClr val="dk1"/>
                </a:solidFill>
              </a:rPr>
              <a:t>between </a:t>
            </a:r>
            <a:r>
              <a:rPr b="1" lang="en" sz="2200">
                <a:solidFill>
                  <a:schemeClr val="dk1"/>
                </a:solidFill>
              </a:rPr>
              <a:t>Product(s) and IAC project (Solution)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Continuous Integration pipelines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Decoupled, Isolated, Maintainable 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Data protection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Unidirectional </a:t>
            </a:r>
            <a:r>
              <a:rPr lang="en" sz="1800"/>
              <a:t>flow </a:t>
            </a:r>
            <a:r>
              <a:rPr lang="en" sz="1800"/>
              <a:t>from </a:t>
            </a:r>
            <a:r>
              <a:rPr b="1" lang="en" sz="1800"/>
              <a:t>Review to Production</a:t>
            </a:r>
            <a:r>
              <a:rPr lang="en" sz="1800"/>
              <a:t>,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from </a:t>
            </a:r>
            <a:r>
              <a:rPr b="1" lang="en" sz="1800">
                <a:solidFill>
                  <a:schemeClr val="dk1"/>
                </a:solidFill>
              </a:rPr>
              <a:t>Primary </a:t>
            </a:r>
            <a:r>
              <a:rPr lang="en" sz="1800">
                <a:solidFill>
                  <a:schemeClr val="dk1"/>
                </a:solidFill>
              </a:rPr>
              <a:t>(master) </a:t>
            </a:r>
            <a:r>
              <a:rPr b="1" lang="en" sz="1800"/>
              <a:t>to Secondary </a:t>
            </a:r>
            <a:r>
              <a:rPr lang="en" sz="1800"/>
              <a:t>instances (slaves)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Experiments are performed over a copy in </a:t>
            </a:r>
            <a:r>
              <a:rPr b="1" lang="en" sz="1800">
                <a:solidFill>
                  <a:schemeClr val="dk1"/>
                </a:solidFill>
              </a:rPr>
              <a:t>Review</a:t>
            </a:r>
            <a:r>
              <a:rPr lang="en" sz="1800">
                <a:solidFill>
                  <a:schemeClr val="dk1"/>
                </a:solidFill>
              </a:rPr>
              <a:t> then </a:t>
            </a:r>
            <a:r>
              <a:rPr b="1" lang="en" sz="1800">
                <a:solidFill>
                  <a:schemeClr val="dk1"/>
                </a:solidFill>
              </a:rPr>
              <a:t>Replicated </a:t>
            </a:r>
            <a:r>
              <a:rPr lang="en" sz="1800">
                <a:solidFill>
                  <a:schemeClr val="dk1"/>
                </a:solidFill>
              </a:rPr>
              <a:t>in </a:t>
            </a:r>
            <a:r>
              <a:rPr b="1" lang="en" sz="1800">
                <a:solidFill>
                  <a:schemeClr val="dk1"/>
                </a:solidFill>
              </a:rPr>
              <a:t>Production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[once the procedure is clear]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Automatic </a:t>
            </a:r>
            <a:r>
              <a:rPr b="1" lang="en" sz="1800"/>
              <a:t>scheduled</a:t>
            </a:r>
            <a:r>
              <a:rPr lang="en" sz="1800"/>
              <a:t> </a:t>
            </a:r>
            <a:r>
              <a:rPr b="1" lang="en" sz="1800"/>
              <a:t>backup</a:t>
            </a:r>
            <a:r>
              <a:rPr lang="en" sz="1800"/>
              <a:t> up to 14 days </a:t>
            </a:r>
            <a:r>
              <a:rPr lang="en" sz="1800"/>
              <a:t>[</a:t>
            </a:r>
            <a:r>
              <a:rPr b="1" lang="en" sz="1800"/>
              <a:t>Disks</a:t>
            </a:r>
            <a:r>
              <a:rPr lang="en" sz="1800"/>
              <a:t> and </a:t>
            </a:r>
            <a:r>
              <a:rPr b="1" lang="en" sz="1800"/>
              <a:t>Database</a:t>
            </a:r>
            <a:r>
              <a:rPr lang="en" sz="1800"/>
              <a:t>]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Rollback ready</a:t>
            </a:r>
            <a:r>
              <a:rPr lang="en" sz="1800"/>
              <a:t>: </a:t>
            </a:r>
            <a:r>
              <a:rPr lang="en" sz="1800"/>
              <a:t>it's easy [</a:t>
            </a:r>
            <a:r>
              <a:rPr lang="en" sz="1800">
                <a:solidFill>
                  <a:schemeClr val="dk1"/>
                </a:solidFill>
              </a:rPr>
              <a:t>in </a:t>
            </a:r>
            <a:r>
              <a:rPr b="1" lang="en" sz="1800">
                <a:solidFill>
                  <a:schemeClr val="dk1"/>
                </a:solidFill>
              </a:rPr>
              <a:t>emergency</a:t>
            </a:r>
            <a:r>
              <a:rPr lang="en" sz="1800">
                <a:solidFill>
                  <a:schemeClr val="dk1"/>
                </a:solidFill>
              </a:rPr>
              <a:t>] </a:t>
            </a:r>
            <a:r>
              <a:rPr lang="en" sz="1800"/>
              <a:t>to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a temporary machine </a:t>
            </a:r>
            <a:r>
              <a:rPr b="1" lang="en" sz="1800"/>
              <a:t>serving data</a:t>
            </a:r>
            <a:r>
              <a:rPr lang="en" sz="1800"/>
              <a:t> from a previous </a:t>
            </a:r>
            <a:r>
              <a:rPr b="1" lang="en" sz="1800"/>
              <a:t>backup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Data: Unidirectional flow, clear workflow, versioning, fast recovery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 flipH="1" rot="10800000">
            <a:off x="2656700" y="1537100"/>
            <a:ext cx="2315100" cy="292800"/>
          </a:xfrm>
          <a:prstGeom prst="curvedDownArrow">
            <a:avLst>
              <a:gd fmla="val 50000" name="adj1"/>
              <a:gd fmla="val 162933" name="adj2"/>
              <a:gd fmla="val 46902" name="adj3"/>
            </a:avLst>
          </a:prstGeom>
          <a:gradFill>
            <a:gsLst>
              <a:gs pos="0">
                <a:srgbClr val="93C47D"/>
              </a:gs>
              <a:gs pos="100000">
                <a:srgbClr val="EA9999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6456250" y="2917750"/>
            <a:ext cx="406200" cy="260700"/>
          </a:xfrm>
          <a:prstGeom prst="can">
            <a:avLst>
              <a:gd fmla="val 25000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1396350" y="3427500"/>
            <a:ext cx="866214" cy="260712"/>
          </a:xfrm>
          <a:prstGeom prst="lightningBol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4884600" y="586400"/>
            <a:ext cx="2100300" cy="368100"/>
          </a:xfrm>
          <a:prstGeom prst="curvedDownArrow">
            <a:avLst>
              <a:gd fmla="val 50000" name="adj1"/>
              <a:gd fmla="val 162933" name="adj2"/>
              <a:gd fmla="val 46902" name="adj3"/>
            </a:avLst>
          </a:prstGeom>
          <a:gradFill>
            <a:gsLst>
              <a:gs pos="0">
                <a:srgbClr val="93C47D"/>
              </a:gs>
              <a:gs pos="100000">
                <a:srgbClr val="EA9999"/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450" y="642950"/>
            <a:ext cx="6561550" cy="45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0" y="-76200"/>
            <a:ext cx="291090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Platform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Immutabile</a:t>
            </a:r>
            <a:r>
              <a:rPr b="1" lang="en" sz="1600">
                <a:solidFill>
                  <a:schemeClr val="dk1"/>
                </a:solidFill>
              </a:rPr>
              <a:t> - Reproducible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Using tags</a:t>
            </a:r>
            <a:r>
              <a:rPr lang="en"/>
              <a:t> any </a:t>
            </a:r>
            <a:r>
              <a:rPr lang="en">
                <a:solidFill>
                  <a:schemeClr val="dk1"/>
                </a:solidFill>
              </a:rPr>
              <a:t>(infrastructure) </a:t>
            </a:r>
            <a:r>
              <a:rPr b="1" lang="en"/>
              <a:t>release is reproducible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Modular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All</a:t>
            </a:r>
            <a:r>
              <a:rPr lang="en"/>
              <a:t> the (Terraform) </a:t>
            </a:r>
            <a:r>
              <a:rPr b="1" lang="en"/>
              <a:t>modules</a:t>
            </a:r>
            <a:r>
              <a:rPr lang="en"/>
              <a:t> are </a:t>
            </a:r>
            <a:r>
              <a:rPr b="1" lang="en"/>
              <a:t>intentionally</a:t>
            </a:r>
            <a:r>
              <a:rPr lang="en"/>
              <a:t> </a:t>
            </a:r>
            <a:r>
              <a:rPr b="1" lang="en"/>
              <a:t>generic</a:t>
            </a:r>
            <a:r>
              <a:rPr lang="en"/>
              <a:t>, it's simple to </a:t>
            </a:r>
            <a:r>
              <a:rPr b="1" lang="en"/>
              <a:t>reuse</a:t>
            </a:r>
            <a:r>
              <a:rPr lang="en"/>
              <a:t>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Maintainable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Easy </a:t>
            </a:r>
            <a:r>
              <a:rPr lang="en"/>
              <a:t>to create/</a:t>
            </a:r>
            <a:r>
              <a:rPr b="1" lang="en"/>
              <a:t>upgrade thanks to the automatic </a:t>
            </a:r>
            <a:r>
              <a:rPr lang="en"/>
              <a:t>propagation. </a:t>
            </a:r>
            <a:r>
              <a:rPr lang="en"/>
              <a:t>Destroy will </a:t>
            </a:r>
            <a:r>
              <a:rPr b="1" lang="en"/>
              <a:t>easily</a:t>
            </a:r>
            <a:r>
              <a:rPr lang="en"/>
              <a:t> </a:t>
            </a:r>
            <a:r>
              <a:rPr b="1" lang="en"/>
              <a:t>take care of cleanup</a:t>
            </a:r>
            <a:r>
              <a:rPr lang="en"/>
              <a:t> (in Review).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Scalable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Designed to </a:t>
            </a:r>
            <a:r>
              <a:rPr b="1" lang="en">
                <a:solidFill>
                  <a:schemeClr val="dk1"/>
                </a:solidFill>
              </a:rPr>
              <a:t>automatically scale up and down</a:t>
            </a:r>
            <a:r>
              <a:rPr lang="en">
                <a:solidFill>
                  <a:schemeClr val="dk1"/>
                </a:solidFill>
              </a:rPr>
              <a:t> to N+1 instances to support up to thousands of requests per minute.</a:t>
            </a:r>
            <a:endParaRPr b="1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/>
        </p:nvSpPr>
        <p:spPr>
          <a:xfrm>
            <a:off x="7764200" y="687550"/>
            <a:ext cx="1229400" cy="837000"/>
          </a:xfrm>
          <a:prstGeom prst="rect">
            <a:avLst/>
          </a:prstGeom>
          <a:noFill/>
          <a:ln cap="flat" cmpd="sng" w="38100">
            <a:solidFill>
              <a:srgbClr val="3D85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225" y="678700"/>
            <a:ext cx="6256250" cy="393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0" y="0"/>
            <a:ext cx="9144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Modularization and packaging</a:t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1337325" y="1085000"/>
            <a:ext cx="3172500" cy="2953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3482125" y="1414050"/>
            <a:ext cx="2387400" cy="2659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3052650" y="4666622"/>
            <a:ext cx="1427100" cy="409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IAC Solutions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35" name="Google Shape;135;p21"/>
          <p:cNvCxnSpPr>
            <a:stCxn id="132" idx="2"/>
            <a:endCxn id="134" idx="0"/>
          </p:cNvCxnSpPr>
          <p:nvPr/>
        </p:nvCxnSpPr>
        <p:spPr>
          <a:xfrm>
            <a:off x="2923575" y="4038200"/>
            <a:ext cx="842700" cy="628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1"/>
          <p:cNvCxnSpPr>
            <a:stCxn id="133" idx="2"/>
            <a:endCxn id="134" idx="0"/>
          </p:cNvCxnSpPr>
          <p:nvPr/>
        </p:nvCxnSpPr>
        <p:spPr>
          <a:xfrm flipH="1">
            <a:off x="3766225" y="4073550"/>
            <a:ext cx="909600" cy="593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1"/>
          <p:cNvSpPr txBox="1"/>
          <p:nvPr/>
        </p:nvSpPr>
        <p:spPr>
          <a:xfrm>
            <a:off x="7665350" y="2544300"/>
            <a:ext cx="1427100" cy="593100"/>
          </a:xfrm>
          <a:prstGeom prst="rect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D85C6"/>
                </a:solidFill>
              </a:rPr>
              <a:t>Integrated Products</a:t>
            </a:r>
            <a:endParaRPr b="1">
              <a:solidFill>
                <a:srgbClr val="3D85C6"/>
              </a:solidFill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5933750" y="1085000"/>
            <a:ext cx="1525500" cy="1137600"/>
          </a:xfrm>
          <a:prstGeom prst="rect">
            <a:avLst/>
          </a:prstGeom>
          <a:noFill/>
          <a:ln cap="flat" cmpd="sng" w="38100">
            <a:solidFill>
              <a:srgbClr val="3D85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933750" y="2272057"/>
            <a:ext cx="1525500" cy="1137600"/>
          </a:xfrm>
          <a:prstGeom prst="rect">
            <a:avLst/>
          </a:prstGeom>
          <a:noFill/>
          <a:ln cap="flat" cmpd="sng" w="38100">
            <a:solidFill>
              <a:srgbClr val="3D85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5933750" y="3462996"/>
            <a:ext cx="1525500" cy="1137600"/>
          </a:xfrm>
          <a:prstGeom prst="rect">
            <a:avLst/>
          </a:prstGeom>
          <a:noFill/>
          <a:ln cap="flat" cmpd="sng" w="38100">
            <a:solidFill>
              <a:srgbClr val="3D85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21"/>
          <p:cNvCxnSpPr>
            <a:stCxn id="138" idx="3"/>
            <a:endCxn id="137" idx="0"/>
          </p:cNvCxnSpPr>
          <p:nvPr/>
        </p:nvCxnSpPr>
        <p:spPr>
          <a:xfrm>
            <a:off x="7459250" y="1653800"/>
            <a:ext cx="919800" cy="8904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1"/>
          <p:cNvCxnSpPr>
            <a:stCxn id="139" idx="3"/>
            <a:endCxn id="137" idx="1"/>
          </p:cNvCxnSpPr>
          <p:nvPr/>
        </p:nvCxnSpPr>
        <p:spPr>
          <a:xfrm>
            <a:off x="7459250" y="2840857"/>
            <a:ext cx="206100" cy="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1"/>
          <p:cNvCxnSpPr>
            <a:stCxn id="140" idx="3"/>
            <a:endCxn id="137" idx="2"/>
          </p:cNvCxnSpPr>
          <p:nvPr/>
        </p:nvCxnSpPr>
        <p:spPr>
          <a:xfrm flipH="1" rot="10800000">
            <a:off x="7459250" y="3137496"/>
            <a:ext cx="919800" cy="8943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1"/>
          <p:cNvSpPr/>
          <p:nvPr/>
        </p:nvSpPr>
        <p:spPr>
          <a:xfrm>
            <a:off x="1439750" y="2702950"/>
            <a:ext cx="1978200" cy="1264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3524000" y="2702950"/>
            <a:ext cx="909600" cy="1264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4594649" y="2702950"/>
            <a:ext cx="1229400" cy="1264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22725" y="2492000"/>
            <a:ext cx="1031400" cy="7863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</a:rPr>
              <a:t>Terraform</a:t>
            </a:r>
            <a:br>
              <a:rPr b="1" lang="en">
                <a:solidFill>
                  <a:srgbClr val="9900FF"/>
                </a:solidFill>
              </a:rPr>
            </a:br>
            <a:r>
              <a:rPr b="1" lang="en">
                <a:solidFill>
                  <a:srgbClr val="9900FF"/>
                </a:solidFill>
              </a:rPr>
              <a:t>Modules</a:t>
            </a:r>
            <a:endParaRPr b="1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FF"/>
                </a:solidFill>
              </a:rPr>
              <a:t>Impl.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1464976" y="2100423"/>
            <a:ext cx="431700" cy="1575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1472041" y="2412288"/>
            <a:ext cx="431700" cy="1575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3538130" y="2432585"/>
            <a:ext cx="242400" cy="1575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4637280" y="2439660"/>
            <a:ext cx="242400" cy="1575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21"/>
          <p:cNvCxnSpPr>
            <a:stCxn id="147" idx="3"/>
            <a:endCxn id="144" idx="1"/>
          </p:cNvCxnSpPr>
          <p:nvPr/>
        </p:nvCxnSpPr>
        <p:spPr>
          <a:xfrm>
            <a:off x="1054125" y="2885150"/>
            <a:ext cx="385500" cy="45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1"/>
          <p:cNvCxnSpPr>
            <a:stCxn id="147" idx="3"/>
            <a:endCxn id="145" idx="1"/>
          </p:cNvCxnSpPr>
          <p:nvPr/>
        </p:nvCxnSpPr>
        <p:spPr>
          <a:xfrm>
            <a:off x="1054125" y="2885150"/>
            <a:ext cx="2469900" cy="45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1"/>
          <p:cNvCxnSpPr>
            <a:stCxn id="147" idx="3"/>
            <a:endCxn id="146" idx="1"/>
          </p:cNvCxnSpPr>
          <p:nvPr/>
        </p:nvCxnSpPr>
        <p:spPr>
          <a:xfrm>
            <a:off x="1054125" y="2885150"/>
            <a:ext cx="3540600" cy="45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1"/>
          <p:cNvCxnSpPr>
            <a:stCxn id="147" idx="3"/>
            <a:endCxn id="151" idx="1"/>
          </p:cNvCxnSpPr>
          <p:nvPr/>
        </p:nvCxnSpPr>
        <p:spPr>
          <a:xfrm flipH="1" rot="10800000">
            <a:off x="1054125" y="2518550"/>
            <a:ext cx="3583200" cy="366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1"/>
          <p:cNvCxnSpPr>
            <a:stCxn id="147" idx="3"/>
            <a:endCxn id="150" idx="1"/>
          </p:cNvCxnSpPr>
          <p:nvPr/>
        </p:nvCxnSpPr>
        <p:spPr>
          <a:xfrm flipH="1" rot="10800000">
            <a:off x="1054125" y="2511350"/>
            <a:ext cx="2484000" cy="373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>
            <a:stCxn id="147" idx="3"/>
            <a:endCxn id="149" idx="1"/>
          </p:cNvCxnSpPr>
          <p:nvPr/>
        </p:nvCxnSpPr>
        <p:spPr>
          <a:xfrm flipH="1" rot="10800000">
            <a:off x="1054125" y="2490950"/>
            <a:ext cx="417900" cy="3942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>
            <a:stCxn id="147" idx="3"/>
            <a:endCxn id="148" idx="1"/>
          </p:cNvCxnSpPr>
          <p:nvPr/>
        </p:nvCxnSpPr>
        <p:spPr>
          <a:xfrm flipH="1" rot="10800000">
            <a:off x="1054125" y="2179250"/>
            <a:ext cx="411000" cy="7059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1"/>
          <p:cNvSpPr/>
          <p:nvPr/>
        </p:nvSpPr>
        <p:spPr>
          <a:xfrm>
            <a:off x="7863626" y="793091"/>
            <a:ext cx="1031400" cy="628506"/>
          </a:xfrm>
          <a:prstGeom prst="flowChartMultidocumen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D85C6"/>
                </a:solidFill>
              </a:rPr>
              <a:t>Plugins</a:t>
            </a:r>
            <a:endParaRPr b="1">
              <a:solidFill>
                <a:srgbClr val="3D85C6"/>
              </a:solidFill>
            </a:endParaRPr>
          </a:p>
        </p:txBody>
      </p:sp>
      <p:cxnSp>
        <p:nvCxnSpPr>
          <p:cNvPr id="160" name="Google Shape;160;p21"/>
          <p:cNvCxnSpPr>
            <a:stCxn id="129" idx="2"/>
            <a:endCxn id="137" idx="0"/>
          </p:cNvCxnSpPr>
          <p:nvPr/>
        </p:nvCxnSpPr>
        <p:spPr>
          <a:xfrm>
            <a:off x="8378900" y="1524550"/>
            <a:ext cx="0" cy="1019700"/>
          </a:xfrm>
          <a:prstGeom prst="straightConnector1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625" y="463025"/>
            <a:ext cx="7448275" cy="468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0" y="0"/>
            <a:ext cx="9144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Products and Solutions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/>
          <p:nvPr/>
        </p:nvSpPr>
        <p:spPr>
          <a:xfrm>
            <a:off x="366975" y="1366925"/>
            <a:ext cx="1182600" cy="1052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Product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1712950" y="1633625"/>
            <a:ext cx="1586400" cy="5193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Pipeline</a:t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>
            <a:off x="3407350" y="1266200"/>
            <a:ext cx="1485600" cy="1090800"/>
          </a:xfrm>
          <a:prstGeom prst="can">
            <a:avLst>
              <a:gd fmla="val 25000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1858175" y="0"/>
            <a:ext cx="55956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Delivery, Deploy, Test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Continuously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1383675" y="2663899"/>
            <a:ext cx="1182600" cy="1052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3051375" y="2930600"/>
            <a:ext cx="2451900" cy="5193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</a:t>
            </a:r>
            <a:r>
              <a:rPr lang="en"/>
              <a:t>Pipeline</a:t>
            </a:r>
            <a:endParaRPr/>
          </a:p>
        </p:txBody>
      </p:sp>
      <p:cxnSp>
        <p:nvCxnSpPr>
          <p:cNvPr id="177" name="Google Shape;177;p23"/>
          <p:cNvCxnSpPr>
            <a:stCxn id="173" idx="3"/>
            <a:endCxn id="176" idx="0"/>
          </p:cNvCxnSpPr>
          <p:nvPr/>
        </p:nvCxnSpPr>
        <p:spPr>
          <a:xfrm flipH="1">
            <a:off x="4147450" y="2357000"/>
            <a:ext cx="2700" cy="5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23"/>
          <p:cNvSpPr txBox="1"/>
          <p:nvPr/>
        </p:nvSpPr>
        <p:spPr>
          <a:xfrm>
            <a:off x="4141275" y="2465775"/>
            <a:ext cx="7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</a:t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5426100" y="3737050"/>
            <a:ext cx="2300100" cy="5193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r>
              <a:rPr lang="en"/>
              <a:t> Pipeline</a:t>
            </a:r>
            <a:endParaRPr/>
          </a:p>
        </p:txBody>
      </p:sp>
      <p:cxnSp>
        <p:nvCxnSpPr>
          <p:cNvPr id="180" name="Google Shape;180;p23"/>
          <p:cNvCxnSpPr>
            <a:stCxn id="179" idx="3"/>
            <a:endCxn id="181" idx="0"/>
          </p:cNvCxnSpPr>
          <p:nvPr/>
        </p:nvCxnSpPr>
        <p:spPr>
          <a:xfrm rot="10800000">
            <a:off x="7675500" y="3190300"/>
            <a:ext cx="50700" cy="806400"/>
          </a:xfrm>
          <a:prstGeom prst="curvedConnector3">
            <a:avLst>
              <a:gd fmla="val -469675" name="adj1"/>
            </a:avLst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2" name="Google Shape;182;p23"/>
          <p:cNvSpPr txBox="1"/>
          <p:nvPr/>
        </p:nvSpPr>
        <p:spPr>
          <a:xfrm>
            <a:off x="7726275" y="2930600"/>
            <a:ext cx="7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</a:t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5818825" y="2688588"/>
            <a:ext cx="1858140" cy="1003320"/>
          </a:xfrm>
          <a:prstGeom prst="cloud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GCP</a:t>
            </a:r>
            <a:endParaRPr/>
          </a:p>
        </p:txBody>
      </p:sp>
      <p:cxnSp>
        <p:nvCxnSpPr>
          <p:cNvPr id="183" name="Google Shape;183;p23"/>
          <p:cNvCxnSpPr>
            <a:stCxn id="175" idx="3"/>
            <a:endCxn id="176" idx="1"/>
          </p:cNvCxnSpPr>
          <p:nvPr/>
        </p:nvCxnSpPr>
        <p:spPr>
          <a:xfrm>
            <a:off x="2566275" y="3190249"/>
            <a:ext cx="7449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3"/>
          <p:cNvCxnSpPr>
            <a:stCxn id="176" idx="3"/>
            <a:endCxn id="181" idx="2"/>
          </p:cNvCxnSpPr>
          <p:nvPr/>
        </p:nvCxnSpPr>
        <p:spPr>
          <a:xfrm>
            <a:off x="5503275" y="3190250"/>
            <a:ext cx="3213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3"/>
          <p:cNvSpPr/>
          <p:nvPr/>
        </p:nvSpPr>
        <p:spPr>
          <a:xfrm>
            <a:off x="8056900" y="2225650"/>
            <a:ext cx="593400" cy="5736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23"/>
          <p:cNvCxnSpPr>
            <a:stCxn id="179" idx="3"/>
            <a:endCxn id="185" idx="2"/>
          </p:cNvCxnSpPr>
          <p:nvPr/>
        </p:nvCxnSpPr>
        <p:spPr>
          <a:xfrm flipH="1" rot="10800000">
            <a:off x="7726200" y="2661400"/>
            <a:ext cx="781500" cy="1335300"/>
          </a:xfrm>
          <a:prstGeom prst="curvedConnector3">
            <a:avLst>
              <a:gd fmla="val 136479" name="adj1"/>
            </a:avLst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" name="Google Shape;187;p23"/>
          <p:cNvSpPr txBox="1"/>
          <p:nvPr/>
        </p:nvSpPr>
        <p:spPr>
          <a:xfrm>
            <a:off x="7910050" y="1860550"/>
            <a:ext cx="991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Destroy</a:t>
            </a:r>
            <a:endParaRPr/>
          </a:p>
        </p:txBody>
      </p:sp>
      <p:cxnSp>
        <p:nvCxnSpPr>
          <p:cNvPr id="188" name="Google Shape;188;p23"/>
          <p:cNvCxnSpPr>
            <a:stCxn id="185" idx="0"/>
            <a:endCxn id="181" idx="3"/>
          </p:cNvCxnSpPr>
          <p:nvPr/>
        </p:nvCxnSpPr>
        <p:spPr>
          <a:xfrm flipH="1">
            <a:off x="6748020" y="2363414"/>
            <a:ext cx="1451400" cy="382500"/>
          </a:xfrm>
          <a:prstGeom prst="curvedConnector2">
            <a:avLst/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23"/>
          <p:cNvCxnSpPr>
            <a:stCxn id="176" idx="3"/>
            <a:endCxn id="179" idx="1"/>
          </p:cNvCxnSpPr>
          <p:nvPr/>
        </p:nvCxnSpPr>
        <p:spPr>
          <a:xfrm>
            <a:off x="5503275" y="3190250"/>
            <a:ext cx="182400" cy="806400"/>
          </a:xfrm>
          <a:prstGeom prst="curvedConnector5">
            <a:avLst>
              <a:gd fmla="val 130551" name="adj1"/>
              <a:gd fmla="val 50003" name="adj2"/>
              <a:gd fmla="val -172862" name="adj3"/>
            </a:avLst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0" name="Google Shape;190;p23"/>
          <p:cNvSpPr txBox="1"/>
          <p:nvPr/>
        </p:nvSpPr>
        <p:spPr>
          <a:xfrm>
            <a:off x="7306450" y="3762275"/>
            <a:ext cx="3675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150" y="0"/>
            <a:ext cx="72413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850" y="1766730"/>
            <a:ext cx="6434100" cy="337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620684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/>
          <p:nvPr/>
        </p:nvSpPr>
        <p:spPr>
          <a:xfrm>
            <a:off x="1398925" y="240225"/>
            <a:ext cx="2020500" cy="544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Managed Instance Group</a:t>
            </a:r>
            <a:endParaRPr b="1"/>
          </a:p>
        </p:txBody>
      </p:sp>
      <p:cxnSp>
        <p:nvCxnSpPr>
          <p:cNvPr id="203" name="Google Shape;203;p25"/>
          <p:cNvCxnSpPr>
            <a:stCxn id="202" idx="3"/>
            <a:endCxn id="204" idx="3"/>
          </p:cNvCxnSpPr>
          <p:nvPr/>
        </p:nvCxnSpPr>
        <p:spPr>
          <a:xfrm>
            <a:off x="3419425" y="512325"/>
            <a:ext cx="1185900" cy="23505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5" name="Google Shape;205;p25"/>
          <p:cNvSpPr/>
          <p:nvPr/>
        </p:nvSpPr>
        <p:spPr>
          <a:xfrm>
            <a:off x="6558076" y="2939174"/>
            <a:ext cx="779652" cy="395712"/>
          </a:xfrm>
          <a:prstGeom prst="cloud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" name="Google Shape;206;p25"/>
          <p:cNvCxnSpPr>
            <a:stCxn id="202" idx="3"/>
            <a:endCxn id="205" idx="3"/>
          </p:cNvCxnSpPr>
          <p:nvPr/>
        </p:nvCxnSpPr>
        <p:spPr>
          <a:xfrm>
            <a:off x="3419425" y="512325"/>
            <a:ext cx="3528600" cy="24495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7" name="Google Shape;207;p25"/>
          <p:cNvSpPr/>
          <p:nvPr/>
        </p:nvSpPr>
        <p:spPr>
          <a:xfrm>
            <a:off x="7530076" y="3950474"/>
            <a:ext cx="779652" cy="395712"/>
          </a:xfrm>
          <a:prstGeom prst="cloud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25"/>
          <p:cNvCxnSpPr>
            <a:stCxn id="202" idx="3"/>
            <a:endCxn id="207" idx="3"/>
          </p:cNvCxnSpPr>
          <p:nvPr/>
        </p:nvCxnSpPr>
        <p:spPr>
          <a:xfrm>
            <a:off x="3419425" y="512325"/>
            <a:ext cx="4500600" cy="34608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9" name="Google Shape;209;p25"/>
          <p:cNvSpPr/>
          <p:nvPr/>
        </p:nvSpPr>
        <p:spPr>
          <a:xfrm>
            <a:off x="430975" y="247290"/>
            <a:ext cx="819600" cy="544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Master</a:t>
            </a:r>
            <a:endParaRPr b="1"/>
          </a:p>
        </p:txBody>
      </p:sp>
      <p:sp>
        <p:nvSpPr>
          <p:cNvPr id="204" name="Google Shape;204;p25"/>
          <p:cNvSpPr/>
          <p:nvPr/>
        </p:nvSpPr>
        <p:spPr>
          <a:xfrm>
            <a:off x="4215476" y="2840224"/>
            <a:ext cx="779652" cy="395712"/>
          </a:xfrm>
          <a:prstGeom prst="cloud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3910675" y="3050628"/>
            <a:ext cx="560088" cy="284256"/>
          </a:xfrm>
          <a:prstGeom prst="cloud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6147775" y="97925"/>
            <a:ext cx="2775600" cy="14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Why p</a:t>
            </a:r>
            <a:r>
              <a:rPr b="1" lang="en" sz="1900"/>
              <a:t>ropagation:</a:t>
            </a:r>
            <a:endParaRPr b="1" sz="19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Cloud </a:t>
            </a:r>
            <a:r>
              <a:rPr lang="en"/>
              <a:t>Ready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Reduce </a:t>
            </a:r>
            <a:r>
              <a:rPr b="1" lang="en"/>
              <a:t>l</a:t>
            </a:r>
            <a:r>
              <a:rPr b="1" lang="en"/>
              <a:t>atency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Improve </a:t>
            </a:r>
            <a:r>
              <a:rPr b="1" lang="en"/>
              <a:t>availability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Better to have</a:t>
            </a:r>
            <a:r>
              <a:rPr b="1" lang="en"/>
              <a:t> </a:t>
            </a:r>
            <a:r>
              <a:rPr lang="en"/>
              <a:t>a </a:t>
            </a:r>
            <a:r>
              <a:rPr b="1" lang="en"/>
              <a:t>Replica</a:t>
            </a:r>
            <a:endParaRPr b="1"/>
          </a:p>
        </p:txBody>
      </p:sp>
      <p:sp>
        <p:nvSpPr>
          <p:cNvPr id="212" name="Google Shape;212;p25"/>
          <p:cNvSpPr/>
          <p:nvPr/>
        </p:nvSpPr>
        <p:spPr>
          <a:xfrm>
            <a:off x="409775" y="953925"/>
            <a:ext cx="3094500" cy="642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Load Balancer</a:t>
            </a:r>
            <a:endParaRPr b="1" sz="1200"/>
          </a:p>
        </p:txBody>
      </p:sp>
      <p:sp>
        <p:nvSpPr>
          <p:cNvPr id="213" name="Google Shape;213;p25"/>
          <p:cNvSpPr/>
          <p:nvPr/>
        </p:nvSpPr>
        <p:spPr>
          <a:xfrm>
            <a:off x="4215475" y="3431628"/>
            <a:ext cx="560088" cy="284256"/>
          </a:xfrm>
          <a:prstGeom prst="cloud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25"/>
          <p:cNvCxnSpPr>
            <a:stCxn id="212" idx="3"/>
            <a:endCxn id="213" idx="3"/>
          </p:cNvCxnSpPr>
          <p:nvPr/>
        </p:nvCxnSpPr>
        <p:spPr>
          <a:xfrm>
            <a:off x="3504275" y="1275375"/>
            <a:ext cx="991200" cy="2172600"/>
          </a:xfrm>
          <a:prstGeom prst="curvedConnector2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" name="Google Shape;215;p25"/>
          <p:cNvSpPr/>
          <p:nvPr/>
        </p:nvSpPr>
        <p:spPr>
          <a:xfrm>
            <a:off x="5937600" y="2895953"/>
            <a:ext cx="560088" cy="284256"/>
          </a:xfrm>
          <a:prstGeom prst="cloud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5"/>
          <p:cNvCxnSpPr>
            <a:stCxn id="212" idx="3"/>
            <a:endCxn id="215" idx="2"/>
          </p:cNvCxnSpPr>
          <p:nvPr/>
        </p:nvCxnSpPr>
        <p:spPr>
          <a:xfrm>
            <a:off x="3504275" y="1275375"/>
            <a:ext cx="2435100" cy="1762800"/>
          </a:xfrm>
          <a:prstGeom prst="curvedConnector3">
            <a:avLst>
              <a:gd fmla="val 49954" name="adj1"/>
            </a:avLst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5"/>
          <p:cNvCxnSpPr>
            <a:stCxn id="209" idx="2"/>
            <a:endCxn id="210" idx="2"/>
          </p:cNvCxnSpPr>
          <p:nvPr/>
        </p:nvCxnSpPr>
        <p:spPr>
          <a:xfrm flipH="1" rot="-5400000">
            <a:off x="1176025" y="456240"/>
            <a:ext cx="2401200" cy="3071700"/>
          </a:xfrm>
          <a:prstGeom prst="curvedConnector2">
            <a:avLst/>
          </a:prstGeom>
          <a:noFill/>
          <a:ln cap="flat" cmpd="sng" w="3810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5"/>
          <p:cNvCxnSpPr>
            <a:stCxn id="210" idx="0"/>
            <a:endCxn id="205" idx="2"/>
          </p:cNvCxnSpPr>
          <p:nvPr/>
        </p:nvCxnSpPr>
        <p:spPr>
          <a:xfrm flipH="1" rot="10800000">
            <a:off x="4470296" y="3136956"/>
            <a:ext cx="2090100" cy="55800"/>
          </a:xfrm>
          <a:prstGeom prst="curvedConnector3">
            <a:avLst>
              <a:gd fmla="val 49946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5"/>
          <p:cNvCxnSpPr>
            <a:stCxn id="210" idx="0"/>
            <a:endCxn id="207" idx="2"/>
          </p:cNvCxnSpPr>
          <p:nvPr/>
        </p:nvCxnSpPr>
        <p:spPr>
          <a:xfrm>
            <a:off x="4470296" y="3192756"/>
            <a:ext cx="3062100" cy="955500"/>
          </a:xfrm>
          <a:prstGeom prst="curvedConnector3">
            <a:avLst>
              <a:gd fmla="val 49963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5"/>
          <p:cNvCxnSpPr>
            <a:stCxn id="210" idx="3"/>
            <a:endCxn id="204" idx="3"/>
          </p:cNvCxnSpPr>
          <p:nvPr/>
        </p:nvCxnSpPr>
        <p:spPr>
          <a:xfrm rot="-5400000">
            <a:off x="4296019" y="2757581"/>
            <a:ext cx="204000" cy="414600"/>
          </a:xfrm>
          <a:prstGeom prst="curvedConnector3">
            <a:avLst>
              <a:gd fmla="val 227202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5"/>
          <p:cNvSpPr txBox="1"/>
          <p:nvPr/>
        </p:nvSpPr>
        <p:spPr>
          <a:xfrm>
            <a:off x="0" y="2711625"/>
            <a:ext cx="2734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hlink"/>
                </a:solidFill>
                <a:hlinkClick r:id="rId5"/>
              </a:rPr>
              <a:t>Google Cloud Inter Region Latency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Google Cloud supports 18 regions for its cloud services. Understanding latency between the regions is important as performance starts to have noticeable degradation when the latency is more than 150 - 200ms between a client and server or between two servers in two different regions.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6"/>
          <p:cNvPicPr preferRelativeResize="0"/>
          <p:nvPr/>
        </p:nvPicPr>
        <p:blipFill rotWithShape="1">
          <a:blip r:embed="rId3">
            <a:alphaModFix/>
          </a:blip>
          <a:srcRect b="6454" l="0" r="34120" t="4395"/>
          <a:stretch/>
        </p:blipFill>
        <p:spPr>
          <a:xfrm>
            <a:off x="3657600" y="226100"/>
            <a:ext cx="5461952" cy="4585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87825" y="2670675"/>
            <a:ext cx="55431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 pipeline is </a:t>
            </a:r>
            <a:r>
              <a:rPr b="1" lang="en"/>
              <a:t>triggered </a:t>
            </a:r>
            <a:r>
              <a:rPr lang="en"/>
              <a:t>from the </a:t>
            </a:r>
            <a:r>
              <a:rPr b="1" lang="en"/>
              <a:t>master</a:t>
            </a:r>
            <a:r>
              <a:rPr lang="en"/>
              <a:t> instance </a:t>
            </a:r>
            <a:r>
              <a:rPr b="1" lang="en"/>
              <a:t>each 30 minutes</a:t>
            </a:r>
            <a:r>
              <a:rPr lang="en"/>
              <a:t> (if a </a:t>
            </a:r>
            <a:r>
              <a:rPr b="1" lang="en"/>
              <a:t>configuration or data change</a:t>
            </a:r>
            <a:r>
              <a:rPr lang="en"/>
              <a:t> is detected).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to </a:t>
            </a:r>
            <a:r>
              <a:rPr b="1" lang="en"/>
              <a:t>Terraform</a:t>
            </a:r>
            <a:r>
              <a:rPr lang="en"/>
              <a:t> it provides: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new </a:t>
            </a:r>
            <a:r>
              <a:rPr b="1" lang="en"/>
              <a:t>Instance template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attaching </a:t>
            </a:r>
            <a:r>
              <a:rPr b="1" lang="en">
                <a:solidFill>
                  <a:schemeClr val="dk1"/>
                </a:solidFill>
              </a:rPr>
              <a:t>fresh disks copy</a:t>
            </a:r>
            <a:r>
              <a:rPr lang="en">
                <a:solidFill>
                  <a:schemeClr val="dk1"/>
                </a:solidFill>
              </a:rPr>
              <a:t> and policies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triggers</a:t>
            </a:r>
            <a:r>
              <a:rPr lang="en"/>
              <a:t> the </a:t>
            </a:r>
            <a:r>
              <a:rPr b="1" lang="en"/>
              <a:t>rolling update </a:t>
            </a:r>
            <a:r>
              <a:rPr lang="en"/>
              <a:t>on the </a:t>
            </a:r>
            <a:r>
              <a:rPr b="1" lang="en"/>
              <a:t>managed instance group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outdated disks and templates cleanup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254350" y="1061325"/>
            <a:ext cx="33063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Keeping secondary groups up to date</a:t>
            </a:r>
            <a:br>
              <a:rPr b="1" lang="en" sz="2400">
                <a:solidFill>
                  <a:schemeClr val="dk1"/>
                </a:solidFill>
              </a:rPr>
            </a:br>
            <a:r>
              <a:rPr b="1" lang="en" sz="2400">
                <a:solidFill>
                  <a:schemeClr val="dk1"/>
                </a:solidFill>
              </a:rPr>
              <a:t> (over regions)</a:t>
            </a:r>
            <a:endParaRPr b="1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4341100" y="3257551"/>
            <a:ext cx="2359800" cy="842724"/>
          </a:xfrm>
          <a:prstGeom prst="cloud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2166100" y="3482026"/>
            <a:ext cx="2359800" cy="842724"/>
          </a:xfrm>
          <a:prstGeom prst="cloud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4071100" y="3786826"/>
            <a:ext cx="2359800" cy="842724"/>
          </a:xfrm>
          <a:prstGeom prst="cloud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3252425" y="1844500"/>
            <a:ext cx="2416200" cy="2295900"/>
          </a:xfrm>
          <a:prstGeom prst="smileyFace">
            <a:avLst>
              <a:gd fmla="val 4653" name="adj"/>
            </a:avLst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3188947" y="3781000"/>
            <a:ext cx="1985256" cy="777168"/>
          </a:xfrm>
          <a:prstGeom prst="cloud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>
            <a:off x="4896225" y="381525"/>
            <a:ext cx="3815400" cy="1363500"/>
          </a:xfrm>
          <a:prstGeom prst="wedgeEllipseCallout">
            <a:avLst>
              <a:gd fmla="val -36482" name="adj1"/>
              <a:gd fmla="val 7591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/>
              <a:t>Questions?</a:t>
            </a:r>
            <a:endParaRPr b="1"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/>
        </p:nvSpPr>
        <p:spPr>
          <a:xfrm>
            <a:off x="819575" y="0"/>
            <a:ext cx="7354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Want more?</a:t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The following slides will clarify some important details over the internal mechanisms of the Product projects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Internal documentation is provided inline in the code</a:t>
            </a:r>
            <a:endParaRPr sz="700"/>
          </a:p>
        </p:txBody>
      </p:sp>
      <p:grpSp>
        <p:nvGrpSpPr>
          <p:cNvPr id="244" name="Google Shape;244;p28"/>
          <p:cNvGrpSpPr/>
          <p:nvPr/>
        </p:nvGrpSpPr>
        <p:grpSpPr>
          <a:xfrm>
            <a:off x="7802300" y="309265"/>
            <a:ext cx="828248" cy="605870"/>
            <a:chOff x="1761390" y="606868"/>
            <a:chExt cx="1285500" cy="940354"/>
          </a:xfrm>
        </p:grpSpPr>
        <p:sp>
          <p:nvSpPr>
            <p:cNvPr id="245" name="Google Shape;245;p28"/>
            <p:cNvSpPr/>
            <p:nvPr/>
          </p:nvSpPr>
          <p:spPr>
            <a:xfrm>
              <a:off x="2047900" y="606868"/>
              <a:ext cx="712500" cy="717300"/>
            </a:xfrm>
            <a:prstGeom prst="smileyFace">
              <a:avLst>
                <a:gd fmla="val 4653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8"/>
            <p:cNvSpPr txBox="1"/>
            <p:nvPr/>
          </p:nvSpPr>
          <p:spPr>
            <a:xfrm>
              <a:off x="1761390" y="1215722"/>
              <a:ext cx="12855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Developers</a:t>
              </a:r>
              <a:endParaRPr sz="10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Product Projects: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Each release</a:t>
            </a:r>
            <a:r>
              <a:rPr lang="en">
                <a:solidFill>
                  <a:schemeClr val="dk1"/>
                </a:solidFill>
              </a:rPr>
              <a:t> is made to </a:t>
            </a:r>
            <a:r>
              <a:rPr b="1" lang="en">
                <a:solidFill>
                  <a:schemeClr val="dk1"/>
                </a:solidFill>
              </a:rPr>
              <a:t>configure a Debian/Ubuntu vanilla image from scratch </a:t>
            </a:r>
            <a:r>
              <a:rPr lang="en">
                <a:solidFill>
                  <a:schemeClr val="dk1"/>
                </a:solidFill>
              </a:rPr>
              <a:t>providing a </a:t>
            </a:r>
            <a:r>
              <a:rPr b="1" lang="en">
                <a:solidFill>
                  <a:schemeClr val="dk1"/>
                </a:solidFill>
              </a:rPr>
              <a:t>fully working and connected</a:t>
            </a:r>
            <a:r>
              <a:rPr lang="en">
                <a:solidFill>
                  <a:schemeClr val="dk1"/>
                </a:solidFill>
              </a:rPr>
              <a:t> (to </a:t>
            </a:r>
            <a:r>
              <a:rPr b="1" lang="en">
                <a:solidFill>
                  <a:schemeClr val="dk1"/>
                </a:solidFill>
              </a:rPr>
              <a:t>disks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database</a:t>
            </a:r>
            <a:r>
              <a:rPr lang="en">
                <a:solidFill>
                  <a:schemeClr val="dk1"/>
                </a:solidFill>
              </a:rPr>
              <a:t>) </a:t>
            </a:r>
            <a:r>
              <a:rPr b="1" lang="en">
                <a:solidFill>
                  <a:schemeClr val="dk1"/>
                </a:solidFill>
              </a:rPr>
              <a:t>running instance</a:t>
            </a:r>
            <a:r>
              <a:rPr lang="en">
                <a:solidFill>
                  <a:schemeClr val="dk1"/>
                </a:solidFill>
              </a:rPr>
              <a:t> of: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[Debian] </a:t>
            </a:r>
            <a:r>
              <a:rPr b="1" lang="en">
                <a:solidFill>
                  <a:schemeClr val="dk1"/>
                </a:solidFill>
              </a:rPr>
              <a:t>GeoServer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[Ubuntu] </a:t>
            </a:r>
            <a:r>
              <a:rPr b="1" lang="en">
                <a:solidFill>
                  <a:schemeClr val="dk1"/>
                </a:solidFill>
              </a:rPr>
              <a:t>CKAN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[Debian] </a:t>
            </a:r>
            <a:r>
              <a:rPr b="1" lang="en">
                <a:solidFill>
                  <a:schemeClr val="dk1"/>
                </a:solidFill>
              </a:rPr>
              <a:t>GeoNetwork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CI/CD Pipelines: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</a:t>
            </a:r>
            <a:r>
              <a:rPr b="1" lang="en"/>
              <a:t>product project</a:t>
            </a:r>
            <a:r>
              <a:rPr lang="en"/>
              <a:t> </a:t>
            </a:r>
            <a:r>
              <a:rPr b="1" lang="en"/>
              <a:t>produces 2 artifacts</a:t>
            </a:r>
            <a:r>
              <a:rPr lang="en"/>
              <a:t>: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setup.sh</a:t>
            </a:r>
            <a:endParaRPr b="1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resources.tar.gz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These artifacts are deployed at each commit over the $RELEASE google bucket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release </a:t>
            </a:r>
            <a:r>
              <a:rPr b="1" lang="en"/>
              <a:t>also provides</a:t>
            </a:r>
            <a:r>
              <a:rPr lang="en"/>
              <a:t> </a:t>
            </a:r>
            <a:r>
              <a:rPr b="1" lang="en"/>
              <a:t>some overrides</a:t>
            </a:r>
            <a:r>
              <a:rPr lang="en"/>
              <a:t> for the </a:t>
            </a:r>
            <a:r>
              <a:rPr b="1" lang="en"/>
              <a:t>incoming customization variables </a:t>
            </a:r>
            <a:r>
              <a:rPr b="1" lang="en">
                <a:solidFill>
                  <a:schemeClr val="dk1"/>
                </a:solidFill>
              </a:rPr>
              <a:t>(Terraform) </a:t>
            </a:r>
            <a:r>
              <a:rPr lang="en"/>
              <a:t>such as: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Context p</a:t>
            </a:r>
            <a:r>
              <a:rPr b="1" lang="en"/>
              <a:t>ath </a:t>
            </a:r>
            <a:r>
              <a:rPr lang="en"/>
              <a:t>to expose the web service (/path/to/context)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List of </a:t>
            </a:r>
            <a:r>
              <a:rPr b="1" lang="en"/>
              <a:t>plugins to install</a:t>
            </a:r>
            <a:r>
              <a:rPr lang="en"/>
              <a:t> (several)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Ancillary files to </a:t>
            </a:r>
            <a:r>
              <a:rPr b="1" lang="en"/>
              <a:t>configure plugins</a:t>
            </a:r>
            <a:r>
              <a:rPr lang="en"/>
              <a:t> (several)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Other </a:t>
            </a:r>
            <a:r>
              <a:rPr b="1" lang="en"/>
              <a:t>optimizations</a:t>
            </a:r>
            <a:r>
              <a:rPr lang="en"/>
              <a:t> (JVM, Connection pools, memory usage, etc)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/>
        </p:nvSpPr>
        <p:spPr>
          <a:xfrm>
            <a:off x="4817200" y="0"/>
            <a:ext cx="4326900" cy="51435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2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Main (Master) instance: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Each </a:t>
            </a:r>
            <a:r>
              <a:rPr b="1" lang="en">
                <a:solidFill>
                  <a:schemeClr val="dk1"/>
                </a:solidFill>
              </a:rPr>
              <a:t>half hour</a:t>
            </a:r>
            <a:r>
              <a:rPr b="1" lang="en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>
                <a:solidFill>
                  <a:schemeClr val="dk1"/>
                </a:solidFill>
              </a:rPr>
              <a:t>[</a:t>
            </a:r>
            <a:r>
              <a:rPr b="1" lang="en">
                <a:solidFill>
                  <a:schemeClr val="dk1"/>
                </a:solidFill>
              </a:rPr>
              <a:t>run_tag.sh] </a:t>
            </a:r>
            <a:r>
              <a:rPr lang="en">
                <a:solidFill>
                  <a:schemeClr val="dk1"/>
                </a:solidFill>
              </a:rPr>
              <a:t>Run the smart script to check for changes.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an </a:t>
            </a:r>
            <a:r>
              <a:rPr b="1" lang="en">
                <a:solidFill>
                  <a:schemeClr val="dk1"/>
                </a:solidFill>
              </a:rPr>
              <a:t>update is found</a:t>
            </a:r>
            <a:r>
              <a:rPr lang="en">
                <a:solidFill>
                  <a:schemeClr val="dk1"/>
                </a:solidFill>
              </a:rPr>
              <a:t> a </a:t>
            </a:r>
            <a:r>
              <a:rPr b="1" lang="en">
                <a:solidFill>
                  <a:schemeClr val="dk1"/>
                </a:solidFill>
              </a:rPr>
              <a:t>pipeline trigger event is fired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b="1" lang="en">
                <a:solidFill>
                  <a:schemeClr val="dk1"/>
                </a:solidFill>
              </a:rPr>
              <a:t>propagate changes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Secondary (Slave) instance: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OnStartup: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>
                <a:solidFill>
                  <a:schemeClr val="dk1"/>
                </a:solidFill>
              </a:rPr>
              <a:t>[startup-script.sh]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Run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>
                <a:solidFill>
                  <a:schemeClr val="dk1"/>
                </a:solidFill>
              </a:rPr>
              <a:t>initialize environment</a:t>
            </a:r>
            <a:r>
              <a:rPr lang="en">
                <a:solidFill>
                  <a:schemeClr val="dk1"/>
                </a:solidFill>
              </a:rPr>
              <a:t> variables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download </a:t>
            </a:r>
            <a:r>
              <a:rPr b="1" lang="en">
                <a:solidFill>
                  <a:schemeClr val="dk1"/>
                </a:solidFill>
              </a:rPr>
              <a:t>fresh Setup.sh</a:t>
            </a:r>
            <a:r>
              <a:rPr lang="en">
                <a:solidFill>
                  <a:schemeClr val="dk1"/>
                </a:solidFill>
              </a:rPr>
              <a:t> from the </a:t>
            </a:r>
            <a:r>
              <a:rPr b="1" lang="en">
                <a:solidFill>
                  <a:schemeClr val="dk1"/>
                </a:solidFill>
              </a:rPr>
              <a:t>$RELEASE</a:t>
            </a:r>
            <a:r>
              <a:rPr lang="en">
                <a:solidFill>
                  <a:schemeClr val="dk1"/>
                </a:solidFill>
              </a:rPr>
              <a:t> bucket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Run </a:t>
            </a:r>
            <a:r>
              <a:rPr b="1" lang="en">
                <a:solidFill>
                  <a:schemeClr val="dk1"/>
                </a:solidFill>
              </a:rPr>
              <a:t>Setup.sh</a:t>
            </a:r>
            <a:r>
              <a:rPr lang="en">
                <a:solidFill>
                  <a:schemeClr val="dk1"/>
                </a:solidFill>
              </a:rPr>
              <a:t> [normally no action is performed if lock files are present]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">
                <a:solidFill>
                  <a:schemeClr val="dk1"/>
                </a:solidFill>
              </a:rPr>
              <a:t>Initialize crontab to removing run_tag.sh execution to avoid duplicate execution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0" y="0"/>
            <a:ext cx="4672800" cy="5143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Compute Instance: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OnShutdown: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[log_process.sh] </a:t>
            </a:r>
            <a:r>
              <a:rPr b="1" lang="en" sz="1200"/>
              <a:t>Collect logs</a:t>
            </a:r>
            <a:r>
              <a:rPr lang="en" sz="1200"/>
              <a:t> and backup in a tarball over a bucket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[audit_process.sh] </a:t>
            </a:r>
            <a:r>
              <a:rPr b="1" lang="en" sz="1200"/>
              <a:t>Backup</a:t>
            </a:r>
            <a:r>
              <a:rPr lang="en" sz="1200"/>
              <a:t> all the </a:t>
            </a:r>
            <a:r>
              <a:rPr b="1" lang="en" sz="1200"/>
              <a:t>pending monitoring</a:t>
            </a:r>
            <a:r>
              <a:rPr lang="en" sz="1200"/>
              <a:t> (requests) logs over a bucket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Daily</a:t>
            </a:r>
            <a:r>
              <a:rPr b="1" lang="en"/>
              <a:t>: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[audit_process.sh] </a:t>
            </a:r>
            <a:r>
              <a:rPr b="1" lang="en" sz="1200">
                <a:solidFill>
                  <a:schemeClr val="dk1"/>
                </a:solidFill>
              </a:rPr>
              <a:t>Backup</a:t>
            </a:r>
            <a:r>
              <a:rPr lang="en" sz="1200">
                <a:solidFill>
                  <a:schemeClr val="dk1"/>
                </a:solidFill>
              </a:rPr>
              <a:t> all the </a:t>
            </a:r>
            <a:r>
              <a:rPr b="1" lang="en" sz="1200">
                <a:solidFill>
                  <a:schemeClr val="dk1"/>
                </a:solidFill>
              </a:rPr>
              <a:t>incoming requests</a:t>
            </a:r>
            <a:r>
              <a:rPr lang="en" sz="1200">
                <a:solidFill>
                  <a:schemeClr val="dk1"/>
                </a:solidFill>
              </a:rPr>
              <a:t> logs over a bucket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OnStartup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[</a:t>
            </a:r>
            <a:r>
              <a:rPr b="1" lang="en" sz="1200">
                <a:solidFill>
                  <a:schemeClr val="dk1"/>
                </a:solidFill>
              </a:rPr>
              <a:t>startup-script.sh]</a:t>
            </a:r>
            <a:r>
              <a:rPr lang="en" sz="1200">
                <a:solidFill>
                  <a:schemeClr val="dk1"/>
                </a:solidFill>
              </a:rPr>
              <a:t> Run</a:t>
            </a:r>
            <a:r>
              <a:rPr lang="en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Source </a:t>
            </a:r>
            <a:r>
              <a:rPr b="1" lang="en" sz="1200">
                <a:solidFill>
                  <a:schemeClr val="dk1"/>
                </a:solidFill>
              </a:rPr>
              <a:t>environment</a:t>
            </a:r>
            <a:r>
              <a:rPr lang="en" sz="1200">
                <a:solidFill>
                  <a:schemeClr val="dk1"/>
                </a:solidFill>
              </a:rPr>
              <a:t> variables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download </a:t>
            </a:r>
            <a:r>
              <a:rPr b="1" lang="en" sz="1200">
                <a:solidFill>
                  <a:schemeClr val="dk1"/>
                </a:solidFill>
              </a:rPr>
              <a:t>fresh Setup.sh</a:t>
            </a:r>
            <a:r>
              <a:rPr lang="en" sz="1200">
                <a:solidFill>
                  <a:schemeClr val="dk1"/>
                </a:solidFill>
              </a:rPr>
              <a:t> from the </a:t>
            </a:r>
            <a:r>
              <a:rPr b="1" lang="en" sz="1200">
                <a:solidFill>
                  <a:schemeClr val="dk1"/>
                </a:solidFill>
              </a:rPr>
              <a:t>$RELEASE</a:t>
            </a:r>
            <a:r>
              <a:rPr lang="en" sz="1200">
                <a:solidFill>
                  <a:schemeClr val="dk1"/>
                </a:solidFill>
              </a:rPr>
              <a:t> bucket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Run </a:t>
            </a:r>
            <a:r>
              <a:rPr b="1" lang="en" sz="1200">
                <a:solidFill>
                  <a:schemeClr val="dk1"/>
                </a:solidFill>
              </a:rPr>
              <a:t>Setup.sh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On [Setup.sh]: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Download</a:t>
            </a:r>
            <a:r>
              <a:rPr lang="en" sz="1200">
                <a:solidFill>
                  <a:schemeClr val="dk1"/>
                </a:solidFill>
              </a:rPr>
              <a:t> fresh </a:t>
            </a:r>
            <a:r>
              <a:rPr b="1" lang="en" sz="1200">
                <a:solidFill>
                  <a:schemeClr val="dk1"/>
                </a:solidFill>
              </a:rPr>
              <a:t>resources</a:t>
            </a:r>
            <a:r>
              <a:rPr lang="en" sz="1200">
                <a:solidFill>
                  <a:schemeClr val="dk1"/>
                </a:solidFill>
              </a:rPr>
              <a:t>.tar.gz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If lock files are present</a:t>
            </a:r>
            <a:r>
              <a:rPr lang="en" sz="1200">
                <a:solidFill>
                  <a:schemeClr val="dk1"/>
                </a:solidFill>
              </a:rPr>
              <a:t>, no action is performed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Lock files</a:t>
            </a:r>
            <a:r>
              <a:rPr lang="en" sz="1200">
                <a:solidFill>
                  <a:schemeClr val="dk1"/>
                </a:solidFill>
              </a:rPr>
              <a:t> to prevent further execution on boot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</a:rPr>
              <a:t>Install system</a:t>
            </a:r>
            <a:r>
              <a:rPr lang="en" sz="1200">
                <a:solidFill>
                  <a:schemeClr val="dk1"/>
                </a:solidFill>
              </a:rPr>
              <a:t> software </a:t>
            </a:r>
            <a:r>
              <a:rPr b="1" lang="en" sz="1200">
                <a:solidFill>
                  <a:schemeClr val="dk1"/>
                </a:solidFill>
              </a:rPr>
              <a:t>checking for errors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If requested initialize the </a:t>
            </a:r>
            <a:r>
              <a:rPr b="1" lang="en" sz="1200">
                <a:solidFill>
                  <a:schemeClr val="dk1"/>
                </a:solidFill>
              </a:rPr>
              <a:t>disk</a:t>
            </a:r>
            <a:r>
              <a:rPr lang="en" sz="1200">
                <a:solidFill>
                  <a:schemeClr val="dk1"/>
                </a:solidFill>
              </a:rPr>
              <a:t> and add to mount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If requested initialize </a:t>
            </a:r>
            <a:r>
              <a:rPr b="1" lang="en" sz="1200">
                <a:solidFill>
                  <a:schemeClr val="dk1"/>
                </a:solidFill>
              </a:rPr>
              <a:t>DB</a:t>
            </a:r>
            <a:r>
              <a:rPr lang="en" sz="1200">
                <a:solidFill>
                  <a:schemeClr val="dk1"/>
                </a:solidFill>
              </a:rPr>
              <a:t> and change password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Update/install </a:t>
            </a:r>
            <a:r>
              <a:rPr b="1" lang="en" sz="1200">
                <a:solidFill>
                  <a:schemeClr val="dk1"/>
                </a:solidFill>
              </a:rPr>
              <a:t>GeoServer/CKAN/GeoNetwork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2542450" y="1584127"/>
            <a:ext cx="38118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93C47D"/>
                </a:solidFill>
              </a:rPr>
              <a:t>Thank you</a:t>
            </a:r>
            <a:endParaRPr b="1" sz="5500">
              <a:solidFill>
                <a:srgbClr val="93C47D"/>
              </a:solidFill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2313850" y="4352125"/>
            <a:ext cx="68079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Carlo Cancellieri</a:t>
            </a:r>
            <a:endParaRPr b="1"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geo.ccancellieri@gmail.org</a:t>
            </a:r>
            <a:endParaRPr b="1" sz="1800"/>
          </a:p>
        </p:txBody>
      </p:sp>
      <p:sp>
        <p:nvSpPr>
          <p:cNvPr id="264" name="Google Shape;264;p31"/>
          <p:cNvSpPr/>
          <p:nvPr/>
        </p:nvSpPr>
        <p:spPr>
          <a:xfrm>
            <a:off x="3745150" y="4716018"/>
            <a:ext cx="5300400" cy="234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